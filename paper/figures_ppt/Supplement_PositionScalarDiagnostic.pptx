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da98641af5475d" /><Relationship Type="http://schemas.openxmlformats.org/officeDocument/2006/relationships/extended-properties" Target="/docProps/app.xml" Id="R7769b3eca2a34dc7" /><Relationship Type="http://schemas.openxmlformats.org/officeDocument/2006/relationships/officeDocument" Target="/ppt/presentation.xml" Id="R09fd9b6d397c47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b60a33b07349f8"/>
  </p:sldMasterIdLst>
  <p:notesMasterIdLst>
    <p:notesMasterId xmlns:r="http://schemas.openxmlformats.org/officeDocument/2006/relationships" r:id="R3b7638e7ccab4ff5"/>
  </p:notesMasterIdLst>
  <p:sldIdLst>
    <p:sldId xmlns:r="http://schemas.openxmlformats.org/officeDocument/2006/relationships" id="256" r:id="R7a1ea863370c4f91"/>
  </p:sldIdLst>
  <p:sldSz cx="12801600" cy="609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7ff928c77b43f9" /><Relationship Type="http://schemas.openxmlformats.org/officeDocument/2006/relationships/slideMaster" Target="/ppt/slideMasters/slideMaster1.xml" Id="R21b60a33b07349f8" /><Relationship Type="http://schemas.openxmlformats.org/officeDocument/2006/relationships/notesMaster" Target="/ppt/notesMasters/notesMaster1.xml" Id="R3b7638e7ccab4ff5" /><Relationship Type="http://schemas.openxmlformats.org/officeDocument/2006/relationships/presProps" Target="/ppt/presProps.xml" Id="R5f7e545900144cf7" /><Relationship Type="http://schemas.openxmlformats.org/officeDocument/2006/relationships/tableStyles" Target="/ppt/tableStyles.xml" Id="R862913455cb14bae" /><Relationship Type="http://schemas.openxmlformats.org/officeDocument/2006/relationships/slide" Target="/ppt/slides/slide1.xml" Id="R7a1ea863370c4f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5fd923478c4e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ea6be5ff3b45cc" /><Relationship Type="http://schemas.openxmlformats.org/officeDocument/2006/relationships/notesMaster" Target="/ppt/notesMasters/notesMaster1.xml" Id="Rd1fe4966988c49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values from frozen attainable_era5.json and frozen event arrays. Frontiers are frame means at one common budget D. Working points use the mean fixed-order positional optimum and the maximum fixed-order scalar optimum over frames; they are not final achieved anchor errors. Bars compare same selected order and frame-mean analytical scalar costs.</a:t>
            </a:r>
          </a:p>
          <a:p xmlns:a="http://schemas.openxmlformats.org/drawingml/2006/main"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 display names follow TMTM/ST-MTM: Storms (ERA5 source family), Wildfires, Ring, Gaussian, Tangaroa. Storms and Wildfires use this paper’s declared sampling and preprocessing. Gaussian denotes a local variant inspired by ST-MTM, not its original 128x128 input; the separate mirror-motion control is unchanged. Source keys, filenames, scientific media, geometry and numerical results are preserved. References: TMTM, Section 4.1 and Table 1; ST-MTM, Section 5.1 and Table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a48a324fe240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7567fbdd84d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8e74dec85f47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42f3e4ca342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8630b646045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29c0f3f2b42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FDAED1-768D-4EA9-9960-CBECC807F3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302933"/>
            <a:ext cx="1024128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0BF71E-632E-4D8A-BD6E-CDFB135F08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352800"/>
            <a:ext cx="896112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3F05BA4-75FE-4648-AFC3-3E4F4FE797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40000"/>
            <a:ext cx="1024128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C65787-509E-49F9-B6F8-A9DCD0D0D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127679-FB88-482C-BEE5-091D6BC98C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1136142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1221A0-C49A-4511-B01F-7DB383F013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588F07-2AE7-4B70-BC97-B9888DF49A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553532B-3CD7-492E-950A-DF0AF9880C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4384726-4036-48BE-873F-BE59F78543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D6CC73-24F2-488A-9110-F0722199A8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4ef61f265d41ff" /><Relationship Type="http://schemas.openxmlformats.org/officeDocument/2006/relationships/slideLayout" Target="/ppt/slideLayouts/slideLayout1.xml" Id="Rca332df8a0bc4fe8" /><Relationship Type="http://schemas.openxmlformats.org/officeDocument/2006/relationships/slideLayout" Target="/ppt/slideLayouts/slideLayout2.xml" Id="R6befd690d37c48d2" /><Relationship Type="http://schemas.openxmlformats.org/officeDocument/2006/relationships/slideLayout" Target="/ppt/slideLayouts/slideLayout3.xml" Id="R5674e41c3c564952" /><Relationship Type="http://schemas.openxmlformats.org/officeDocument/2006/relationships/slideLayout" Target="/ppt/slideLayouts/slideLayout4.xml" Id="R8b958a61d5c64d76" /><Relationship Type="http://schemas.openxmlformats.org/officeDocument/2006/relationships/slideLayout" Target="/ppt/slideLayouts/slideLayout5.xml" Id="R28dd71e895d64c9a" /><Relationship Type="http://schemas.openxmlformats.org/officeDocument/2006/relationships/slideLayout" Target="/ppt/slideLayouts/slideLayout6.xml" Id="Rf0f264247d6f43e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332df8a0bc4fe8"/>
    <p:sldLayoutId xmlns:r="http://schemas.openxmlformats.org/officeDocument/2006/relationships" id="2147483650" r:id="R6befd690d37c48d2"/>
    <p:sldLayoutId xmlns:r="http://schemas.openxmlformats.org/officeDocument/2006/relationships" id="2147483651" r:id="R5674e41c3c564952"/>
    <p:sldLayoutId xmlns:r="http://schemas.openxmlformats.org/officeDocument/2006/relationships" id="2147483652" r:id="R8b958a61d5c64d76"/>
    <p:sldLayoutId xmlns:r="http://schemas.openxmlformats.org/officeDocument/2006/relationships" id="2147483653" r:id="R28dd71e895d64c9a"/>
    <p:sldLayoutId xmlns:r="http://schemas.openxmlformats.org/officeDocument/2006/relationships" id="2147483654" r:id="Rf0f264247d6f43e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549ff0db8742b4" /><Relationship Type="http://schemas.openxmlformats.org/officeDocument/2006/relationships/notesSlide" Target="/ppt/notesSlides/notesSlide1.xml" Id="R9927b7ede6a441f6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text_000">
            <a:extLst xmlns:a="http://schemas.openxmlformats.org/drawingml/2006/main">
              <a:ext uri="{FF2B5EF4-FFF2-40B4-BE49-F238E27FC236}">
                <a16:creationId xmlns:a16="http://schemas.microsoft.com/office/drawing/2014/main" id="{CDE30144-A4D0-4CF8-B442-670F9AA3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857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(a) Diagnose the conflict</a:t>
            </a:r>
          </a:p>
        </p:txBody>
      </p:sp>
      <p:sp>
        <p:nvSpPr>
          <p:cNvPr id="2" name="text_001">
            <a:extLst xmlns:a="http://schemas.openxmlformats.org/drawingml/2006/main">
              <a:ext uri="{FF2B5EF4-FFF2-40B4-BE49-F238E27FC236}">
                <a16:creationId xmlns:a16="http://schemas.microsoft.com/office/drawing/2014/main" id="{EECE61D5-1DE3-4EC7-91CA-6E97952C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04825"/>
            <a:ext cx="4029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Storms: packing + hierarchy cost</a:t>
            </a:r>
          </a:p>
        </p:txBody>
      </p:sp>
      <p:sp>
        <p:nvSpPr>
          <p:cNvPr id="3" name="line_002">
            <a:extLst xmlns:a="http://schemas.openxmlformats.org/drawingml/2006/main">
              <a:ext uri="{FF2B5EF4-FFF2-40B4-BE49-F238E27FC236}">
                <a16:creationId xmlns:a16="http://schemas.microsoft.com/office/drawing/2014/main" id="{55149309-4D8D-474B-8481-F9448F38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143375"/>
            <a:ext cx="3362325" cy="95"/>
          </a:xfrm>
          <a:custGeom xmlns:a="http://schemas.openxmlformats.org/drawingml/2006/main">
            <a:pathLst>
              <a:path w="3362325" h="95">
                <a:moveTo>
                  <a:pt x="0" y="0"/>
                </a:moveTo>
                <a:lnTo>
                  <a:pt x="3362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4" name="text_003">
            <a:extLst xmlns:a="http://schemas.openxmlformats.org/drawingml/2006/main">
              <a:ext uri="{FF2B5EF4-FFF2-40B4-BE49-F238E27FC236}">
                <a16:creationId xmlns:a16="http://schemas.microsoft.com/office/drawing/2014/main" id="{33621531-3A38-4530-B562-CAB86682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0290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" name="line_004">
            <a:extLst xmlns:a="http://schemas.openxmlformats.org/drawingml/2006/main">
              <a:ext uri="{FF2B5EF4-FFF2-40B4-BE49-F238E27FC236}">
                <a16:creationId xmlns:a16="http://schemas.microsoft.com/office/drawing/2014/main" id="{B3AA67EA-A136-4BC7-B923-287DDC37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11500"/>
            <a:ext cx="3362325" cy="95"/>
          </a:xfrm>
          <a:custGeom xmlns:a="http://schemas.openxmlformats.org/drawingml/2006/main">
            <a:pathLst>
              <a:path w="3362325" h="95">
                <a:moveTo>
                  <a:pt x="0" y="0"/>
                </a:moveTo>
                <a:lnTo>
                  <a:pt x="3362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6" name="text_005">
            <a:extLst xmlns:a="http://schemas.openxmlformats.org/drawingml/2006/main">
              <a:ext uri="{FF2B5EF4-FFF2-40B4-BE49-F238E27FC236}">
                <a16:creationId xmlns:a16="http://schemas.microsoft.com/office/drawing/2014/main" id="{F9804F1F-1A9A-475C-9C9E-B0D70EF6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2997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line_006">
            <a:extLst xmlns:a="http://schemas.openxmlformats.org/drawingml/2006/main">
              <a:ext uri="{FF2B5EF4-FFF2-40B4-BE49-F238E27FC236}">
                <a16:creationId xmlns:a16="http://schemas.microsoft.com/office/drawing/2014/main" id="{6A9FC46C-C574-4EBD-B276-48150C65D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79625"/>
            <a:ext cx="3362325" cy="95"/>
          </a:xfrm>
          <a:custGeom xmlns:a="http://schemas.openxmlformats.org/drawingml/2006/main">
            <a:pathLst>
              <a:path w="3362325" h="95">
                <a:moveTo>
                  <a:pt x="0" y="0"/>
                </a:moveTo>
                <a:lnTo>
                  <a:pt x="3362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8" name="text_007">
            <a:extLst xmlns:a="http://schemas.openxmlformats.org/drawingml/2006/main">
              <a:ext uri="{FF2B5EF4-FFF2-40B4-BE49-F238E27FC236}">
                <a16:creationId xmlns:a16="http://schemas.microsoft.com/office/drawing/2014/main" id="{671CF85F-96B2-4AFC-A1F9-4B2122B0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19653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line_008">
            <a:extLst xmlns:a="http://schemas.openxmlformats.org/drawingml/2006/main">
              <a:ext uri="{FF2B5EF4-FFF2-40B4-BE49-F238E27FC236}">
                <a16:creationId xmlns:a16="http://schemas.microsoft.com/office/drawing/2014/main" id="{A0BBF601-7905-41CF-8395-22F293CF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047750"/>
            <a:ext cx="3362325" cy="95"/>
          </a:xfrm>
          <a:custGeom xmlns:a="http://schemas.openxmlformats.org/drawingml/2006/main">
            <a:pathLst>
              <a:path w="3362325" h="95">
                <a:moveTo>
                  <a:pt x="0" y="0"/>
                </a:moveTo>
                <a:lnTo>
                  <a:pt x="3362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10" name="text_009">
            <a:extLst xmlns:a="http://schemas.openxmlformats.org/drawingml/2006/main">
              <a:ext uri="{FF2B5EF4-FFF2-40B4-BE49-F238E27FC236}">
                <a16:creationId xmlns:a16="http://schemas.microsoft.com/office/drawing/2014/main" id="{C9C1B612-0C02-45A3-AC15-67805E78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933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11" name="text_010">
            <a:extLst xmlns:a="http://schemas.openxmlformats.org/drawingml/2006/main">
              <a:ext uri="{FF2B5EF4-FFF2-40B4-BE49-F238E27FC236}">
                <a16:creationId xmlns:a16="http://schemas.microsoft.com/office/drawing/2014/main" id="{0863C953-9B3E-414F-8EF7-BD5ED0DD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7524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% L</a:t>
            </a:r>
          </a:p>
        </p:txBody>
      </p:sp>
      <p:sp>
        <p:nvSpPr>
          <p:cNvPr id="12" name="Exact_original_tree_certificate">
            <a:extLst xmlns:a="http://schemas.openxmlformats.org/drawingml/2006/main">
              <a:ext uri="{FF2B5EF4-FFF2-40B4-BE49-F238E27FC236}">
                <a16:creationId xmlns:a16="http://schemas.microsoft.com/office/drawing/2014/main" id="{8B121312-F6EB-430A-BC1F-A0E9C8DA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7361"/>
            <a:ext cx="3333750" cy="2616014"/>
          </a:xfrm>
          <a:custGeom xmlns:a="http://schemas.openxmlformats.org/drawingml/2006/main">
            <a:pathLst>
              <a:path w="3333750" h="2616014">
                <a:moveTo>
                  <a:pt x="0" y="2616014"/>
                </a:moveTo>
                <a:lnTo>
                  <a:pt x="28494" y="2505015"/>
                </a:lnTo>
                <a:lnTo>
                  <a:pt x="56987" y="2411175"/>
                </a:lnTo>
                <a:lnTo>
                  <a:pt x="85481" y="2616014"/>
                </a:lnTo>
                <a:lnTo>
                  <a:pt x="113974" y="2616014"/>
                </a:lnTo>
                <a:lnTo>
                  <a:pt x="142468" y="2616014"/>
                </a:lnTo>
                <a:lnTo>
                  <a:pt x="170962" y="2616014"/>
                </a:lnTo>
                <a:lnTo>
                  <a:pt x="199455" y="2616014"/>
                </a:lnTo>
                <a:lnTo>
                  <a:pt x="227949" y="1929622"/>
                </a:lnTo>
                <a:lnTo>
                  <a:pt x="256442" y="2616014"/>
                </a:lnTo>
                <a:lnTo>
                  <a:pt x="284936" y="2486559"/>
                </a:lnTo>
                <a:lnTo>
                  <a:pt x="313429" y="2616014"/>
                </a:lnTo>
                <a:lnTo>
                  <a:pt x="341923" y="2616014"/>
                </a:lnTo>
                <a:lnTo>
                  <a:pt x="370417" y="2616014"/>
                </a:lnTo>
                <a:lnTo>
                  <a:pt x="398910" y="2616014"/>
                </a:lnTo>
                <a:lnTo>
                  <a:pt x="427404" y="2616014"/>
                </a:lnTo>
                <a:lnTo>
                  <a:pt x="455897" y="2454733"/>
                </a:lnTo>
                <a:lnTo>
                  <a:pt x="484391" y="2616014"/>
                </a:lnTo>
                <a:lnTo>
                  <a:pt x="512885" y="2616014"/>
                </a:lnTo>
                <a:lnTo>
                  <a:pt x="541378" y="1021418"/>
                </a:lnTo>
                <a:lnTo>
                  <a:pt x="569872" y="2616014"/>
                </a:lnTo>
                <a:lnTo>
                  <a:pt x="598365" y="2616014"/>
                </a:lnTo>
                <a:lnTo>
                  <a:pt x="626859" y="2265786"/>
                </a:lnTo>
                <a:lnTo>
                  <a:pt x="655353" y="2616014"/>
                </a:lnTo>
                <a:lnTo>
                  <a:pt x="683846" y="1906687"/>
                </a:lnTo>
                <a:lnTo>
                  <a:pt x="712340" y="672809"/>
                </a:lnTo>
                <a:lnTo>
                  <a:pt x="740833" y="696216"/>
                </a:lnTo>
                <a:lnTo>
                  <a:pt x="769327" y="2616014"/>
                </a:lnTo>
                <a:lnTo>
                  <a:pt x="797821" y="1536302"/>
                </a:lnTo>
                <a:lnTo>
                  <a:pt x="826314" y="2616014"/>
                </a:lnTo>
                <a:lnTo>
                  <a:pt x="854808" y="2616014"/>
                </a:lnTo>
                <a:lnTo>
                  <a:pt x="883301" y="2616014"/>
                </a:lnTo>
                <a:lnTo>
                  <a:pt x="911795" y="1731904"/>
                </a:lnTo>
                <a:lnTo>
                  <a:pt x="940288" y="2616014"/>
                </a:lnTo>
                <a:lnTo>
                  <a:pt x="968782" y="2616014"/>
                </a:lnTo>
                <a:lnTo>
                  <a:pt x="997276" y="2616014"/>
                </a:lnTo>
                <a:lnTo>
                  <a:pt x="1025769" y="1520465"/>
                </a:lnTo>
                <a:lnTo>
                  <a:pt x="1054263" y="901090"/>
                </a:lnTo>
                <a:lnTo>
                  <a:pt x="1082756" y="2027169"/>
                </a:lnTo>
                <a:lnTo>
                  <a:pt x="1111250" y="2616014"/>
                </a:lnTo>
                <a:lnTo>
                  <a:pt x="1139744" y="1022194"/>
                </a:lnTo>
                <a:lnTo>
                  <a:pt x="1168237" y="2124739"/>
                </a:lnTo>
                <a:lnTo>
                  <a:pt x="1196731" y="0"/>
                </a:lnTo>
                <a:lnTo>
                  <a:pt x="1225224" y="2616014"/>
                </a:lnTo>
                <a:lnTo>
                  <a:pt x="1253718" y="2616014"/>
                </a:lnTo>
                <a:lnTo>
                  <a:pt x="1282212" y="2232651"/>
                </a:lnTo>
                <a:lnTo>
                  <a:pt x="1310705" y="2616014"/>
                </a:lnTo>
                <a:lnTo>
                  <a:pt x="1339199" y="2463775"/>
                </a:lnTo>
                <a:lnTo>
                  <a:pt x="1367692" y="1744246"/>
                </a:lnTo>
                <a:lnTo>
                  <a:pt x="1396186" y="1535991"/>
                </a:lnTo>
                <a:lnTo>
                  <a:pt x="1424679" y="2616014"/>
                </a:lnTo>
                <a:lnTo>
                  <a:pt x="1453173" y="2616014"/>
                </a:lnTo>
                <a:lnTo>
                  <a:pt x="1481667" y="2616014"/>
                </a:lnTo>
                <a:lnTo>
                  <a:pt x="1510160" y="2562217"/>
                </a:lnTo>
                <a:lnTo>
                  <a:pt x="1538654" y="2402670"/>
                </a:lnTo>
                <a:lnTo>
                  <a:pt x="1567147" y="2616014"/>
                </a:lnTo>
                <a:lnTo>
                  <a:pt x="1595641" y="2616014"/>
                </a:lnTo>
                <a:lnTo>
                  <a:pt x="1624135" y="2616014"/>
                </a:lnTo>
                <a:lnTo>
                  <a:pt x="1652628" y="2360479"/>
                </a:lnTo>
                <a:lnTo>
                  <a:pt x="1681122" y="537083"/>
                </a:lnTo>
                <a:lnTo>
                  <a:pt x="1709615" y="1621150"/>
                </a:lnTo>
                <a:lnTo>
                  <a:pt x="1738109" y="366042"/>
                </a:lnTo>
                <a:lnTo>
                  <a:pt x="1766603" y="344016"/>
                </a:lnTo>
                <a:lnTo>
                  <a:pt x="1795096" y="2616014"/>
                </a:lnTo>
                <a:lnTo>
                  <a:pt x="1823590" y="2616014"/>
                </a:lnTo>
                <a:lnTo>
                  <a:pt x="1852083" y="2616014"/>
                </a:lnTo>
                <a:lnTo>
                  <a:pt x="1880577" y="2616014"/>
                </a:lnTo>
                <a:lnTo>
                  <a:pt x="1909071" y="702569"/>
                </a:lnTo>
                <a:lnTo>
                  <a:pt x="1937564" y="2616014"/>
                </a:lnTo>
                <a:lnTo>
                  <a:pt x="1966058" y="1400373"/>
                </a:lnTo>
                <a:lnTo>
                  <a:pt x="1994551" y="1020622"/>
                </a:lnTo>
                <a:lnTo>
                  <a:pt x="2023045" y="2616014"/>
                </a:lnTo>
                <a:lnTo>
                  <a:pt x="2051538" y="2616014"/>
                </a:lnTo>
                <a:lnTo>
                  <a:pt x="2080032" y="2616014"/>
                </a:lnTo>
                <a:lnTo>
                  <a:pt x="2108526" y="2616014"/>
                </a:lnTo>
                <a:lnTo>
                  <a:pt x="2137019" y="2616014"/>
                </a:lnTo>
                <a:lnTo>
                  <a:pt x="2165513" y="2616014"/>
                </a:lnTo>
                <a:lnTo>
                  <a:pt x="2194006" y="2616014"/>
                </a:lnTo>
                <a:lnTo>
                  <a:pt x="2222500" y="2616014"/>
                </a:lnTo>
                <a:lnTo>
                  <a:pt x="2250994" y="2616014"/>
                </a:lnTo>
                <a:lnTo>
                  <a:pt x="2279487" y="2616014"/>
                </a:lnTo>
                <a:lnTo>
                  <a:pt x="2307981" y="2616014"/>
                </a:lnTo>
                <a:lnTo>
                  <a:pt x="2336474" y="2616014"/>
                </a:lnTo>
                <a:lnTo>
                  <a:pt x="2364968" y="2616014"/>
                </a:lnTo>
                <a:lnTo>
                  <a:pt x="2393462" y="2616014"/>
                </a:lnTo>
                <a:lnTo>
                  <a:pt x="2421955" y="2616014"/>
                </a:lnTo>
                <a:lnTo>
                  <a:pt x="2450449" y="486472"/>
                </a:lnTo>
                <a:lnTo>
                  <a:pt x="2478942" y="2616014"/>
                </a:lnTo>
                <a:lnTo>
                  <a:pt x="2507436" y="1142040"/>
                </a:lnTo>
                <a:lnTo>
                  <a:pt x="2535929" y="1119741"/>
                </a:lnTo>
                <a:lnTo>
                  <a:pt x="2564423" y="2130570"/>
                </a:lnTo>
                <a:lnTo>
                  <a:pt x="2592917" y="2206505"/>
                </a:lnTo>
                <a:lnTo>
                  <a:pt x="2621410" y="2028541"/>
                </a:lnTo>
                <a:lnTo>
                  <a:pt x="2649904" y="1036847"/>
                </a:lnTo>
                <a:lnTo>
                  <a:pt x="2678397" y="835039"/>
                </a:lnTo>
                <a:lnTo>
                  <a:pt x="2706891" y="932137"/>
                </a:lnTo>
                <a:lnTo>
                  <a:pt x="2735385" y="2616014"/>
                </a:lnTo>
                <a:lnTo>
                  <a:pt x="2763878" y="2616014"/>
                </a:lnTo>
                <a:lnTo>
                  <a:pt x="2792372" y="2616014"/>
                </a:lnTo>
                <a:lnTo>
                  <a:pt x="2820865" y="2550238"/>
                </a:lnTo>
                <a:lnTo>
                  <a:pt x="2849359" y="2309884"/>
                </a:lnTo>
                <a:lnTo>
                  <a:pt x="2877853" y="856622"/>
                </a:lnTo>
                <a:lnTo>
                  <a:pt x="2906346" y="1333128"/>
                </a:lnTo>
                <a:lnTo>
                  <a:pt x="2934840" y="2097797"/>
                </a:lnTo>
                <a:lnTo>
                  <a:pt x="2963333" y="2616014"/>
                </a:lnTo>
                <a:lnTo>
                  <a:pt x="2991827" y="2616014"/>
                </a:lnTo>
                <a:lnTo>
                  <a:pt x="3020321" y="2604547"/>
                </a:lnTo>
                <a:lnTo>
                  <a:pt x="3048814" y="1195948"/>
                </a:lnTo>
                <a:lnTo>
                  <a:pt x="3077308" y="542537"/>
                </a:lnTo>
                <a:lnTo>
                  <a:pt x="3105801" y="2616014"/>
                </a:lnTo>
                <a:lnTo>
                  <a:pt x="3134295" y="2616014"/>
                </a:lnTo>
                <a:lnTo>
                  <a:pt x="3162788" y="2616014"/>
                </a:lnTo>
                <a:lnTo>
                  <a:pt x="3191282" y="2616014"/>
                </a:lnTo>
                <a:lnTo>
                  <a:pt x="3219776" y="2616014"/>
                </a:lnTo>
                <a:lnTo>
                  <a:pt x="3248269" y="2616014"/>
                </a:lnTo>
                <a:lnTo>
                  <a:pt x="3276763" y="2616014"/>
                </a:lnTo>
                <a:lnTo>
                  <a:pt x="3305256" y="2214373"/>
                </a:lnTo>
                <a:lnTo>
                  <a:pt x="3333750" y="2616014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55E00"/>
            </a:solidFill>
            <a:prstDash val="solid"/>
          </a:ln>
        </p:spPr>
      </p:sp>
      <p:sp>
        <p:nvSpPr>
          <p:cNvPr id="13" name="Free_packing_cost">
            <a:extLst xmlns:a="http://schemas.openxmlformats.org/drawingml/2006/main">
              <a:ext uri="{FF2B5EF4-FFF2-40B4-BE49-F238E27FC236}">
                <a16:creationId xmlns:a16="http://schemas.microsoft.com/office/drawing/2014/main" id="{14E38B58-0113-406F-9E09-38037C7A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931"/>
            <a:ext cx="3333750" cy="485444"/>
          </a:xfrm>
          <a:custGeom xmlns:a="http://schemas.openxmlformats.org/drawingml/2006/main">
            <a:pathLst>
              <a:path w="3333750" h="485444">
                <a:moveTo>
                  <a:pt x="0" y="485444"/>
                </a:moveTo>
                <a:lnTo>
                  <a:pt x="28494" y="479566"/>
                </a:lnTo>
                <a:lnTo>
                  <a:pt x="56987" y="485444"/>
                </a:lnTo>
                <a:lnTo>
                  <a:pt x="85481" y="485444"/>
                </a:lnTo>
                <a:lnTo>
                  <a:pt x="113974" y="485444"/>
                </a:lnTo>
                <a:lnTo>
                  <a:pt x="142468" y="485444"/>
                </a:lnTo>
                <a:lnTo>
                  <a:pt x="170962" y="485444"/>
                </a:lnTo>
                <a:lnTo>
                  <a:pt x="199455" y="485444"/>
                </a:lnTo>
                <a:lnTo>
                  <a:pt x="227949" y="485444"/>
                </a:lnTo>
                <a:lnTo>
                  <a:pt x="256442" y="485444"/>
                </a:lnTo>
                <a:lnTo>
                  <a:pt x="284936" y="355988"/>
                </a:lnTo>
                <a:lnTo>
                  <a:pt x="313429" y="485444"/>
                </a:lnTo>
                <a:lnTo>
                  <a:pt x="341923" y="485444"/>
                </a:lnTo>
                <a:lnTo>
                  <a:pt x="370417" y="485444"/>
                </a:lnTo>
                <a:lnTo>
                  <a:pt x="398910" y="485444"/>
                </a:lnTo>
                <a:lnTo>
                  <a:pt x="427404" y="485444"/>
                </a:lnTo>
                <a:lnTo>
                  <a:pt x="455897" y="324163"/>
                </a:lnTo>
                <a:lnTo>
                  <a:pt x="484391" y="485444"/>
                </a:lnTo>
                <a:lnTo>
                  <a:pt x="512885" y="485444"/>
                </a:lnTo>
                <a:lnTo>
                  <a:pt x="541378" y="383038"/>
                </a:lnTo>
                <a:lnTo>
                  <a:pt x="569872" y="485444"/>
                </a:lnTo>
                <a:lnTo>
                  <a:pt x="598365" y="485444"/>
                </a:lnTo>
                <a:lnTo>
                  <a:pt x="626859" y="485444"/>
                </a:lnTo>
                <a:lnTo>
                  <a:pt x="655353" y="485444"/>
                </a:lnTo>
                <a:lnTo>
                  <a:pt x="683846" y="485444"/>
                </a:lnTo>
                <a:lnTo>
                  <a:pt x="712340" y="485444"/>
                </a:lnTo>
                <a:lnTo>
                  <a:pt x="740833" y="485444"/>
                </a:lnTo>
                <a:lnTo>
                  <a:pt x="769327" y="485444"/>
                </a:lnTo>
                <a:lnTo>
                  <a:pt x="797821" y="485444"/>
                </a:lnTo>
                <a:lnTo>
                  <a:pt x="826314" y="485444"/>
                </a:lnTo>
                <a:lnTo>
                  <a:pt x="854808" y="485444"/>
                </a:lnTo>
                <a:lnTo>
                  <a:pt x="883301" y="485444"/>
                </a:lnTo>
                <a:lnTo>
                  <a:pt x="911795" y="485444"/>
                </a:lnTo>
                <a:lnTo>
                  <a:pt x="940288" y="485444"/>
                </a:lnTo>
                <a:lnTo>
                  <a:pt x="968782" y="485444"/>
                </a:lnTo>
                <a:lnTo>
                  <a:pt x="997276" y="485444"/>
                </a:lnTo>
                <a:lnTo>
                  <a:pt x="1025769" y="450744"/>
                </a:lnTo>
                <a:lnTo>
                  <a:pt x="1054263" y="440882"/>
                </a:lnTo>
                <a:lnTo>
                  <a:pt x="1082756" y="485444"/>
                </a:lnTo>
                <a:lnTo>
                  <a:pt x="1111250" y="485444"/>
                </a:lnTo>
                <a:lnTo>
                  <a:pt x="1139744" y="485444"/>
                </a:lnTo>
                <a:lnTo>
                  <a:pt x="1168237" y="485444"/>
                </a:lnTo>
                <a:lnTo>
                  <a:pt x="1196731" y="485444"/>
                </a:lnTo>
                <a:lnTo>
                  <a:pt x="1225224" y="485444"/>
                </a:lnTo>
                <a:lnTo>
                  <a:pt x="1253718" y="485444"/>
                </a:lnTo>
                <a:lnTo>
                  <a:pt x="1282212" y="485444"/>
                </a:lnTo>
                <a:lnTo>
                  <a:pt x="1310705" y="485444"/>
                </a:lnTo>
                <a:lnTo>
                  <a:pt x="1339199" y="485097"/>
                </a:lnTo>
                <a:lnTo>
                  <a:pt x="1367692" y="485444"/>
                </a:lnTo>
                <a:lnTo>
                  <a:pt x="1396186" y="485444"/>
                </a:lnTo>
                <a:lnTo>
                  <a:pt x="1424679" y="485444"/>
                </a:lnTo>
                <a:lnTo>
                  <a:pt x="1453173" y="485444"/>
                </a:lnTo>
                <a:lnTo>
                  <a:pt x="1481667" y="485444"/>
                </a:lnTo>
                <a:lnTo>
                  <a:pt x="1510160" y="473145"/>
                </a:lnTo>
                <a:lnTo>
                  <a:pt x="1538654" y="485444"/>
                </a:lnTo>
                <a:lnTo>
                  <a:pt x="1567147" y="485444"/>
                </a:lnTo>
                <a:lnTo>
                  <a:pt x="1595641" y="485444"/>
                </a:lnTo>
                <a:lnTo>
                  <a:pt x="1624135" y="485444"/>
                </a:lnTo>
                <a:lnTo>
                  <a:pt x="1652628" y="485444"/>
                </a:lnTo>
                <a:lnTo>
                  <a:pt x="1681122" y="485444"/>
                </a:lnTo>
                <a:lnTo>
                  <a:pt x="1709615" y="485444"/>
                </a:lnTo>
                <a:lnTo>
                  <a:pt x="1738109" y="365890"/>
                </a:lnTo>
                <a:lnTo>
                  <a:pt x="1766603" y="462064"/>
                </a:lnTo>
                <a:lnTo>
                  <a:pt x="1795096" y="485444"/>
                </a:lnTo>
                <a:lnTo>
                  <a:pt x="1823590" y="485444"/>
                </a:lnTo>
                <a:lnTo>
                  <a:pt x="1852083" y="485444"/>
                </a:lnTo>
                <a:lnTo>
                  <a:pt x="1880577" y="485444"/>
                </a:lnTo>
                <a:lnTo>
                  <a:pt x="1909071" y="485444"/>
                </a:lnTo>
                <a:lnTo>
                  <a:pt x="1937564" y="485444"/>
                </a:lnTo>
                <a:lnTo>
                  <a:pt x="1966058" y="485444"/>
                </a:lnTo>
                <a:lnTo>
                  <a:pt x="1994551" y="485444"/>
                </a:lnTo>
                <a:lnTo>
                  <a:pt x="2023045" y="485444"/>
                </a:lnTo>
                <a:lnTo>
                  <a:pt x="2051538" y="485444"/>
                </a:lnTo>
                <a:lnTo>
                  <a:pt x="2080032" y="485444"/>
                </a:lnTo>
                <a:lnTo>
                  <a:pt x="2108526" y="485444"/>
                </a:lnTo>
                <a:lnTo>
                  <a:pt x="2137019" y="485444"/>
                </a:lnTo>
                <a:lnTo>
                  <a:pt x="2165513" y="485444"/>
                </a:lnTo>
                <a:lnTo>
                  <a:pt x="2194006" y="485444"/>
                </a:lnTo>
                <a:lnTo>
                  <a:pt x="2222500" y="485444"/>
                </a:lnTo>
                <a:lnTo>
                  <a:pt x="2250994" y="485444"/>
                </a:lnTo>
                <a:lnTo>
                  <a:pt x="2279487" y="485444"/>
                </a:lnTo>
                <a:lnTo>
                  <a:pt x="2307981" y="485444"/>
                </a:lnTo>
                <a:lnTo>
                  <a:pt x="2336474" y="485444"/>
                </a:lnTo>
                <a:lnTo>
                  <a:pt x="2364968" y="485444"/>
                </a:lnTo>
                <a:lnTo>
                  <a:pt x="2393462" y="485444"/>
                </a:lnTo>
                <a:lnTo>
                  <a:pt x="2421955" y="485444"/>
                </a:lnTo>
                <a:lnTo>
                  <a:pt x="2450449" y="485444"/>
                </a:lnTo>
                <a:lnTo>
                  <a:pt x="2478942" y="485444"/>
                </a:lnTo>
                <a:lnTo>
                  <a:pt x="2507436" y="463890"/>
                </a:lnTo>
                <a:lnTo>
                  <a:pt x="2535929" y="214890"/>
                </a:lnTo>
                <a:lnTo>
                  <a:pt x="2564423" y="0"/>
                </a:lnTo>
                <a:lnTo>
                  <a:pt x="2592917" y="75934"/>
                </a:lnTo>
                <a:lnTo>
                  <a:pt x="2621410" y="485444"/>
                </a:lnTo>
                <a:lnTo>
                  <a:pt x="2649904" y="485444"/>
                </a:lnTo>
                <a:lnTo>
                  <a:pt x="2678397" y="485444"/>
                </a:lnTo>
                <a:lnTo>
                  <a:pt x="2706891" y="485444"/>
                </a:lnTo>
                <a:lnTo>
                  <a:pt x="2735385" y="485444"/>
                </a:lnTo>
                <a:lnTo>
                  <a:pt x="2763878" y="485444"/>
                </a:lnTo>
                <a:lnTo>
                  <a:pt x="2792372" y="485444"/>
                </a:lnTo>
                <a:lnTo>
                  <a:pt x="2820865" y="419668"/>
                </a:lnTo>
                <a:lnTo>
                  <a:pt x="2849359" y="485444"/>
                </a:lnTo>
                <a:lnTo>
                  <a:pt x="2877853" y="463273"/>
                </a:lnTo>
                <a:lnTo>
                  <a:pt x="2906346" y="485444"/>
                </a:lnTo>
                <a:lnTo>
                  <a:pt x="2934840" y="485444"/>
                </a:lnTo>
                <a:lnTo>
                  <a:pt x="2963333" y="485444"/>
                </a:lnTo>
                <a:lnTo>
                  <a:pt x="2991827" y="485444"/>
                </a:lnTo>
                <a:lnTo>
                  <a:pt x="3020321" y="473977"/>
                </a:lnTo>
                <a:lnTo>
                  <a:pt x="3048814" y="451140"/>
                </a:lnTo>
                <a:lnTo>
                  <a:pt x="3077308" y="485444"/>
                </a:lnTo>
                <a:lnTo>
                  <a:pt x="3105801" y="485444"/>
                </a:lnTo>
                <a:lnTo>
                  <a:pt x="3134295" y="485444"/>
                </a:lnTo>
                <a:lnTo>
                  <a:pt x="3162788" y="485444"/>
                </a:lnTo>
                <a:lnTo>
                  <a:pt x="3191282" y="485444"/>
                </a:lnTo>
                <a:lnTo>
                  <a:pt x="3219776" y="485444"/>
                </a:lnTo>
                <a:lnTo>
                  <a:pt x="3248269" y="485444"/>
                </a:lnTo>
                <a:lnTo>
                  <a:pt x="3276763" y="485444"/>
                </a:lnTo>
                <a:lnTo>
                  <a:pt x="3305256" y="485444"/>
                </a:lnTo>
                <a:lnTo>
                  <a:pt x="3333750" y="48544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7B8790"/>
            </a:solidFill>
            <a:prstDash val="solid"/>
          </a:ln>
        </p:spPr>
      </p:sp>
      <p:sp>
        <p:nvSpPr>
          <p:cNvPr id="14" name="ellipse_013">
            <a:extLst xmlns:a="http://schemas.openxmlformats.org/drawingml/2006/main">
              <a:ext uri="{FF2B5EF4-FFF2-40B4-BE49-F238E27FC236}">
                <a16:creationId xmlns:a16="http://schemas.microsoft.com/office/drawing/2014/main" id="{44809BC2-998A-4C42-8F71-71B6937C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817" y="3223982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5E00"/>
          </a:solidFill>
          <a:ln xmlns:a="http://schemas.openxmlformats.org/drawingml/2006/main" w="17145">
            <a:solidFill>
              <a:srgbClr val="D55E00"/>
            </a:solidFill>
            <a:prstDash val="solid"/>
          </a:ln>
        </p:spPr>
      </p:sp>
      <p:sp>
        <p:nvSpPr>
          <p:cNvPr id="15" name="line_014">
            <a:extLst xmlns:a="http://schemas.openxmlformats.org/drawingml/2006/main">
              <a:ext uri="{FF2B5EF4-FFF2-40B4-BE49-F238E27FC236}">
                <a16:creationId xmlns:a16="http://schemas.microsoft.com/office/drawing/2014/main" id="{F11EA63E-3294-4757-B5D7-26E32C2C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4442" y="1047750"/>
            <a:ext cx="95" cy="3095625"/>
          </a:xfrm>
          <a:custGeom xmlns:a="http://schemas.openxmlformats.org/drawingml/2006/main">
            <a:pathLst>
              <a:path w="95" h="3095625">
                <a:moveTo>
                  <a:pt x="0" y="0"/>
                </a:moveTo>
                <a:lnTo>
                  <a:pt x="0" y="309562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B8790"/>
            </a:solidFill>
            <a:prstDash val="dash"/>
          </a:ln>
        </p:spPr>
      </p:sp>
      <p:sp>
        <p:nvSpPr>
          <p:cNvPr id="16" name="text_015">
            <a:extLst xmlns:a="http://schemas.openxmlformats.org/drawingml/2006/main">
              <a:ext uri="{FF2B5EF4-FFF2-40B4-BE49-F238E27FC236}">
                <a16:creationId xmlns:a16="http://schemas.microsoft.com/office/drawing/2014/main" id="{DE0893ED-5796-46C8-9000-EA8DA18D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642" y="3004907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55E00"/>
                </a:solidFill>
                <a:latin typeface="Arial"/>
                <a:ea typeface="Arial"/>
                <a:cs typeface="Arial"/>
              </a:rPr>
              <a:t>f48</a:t>
            </a:r>
          </a:p>
        </p:txBody>
      </p:sp>
      <p:sp>
        <p:nvSpPr>
          <p:cNvPr id="17" name="text_016">
            <a:extLst xmlns:a="http://schemas.openxmlformats.org/drawingml/2006/main">
              <a:ext uri="{FF2B5EF4-FFF2-40B4-BE49-F238E27FC236}">
                <a16:creationId xmlns:a16="http://schemas.microsoft.com/office/drawing/2014/main" id="{4BE1A622-96B8-4046-B26C-91C3D915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100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8" name="text_017">
            <a:extLst xmlns:a="http://schemas.openxmlformats.org/drawingml/2006/main">
              <a:ext uri="{FF2B5EF4-FFF2-40B4-BE49-F238E27FC236}">
                <a16:creationId xmlns:a16="http://schemas.microsoft.com/office/drawing/2014/main" id="{0B0DA61C-619F-45AC-BDEE-67177552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517" y="42100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19" name="text_018">
            <a:extLst xmlns:a="http://schemas.openxmlformats.org/drawingml/2006/main">
              <a:ext uri="{FF2B5EF4-FFF2-40B4-BE49-F238E27FC236}">
                <a16:creationId xmlns:a16="http://schemas.microsoft.com/office/drawing/2014/main" id="{09A7354C-E9B2-4C27-A9C5-CEDED3AB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210050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20" name="text_019">
            <a:extLst xmlns:a="http://schemas.openxmlformats.org/drawingml/2006/main">
              <a:ext uri="{FF2B5EF4-FFF2-40B4-BE49-F238E27FC236}">
                <a16:creationId xmlns:a16="http://schemas.microsoft.com/office/drawing/2014/main" id="{A340B22F-E108-45B6-9C9F-12117056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72440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55E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55E00"/>
                </a:solidFill>
                <a:latin typeface="Arial"/>
                <a:ea typeface="Arial"/>
                <a:cs typeface="Arial"/>
              </a:rPr>
              <a:t>orange: τ* = packing + H</a:t>
            </a:r>
          </a:p>
        </p:txBody>
      </p:sp>
      <p:sp>
        <p:nvSpPr>
          <p:cNvPr id="21" name="text_020">
            <a:extLst xmlns:a="http://schemas.openxmlformats.org/drawingml/2006/main">
              <a:ext uri="{FF2B5EF4-FFF2-40B4-BE49-F238E27FC236}">
                <a16:creationId xmlns:a16="http://schemas.microsoft.com/office/drawing/2014/main" id="{3C363882-B792-405C-8EE8-CF13AD20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086350"/>
            <a:ext cx="398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gray: free packing cost</a:t>
            </a:r>
          </a:p>
        </p:txBody>
      </p:sp>
      <p:sp>
        <p:nvSpPr>
          <p:cNvPr id="22" name="text_021">
            <a:extLst xmlns:a="http://schemas.openxmlformats.org/drawingml/2006/main">
              <a:ext uri="{FF2B5EF4-FFF2-40B4-BE49-F238E27FC236}">
                <a16:creationId xmlns:a16="http://schemas.microsoft.com/office/drawing/2014/main" id="{3B03E118-14E8-41F2-9CD4-474A1244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5149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f48: H = 8.45% L; packing = 0</a:t>
            </a:r>
          </a:p>
        </p:txBody>
      </p:sp>
      <p:sp>
        <p:nvSpPr>
          <p:cNvPr id="23" name="text_022">
            <a:extLst xmlns:a="http://schemas.openxmlformats.org/drawingml/2006/main">
              <a:ext uri="{FF2B5EF4-FFF2-40B4-BE49-F238E27FC236}">
                <a16:creationId xmlns:a16="http://schemas.microsoft.com/office/drawing/2014/main" id="{147B475C-60F6-47AC-B16B-176420E0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85725"/>
            <a:ext cx="433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(b) Position–scalar exchange</a:t>
            </a:r>
          </a:p>
        </p:txBody>
      </p:sp>
      <p:sp>
        <p:nvSpPr>
          <p:cNvPr id="24" name="text_023">
            <a:extLst xmlns:a="http://schemas.openxmlformats.org/drawingml/2006/main">
              <a:ext uri="{FF2B5EF4-FFF2-40B4-BE49-F238E27FC236}">
                <a16:creationId xmlns:a16="http://schemas.microsoft.com/office/drawing/2014/main" id="{DA80E56C-8826-4432-8359-E0D495CAA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48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Storms: all 118 frames</a:t>
            </a:r>
          </a:p>
        </p:txBody>
      </p:sp>
      <p:sp>
        <p:nvSpPr>
          <p:cNvPr id="25" name="line_024">
            <a:extLst xmlns:a="http://schemas.openxmlformats.org/drawingml/2006/main">
              <a:ext uri="{FF2B5EF4-FFF2-40B4-BE49-F238E27FC236}">
                <a16:creationId xmlns:a16="http://schemas.microsoft.com/office/drawing/2014/main" id="{05B8C426-FC36-4A16-A5B8-2CB74B54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43375"/>
            <a:ext cx="3257550" cy="95"/>
          </a:xfrm>
          <a:custGeom xmlns:a="http://schemas.openxmlformats.org/drawingml/2006/main">
            <a:pathLst>
              <a:path w="3257550" h="9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26" name="text_025">
            <a:extLst xmlns:a="http://schemas.openxmlformats.org/drawingml/2006/main">
              <a:ext uri="{FF2B5EF4-FFF2-40B4-BE49-F238E27FC236}">
                <a16:creationId xmlns:a16="http://schemas.microsoft.com/office/drawing/2014/main" id="{7CEDF1EF-9D63-46CD-AFA8-C80048C0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029075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7" name="line_026">
            <a:extLst xmlns:a="http://schemas.openxmlformats.org/drawingml/2006/main">
              <a:ext uri="{FF2B5EF4-FFF2-40B4-BE49-F238E27FC236}">
                <a16:creationId xmlns:a16="http://schemas.microsoft.com/office/drawing/2014/main" id="{37D8F71E-2A13-4AC3-99C7-A725DBC8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70413"/>
            <a:ext cx="3257550" cy="95"/>
          </a:xfrm>
          <a:custGeom xmlns:a="http://schemas.openxmlformats.org/drawingml/2006/main">
            <a:pathLst>
              <a:path w="3257550" h="9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28" name="text_027">
            <a:extLst xmlns:a="http://schemas.openxmlformats.org/drawingml/2006/main">
              <a:ext uri="{FF2B5EF4-FFF2-40B4-BE49-F238E27FC236}">
                <a16:creationId xmlns:a16="http://schemas.microsoft.com/office/drawing/2014/main" id="{8FBD33AA-9163-4439-9849-F477420A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356113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line_028">
            <a:extLst xmlns:a="http://schemas.openxmlformats.org/drawingml/2006/main">
              <a:ext uri="{FF2B5EF4-FFF2-40B4-BE49-F238E27FC236}">
                <a16:creationId xmlns:a16="http://schemas.microsoft.com/office/drawing/2014/main" id="{C29C4C9C-28E3-49E0-91E5-8ADC0915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97451"/>
            <a:ext cx="3257550" cy="95"/>
          </a:xfrm>
          <a:custGeom xmlns:a="http://schemas.openxmlformats.org/drawingml/2006/main">
            <a:pathLst>
              <a:path w="3257550" h="9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30" name="text_029">
            <a:extLst xmlns:a="http://schemas.openxmlformats.org/drawingml/2006/main">
              <a:ext uri="{FF2B5EF4-FFF2-40B4-BE49-F238E27FC236}">
                <a16:creationId xmlns:a16="http://schemas.microsoft.com/office/drawing/2014/main" id="{50983ABA-FECE-433B-BFEE-5C41FCEE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83151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1" name="line_030">
            <a:extLst xmlns:a="http://schemas.openxmlformats.org/drawingml/2006/main">
              <a:ext uri="{FF2B5EF4-FFF2-40B4-BE49-F238E27FC236}">
                <a16:creationId xmlns:a16="http://schemas.microsoft.com/office/drawing/2014/main" id="{C0AF2A5D-8B9F-4933-969C-BE457350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24489"/>
            <a:ext cx="3257550" cy="95"/>
          </a:xfrm>
          <a:custGeom xmlns:a="http://schemas.openxmlformats.org/drawingml/2006/main">
            <a:pathLst>
              <a:path w="3257550" h="9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32" name="text_031">
            <a:extLst xmlns:a="http://schemas.openxmlformats.org/drawingml/2006/main">
              <a:ext uri="{FF2B5EF4-FFF2-40B4-BE49-F238E27FC236}">
                <a16:creationId xmlns:a16="http://schemas.microsoft.com/office/drawing/2014/main" id="{DBB24133-27D3-4991-8D03-F5E5D3F2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010189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3" name="line_032">
            <a:extLst xmlns:a="http://schemas.openxmlformats.org/drawingml/2006/main">
              <a:ext uri="{FF2B5EF4-FFF2-40B4-BE49-F238E27FC236}">
                <a16:creationId xmlns:a16="http://schemas.microsoft.com/office/drawing/2014/main" id="{17060056-5FAF-4E7B-89F9-80AD00C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451527"/>
            <a:ext cx="3257550" cy="95"/>
          </a:xfrm>
          <a:custGeom xmlns:a="http://schemas.openxmlformats.org/drawingml/2006/main">
            <a:pathLst>
              <a:path w="3257550" h="95">
                <a:moveTo>
                  <a:pt x="0" y="0"/>
                </a:moveTo>
                <a:lnTo>
                  <a:pt x="3257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34" name="text_033">
            <a:extLst xmlns:a="http://schemas.openxmlformats.org/drawingml/2006/main">
              <a:ext uri="{FF2B5EF4-FFF2-40B4-BE49-F238E27FC236}">
                <a16:creationId xmlns:a16="http://schemas.microsoft.com/office/drawing/2014/main" id="{34B7A136-E921-49D7-822F-17E739BB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337227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5" name="text_034">
            <a:extLst xmlns:a="http://schemas.openxmlformats.org/drawingml/2006/main">
              <a:ext uri="{FF2B5EF4-FFF2-40B4-BE49-F238E27FC236}">
                <a16:creationId xmlns:a16="http://schemas.microsoft.com/office/drawing/2014/main" id="{D24EBA2E-2F2C-4CD8-9D92-D2078FBE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100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6" name="text_035">
            <a:extLst xmlns:a="http://schemas.openxmlformats.org/drawingml/2006/main">
              <a:ext uri="{FF2B5EF4-FFF2-40B4-BE49-F238E27FC236}">
                <a16:creationId xmlns:a16="http://schemas.microsoft.com/office/drawing/2014/main" id="{87EEFD10-27A7-4D89-9EF1-C149BFA2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38" y="42100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37" name="text_036">
            <a:extLst xmlns:a="http://schemas.openxmlformats.org/drawingml/2006/main">
              <a:ext uri="{FF2B5EF4-FFF2-40B4-BE49-F238E27FC236}">
                <a16:creationId xmlns:a16="http://schemas.microsoft.com/office/drawing/2014/main" id="{30615891-9F3D-4703-9C89-C1F8941E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2100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8" name="text_037">
            <a:extLst xmlns:a="http://schemas.openxmlformats.org/drawingml/2006/main">
              <a:ext uri="{FF2B5EF4-FFF2-40B4-BE49-F238E27FC236}">
                <a16:creationId xmlns:a16="http://schemas.microsoft.com/office/drawing/2014/main" id="{871F41BA-523B-4A88-8DA0-BEBD05DB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813" y="42100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9" name="text_038">
            <a:extLst xmlns:a="http://schemas.openxmlformats.org/drawingml/2006/main">
              <a:ext uri="{FF2B5EF4-FFF2-40B4-BE49-F238E27FC236}">
                <a16:creationId xmlns:a16="http://schemas.microsoft.com/office/drawing/2014/main" id="{98526F7A-F378-43C1-B11B-FD301B84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1005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40" name="text_039">
            <a:extLst xmlns:a="http://schemas.openxmlformats.org/drawingml/2006/main">
              <a:ext uri="{FF2B5EF4-FFF2-40B4-BE49-F238E27FC236}">
                <a16:creationId xmlns:a16="http://schemas.microsoft.com/office/drawing/2014/main" id="{4F05FFCE-9C68-4FEE-997C-D49E306C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771525"/>
            <a:ext cx="396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mean position cost (% L)</a:t>
            </a:r>
          </a:p>
        </p:txBody>
      </p:sp>
      <p:sp>
        <p:nvSpPr>
          <p:cNvPr id="41" name="text_040">
            <a:extLst xmlns:a="http://schemas.openxmlformats.org/drawingml/2006/main">
              <a:ext uri="{FF2B5EF4-FFF2-40B4-BE49-F238E27FC236}">
                <a16:creationId xmlns:a16="http://schemas.microsoft.com/office/drawing/2014/main" id="{BF41EF05-F1B0-4402-B718-407B0979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543425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Common scalar budget D (% range)</a:t>
            </a:r>
          </a:p>
        </p:txBody>
      </p:sp>
      <p:sp>
        <p:nvSpPr>
          <p:cNvPr id="42" name="Mean_F_under_common_budget">
            <a:extLst xmlns:a="http://schemas.openxmlformats.org/drawingml/2006/main">
              <a:ext uri="{FF2B5EF4-FFF2-40B4-BE49-F238E27FC236}">
                <a16:creationId xmlns:a16="http://schemas.microsoft.com/office/drawing/2014/main" id="{B34F2FBD-CC49-45B1-AE15-212C13D8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232360"/>
            <a:ext cx="3257550" cy="2802984"/>
          </a:xfrm>
          <a:custGeom xmlns:a="http://schemas.openxmlformats.org/drawingml/2006/main">
            <a:pathLst>
              <a:path w="3257550" h="2802984">
                <a:moveTo>
                  <a:pt x="0" y="0"/>
                </a:moveTo>
                <a:lnTo>
                  <a:pt x="73" y="13290"/>
                </a:lnTo>
                <a:lnTo>
                  <a:pt x="87" y="13290"/>
                </a:lnTo>
                <a:lnTo>
                  <a:pt x="89" y="13290"/>
                </a:lnTo>
                <a:lnTo>
                  <a:pt x="305" y="32469"/>
                </a:lnTo>
                <a:lnTo>
                  <a:pt x="431" y="32469"/>
                </a:lnTo>
                <a:lnTo>
                  <a:pt x="457" y="32469"/>
                </a:lnTo>
                <a:lnTo>
                  <a:pt x="633" y="51826"/>
                </a:lnTo>
                <a:lnTo>
                  <a:pt x="1029" y="51826"/>
                </a:lnTo>
                <a:lnTo>
                  <a:pt x="1090" y="72527"/>
                </a:lnTo>
                <a:lnTo>
                  <a:pt x="1315" y="72527"/>
                </a:lnTo>
                <a:lnTo>
                  <a:pt x="1425" y="72527"/>
                </a:lnTo>
                <a:lnTo>
                  <a:pt x="1456" y="72527"/>
                </a:lnTo>
                <a:lnTo>
                  <a:pt x="1537" y="72527"/>
                </a:lnTo>
                <a:lnTo>
                  <a:pt x="2341" y="72527"/>
                </a:lnTo>
                <a:lnTo>
                  <a:pt x="2615" y="115483"/>
                </a:lnTo>
                <a:lnTo>
                  <a:pt x="2789" y="115483"/>
                </a:lnTo>
                <a:lnTo>
                  <a:pt x="2991" y="115483"/>
                </a:lnTo>
                <a:lnTo>
                  <a:pt x="3400" y="117027"/>
                </a:lnTo>
                <a:lnTo>
                  <a:pt x="3404" y="117027"/>
                </a:lnTo>
                <a:lnTo>
                  <a:pt x="3880" y="117027"/>
                </a:lnTo>
                <a:lnTo>
                  <a:pt x="4552" y="120530"/>
                </a:lnTo>
                <a:lnTo>
                  <a:pt x="6431" y="120530"/>
                </a:lnTo>
                <a:lnTo>
                  <a:pt x="6729" y="187717"/>
                </a:lnTo>
                <a:lnTo>
                  <a:pt x="7130" y="187717"/>
                </a:lnTo>
                <a:lnTo>
                  <a:pt x="7490" y="280840"/>
                </a:lnTo>
                <a:lnTo>
                  <a:pt x="7936" y="280840"/>
                </a:lnTo>
                <a:lnTo>
                  <a:pt x="8004" y="280840"/>
                </a:lnTo>
                <a:lnTo>
                  <a:pt x="9213" y="303038"/>
                </a:lnTo>
                <a:lnTo>
                  <a:pt x="10058" y="303038"/>
                </a:lnTo>
                <a:lnTo>
                  <a:pt x="10176" y="303038"/>
                </a:lnTo>
                <a:lnTo>
                  <a:pt x="10191" y="303038"/>
                </a:lnTo>
                <a:lnTo>
                  <a:pt x="12585" y="303038"/>
                </a:lnTo>
                <a:lnTo>
                  <a:pt x="12973" y="303038"/>
                </a:lnTo>
                <a:lnTo>
                  <a:pt x="14425" y="303038"/>
                </a:lnTo>
                <a:lnTo>
                  <a:pt x="16004" y="303038"/>
                </a:lnTo>
                <a:lnTo>
                  <a:pt x="16288" y="303038"/>
                </a:lnTo>
                <a:lnTo>
                  <a:pt x="20957" y="303038"/>
                </a:lnTo>
                <a:lnTo>
                  <a:pt x="21273" y="303038"/>
                </a:lnTo>
                <a:lnTo>
                  <a:pt x="23354" y="303038"/>
                </a:lnTo>
                <a:lnTo>
                  <a:pt x="23818" y="303038"/>
                </a:lnTo>
                <a:lnTo>
                  <a:pt x="24973" y="303038"/>
                </a:lnTo>
                <a:lnTo>
                  <a:pt x="25055" y="303038"/>
                </a:lnTo>
                <a:lnTo>
                  <a:pt x="27668" y="317161"/>
                </a:lnTo>
                <a:lnTo>
                  <a:pt x="27976" y="331210"/>
                </a:lnTo>
                <a:lnTo>
                  <a:pt x="28557" y="331210"/>
                </a:lnTo>
                <a:lnTo>
                  <a:pt x="29436" y="331210"/>
                </a:lnTo>
                <a:lnTo>
                  <a:pt x="32448" y="331210"/>
                </a:lnTo>
                <a:lnTo>
                  <a:pt x="32575" y="331210"/>
                </a:lnTo>
                <a:lnTo>
                  <a:pt x="37572" y="386385"/>
                </a:lnTo>
                <a:lnTo>
                  <a:pt x="39548" y="424321"/>
                </a:lnTo>
                <a:lnTo>
                  <a:pt x="40443" y="424321"/>
                </a:lnTo>
                <a:lnTo>
                  <a:pt x="40650" y="424321"/>
                </a:lnTo>
                <a:lnTo>
                  <a:pt x="40706" y="424321"/>
                </a:lnTo>
                <a:lnTo>
                  <a:pt x="42458" y="424321"/>
                </a:lnTo>
                <a:lnTo>
                  <a:pt x="42618" y="530075"/>
                </a:lnTo>
                <a:lnTo>
                  <a:pt x="44184" y="530075"/>
                </a:lnTo>
                <a:lnTo>
                  <a:pt x="45618" y="544710"/>
                </a:lnTo>
                <a:lnTo>
                  <a:pt x="48568" y="544710"/>
                </a:lnTo>
                <a:lnTo>
                  <a:pt x="48775" y="556501"/>
                </a:lnTo>
                <a:lnTo>
                  <a:pt x="53359" y="556501"/>
                </a:lnTo>
                <a:lnTo>
                  <a:pt x="54270" y="556501"/>
                </a:lnTo>
                <a:lnTo>
                  <a:pt x="58312" y="556501"/>
                </a:lnTo>
                <a:lnTo>
                  <a:pt x="63395" y="556501"/>
                </a:lnTo>
                <a:lnTo>
                  <a:pt x="63558" y="556501"/>
                </a:lnTo>
                <a:lnTo>
                  <a:pt x="65151" y="556501"/>
                </a:lnTo>
                <a:lnTo>
                  <a:pt x="71132" y="556501"/>
                </a:lnTo>
                <a:lnTo>
                  <a:pt x="71716" y="556501"/>
                </a:lnTo>
                <a:lnTo>
                  <a:pt x="75440" y="556501"/>
                </a:lnTo>
                <a:lnTo>
                  <a:pt x="81287" y="556501"/>
                </a:lnTo>
                <a:lnTo>
                  <a:pt x="86896" y="644590"/>
                </a:lnTo>
                <a:lnTo>
                  <a:pt x="87330" y="644590"/>
                </a:lnTo>
                <a:lnTo>
                  <a:pt x="89630" y="644590"/>
                </a:lnTo>
                <a:lnTo>
                  <a:pt x="94981" y="644590"/>
                </a:lnTo>
                <a:lnTo>
                  <a:pt x="95100" y="644590"/>
                </a:lnTo>
                <a:lnTo>
                  <a:pt x="95846" y="703816"/>
                </a:lnTo>
                <a:lnTo>
                  <a:pt x="96760" y="703816"/>
                </a:lnTo>
                <a:lnTo>
                  <a:pt x="97749" y="703816"/>
                </a:lnTo>
                <a:lnTo>
                  <a:pt x="103344" y="703816"/>
                </a:lnTo>
                <a:lnTo>
                  <a:pt x="105415" y="703816"/>
                </a:lnTo>
                <a:lnTo>
                  <a:pt x="107115" y="703816"/>
                </a:lnTo>
                <a:lnTo>
                  <a:pt x="107917" y="703816"/>
                </a:lnTo>
                <a:lnTo>
                  <a:pt x="110216" y="703816"/>
                </a:lnTo>
                <a:lnTo>
                  <a:pt x="111988" y="703816"/>
                </a:lnTo>
                <a:lnTo>
                  <a:pt x="112352" y="703816"/>
                </a:lnTo>
                <a:lnTo>
                  <a:pt x="112641" y="703816"/>
                </a:lnTo>
                <a:lnTo>
                  <a:pt x="114987" y="703816"/>
                </a:lnTo>
                <a:lnTo>
                  <a:pt x="121833" y="703816"/>
                </a:lnTo>
                <a:lnTo>
                  <a:pt x="126464" y="703816"/>
                </a:lnTo>
                <a:lnTo>
                  <a:pt x="126634" y="703816"/>
                </a:lnTo>
                <a:lnTo>
                  <a:pt x="135930" y="703816"/>
                </a:lnTo>
                <a:lnTo>
                  <a:pt x="137647" y="791992"/>
                </a:lnTo>
                <a:lnTo>
                  <a:pt x="137927" y="791992"/>
                </a:lnTo>
                <a:lnTo>
                  <a:pt x="139403" y="832822"/>
                </a:lnTo>
                <a:lnTo>
                  <a:pt x="141687" y="832822"/>
                </a:lnTo>
                <a:lnTo>
                  <a:pt x="143113" y="900566"/>
                </a:lnTo>
                <a:lnTo>
                  <a:pt x="144013" y="900566"/>
                </a:lnTo>
                <a:lnTo>
                  <a:pt x="144397" y="901984"/>
                </a:lnTo>
                <a:lnTo>
                  <a:pt x="145721" y="901984"/>
                </a:lnTo>
                <a:lnTo>
                  <a:pt x="146799" y="960616"/>
                </a:lnTo>
                <a:lnTo>
                  <a:pt x="147993" y="960616"/>
                </a:lnTo>
                <a:lnTo>
                  <a:pt x="149266" y="960616"/>
                </a:lnTo>
                <a:lnTo>
                  <a:pt x="152257" y="1078362"/>
                </a:lnTo>
                <a:lnTo>
                  <a:pt x="153970" y="1078362"/>
                </a:lnTo>
                <a:lnTo>
                  <a:pt x="154167" y="1078362"/>
                </a:lnTo>
                <a:lnTo>
                  <a:pt x="155292" y="1078362"/>
                </a:lnTo>
                <a:lnTo>
                  <a:pt x="157291" y="1078362"/>
                </a:lnTo>
                <a:lnTo>
                  <a:pt x="158602" y="1078362"/>
                </a:lnTo>
                <a:lnTo>
                  <a:pt x="161107" y="1078362"/>
                </a:lnTo>
                <a:lnTo>
                  <a:pt x="162306" y="1088866"/>
                </a:lnTo>
                <a:lnTo>
                  <a:pt x="162878" y="1088866"/>
                </a:lnTo>
                <a:lnTo>
                  <a:pt x="164628" y="1088866"/>
                </a:lnTo>
                <a:lnTo>
                  <a:pt x="165856" y="1123435"/>
                </a:lnTo>
                <a:lnTo>
                  <a:pt x="166291" y="1124864"/>
                </a:lnTo>
                <a:lnTo>
                  <a:pt x="166812" y="1139072"/>
                </a:lnTo>
                <a:lnTo>
                  <a:pt x="170833" y="1139072"/>
                </a:lnTo>
                <a:lnTo>
                  <a:pt x="174890" y="1139072"/>
                </a:lnTo>
                <a:lnTo>
                  <a:pt x="183121" y="1263350"/>
                </a:lnTo>
                <a:lnTo>
                  <a:pt x="186630" y="1263350"/>
                </a:lnTo>
                <a:lnTo>
                  <a:pt x="189513" y="1263350"/>
                </a:lnTo>
                <a:lnTo>
                  <a:pt x="192441" y="1263350"/>
                </a:lnTo>
                <a:lnTo>
                  <a:pt x="194251" y="1263350"/>
                </a:lnTo>
                <a:lnTo>
                  <a:pt x="199946" y="1263350"/>
                </a:lnTo>
                <a:lnTo>
                  <a:pt x="200285" y="1263350"/>
                </a:lnTo>
                <a:lnTo>
                  <a:pt x="203919" y="1273372"/>
                </a:lnTo>
                <a:lnTo>
                  <a:pt x="204595" y="1391070"/>
                </a:lnTo>
                <a:lnTo>
                  <a:pt x="209865" y="1407989"/>
                </a:lnTo>
                <a:lnTo>
                  <a:pt x="212265" y="1407989"/>
                </a:lnTo>
                <a:lnTo>
                  <a:pt x="217360" y="1477503"/>
                </a:lnTo>
                <a:lnTo>
                  <a:pt x="219508" y="1477503"/>
                </a:lnTo>
                <a:lnTo>
                  <a:pt x="219816" y="1477503"/>
                </a:lnTo>
                <a:lnTo>
                  <a:pt x="225666" y="1557777"/>
                </a:lnTo>
                <a:lnTo>
                  <a:pt x="229443" y="1557777"/>
                </a:lnTo>
                <a:lnTo>
                  <a:pt x="240858" y="1557777"/>
                </a:lnTo>
                <a:lnTo>
                  <a:pt x="247440" y="1557777"/>
                </a:lnTo>
                <a:lnTo>
                  <a:pt x="254756" y="1557777"/>
                </a:lnTo>
                <a:lnTo>
                  <a:pt x="260613" y="1557777"/>
                </a:lnTo>
                <a:lnTo>
                  <a:pt x="262328" y="1557777"/>
                </a:lnTo>
                <a:lnTo>
                  <a:pt x="267811" y="1557777"/>
                </a:lnTo>
                <a:lnTo>
                  <a:pt x="269180" y="1557777"/>
                </a:lnTo>
                <a:lnTo>
                  <a:pt x="275813" y="1569098"/>
                </a:lnTo>
                <a:lnTo>
                  <a:pt x="277364" y="1639624"/>
                </a:lnTo>
                <a:lnTo>
                  <a:pt x="292835" y="1639624"/>
                </a:lnTo>
                <a:lnTo>
                  <a:pt x="303844" y="1639624"/>
                </a:lnTo>
                <a:lnTo>
                  <a:pt x="310532" y="1639624"/>
                </a:lnTo>
                <a:lnTo>
                  <a:pt x="321493" y="1639624"/>
                </a:lnTo>
                <a:lnTo>
                  <a:pt x="325193" y="1639624"/>
                </a:lnTo>
                <a:lnTo>
                  <a:pt x="325755" y="1639624"/>
                </a:lnTo>
                <a:lnTo>
                  <a:pt x="332598" y="1639624"/>
                </a:lnTo>
                <a:lnTo>
                  <a:pt x="337615" y="1639624"/>
                </a:lnTo>
                <a:lnTo>
                  <a:pt x="338591" y="1639624"/>
                </a:lnTo>
                <a:lnTo>
                  <a:pt x="346310" y="1639624"/>
                </a:lnTo>
                <a:lnTo>
                  <a:pt x="361488" y="1722096"/>
                </a:lnTo>
                <a:lnTo>
                  <a:pt x="363547" y="1722096"/>
                </a:lnTo>
                <a:lnTo>
                  <a:pt x="372143" y="1722096"/>
                </a:lnTo>
                <a:lnTo>
                  <a:pt x="379845" y="1781788"/>
                </a:lnTo>
                <a:lnTo>
                  <a:pt x="391531" y="1781788"/>
                </a:lnTo>
                <a:lnTo>
                  <a:pt x="398790" y="1781788"/>
                </a:lnTo>
                <a:lnTo>
                  <a:pt x="400222" y="1781788"/>
                </a:lnTo>
                <a:lnTo>
                  <a:pt x="414527" y="1820992"/>
                </a:lnTo>
                <a:lnTo>
                  <a:pt x="414535" y="1820992"/>
                </a:lnTo>
                <a:lnTo>
                  <a:pt x="419507" y="1820992"/>
                </a:lnTo>
                <a:lnTo>
                  <a:pt x="430219" y="1869173"/>
                </a:lnTo>
                <a:lnTo>
                  <a:pt x="434222" y="1869173"/>
                </a:lnTo>
                <a:lnTo>
                  <a:pt x="435324" y="1877568"/>
                </a:lnTo>
                <a:lnTo>
                  <a:pt x="441749" y="1877568"/>
                </a:lnTo>
                <a:lnTo>
                  <a:pt x="443682" y="1914750"/>
                </a:lnTo>
                <a:lnTo>
                  <a:pt x="455638" y="1914750"/>
                </a:lnTo>
                <a:lnTo>
                  <a:pt x="461064" y="1914750"/>
                </a:lnTo>
                <a:lnTo>
                  <a:pt x="463019" y="1974425"/>
                </a:lnTo>
                <a:lnTo>
                  <a:pt x="472722" y="1974425"/>
                </a:lnTo>
                <a:lnTo>
                  <a:pt x="474231" y="1978806"/>
                </a:lnTo>
                <a:lnTo>
                  <a:pt x="479664" y="1978806"/>
                </a:lnTo>
                <a:lnTo>
                  <a:pt x="488632" y="1978806"/>
                </a:lnTo>
                <a:lnTo>
                  <a:pt x="502669" y="1978806"/>
                </a:lnTo>
                <a:lnTo>
                  <a:pt x="508883" y="1978806"/>
                </a:lnTo>
                <a:lnTo>
                  <a:pt x="518429" y="1978806"/>
                </a:lnTo>
                <a:lnTo>
                  <a:pt x="520651" y="1978806"/>
                </a:lnTo>
                <a:lnTo>
                  <a:pt x="527766" y="1981100"/>
                </a:lnTo>
                <a:lnTo>
                  <a:pt x="530729" y="1981100"/>
                </a:lnTo>
                <a:lnTo>
                  <a:pt x="536235" y="1981100"/>
                </a:lnTo>
                <a:lnTo>
                  <a:pt x="557643" y="1981100"/>
                </a:lnTo>
                <a:lnTo>
                  <a:pt x="561156" y="1981100"/>
                </a:lnTo>
                <a:lnTo>
                  <a:pt x="565917" y="1981100"/>
                </a:lnTo>
                <a:lnTo>
                  <a:pt x="567245" y="1981100"/>
                </a:lnTo>
                <a:lnTo>
                  <a:pt x="569247" y="1981100"/>
                </a:lnTo>
                <a:lnTo>
                  <a:pt x="575599" y="1981100"/>
                </a:lnTo>
                <a:lnTo>
                  <a:pt x="578423" y="1981100"/>
                </a:lnTo>
                <a:lnTo>
                  <a:pt x="579601" y="1981100"/>
                </a:lnTo>
                <a:lnTo>
                  <a:pt x="580952" y="1987040"/>
                </a:lnTo>
                <a:lnTo>
                  <a:pt x="580972" y="2073863"/>
                </a:lnTo>
                <a:lnTo>
                  <a:pt x="589341" y="2073863"/>
                </a:lnTo>
                <a:lnTo>
                  <a:pt x="593955" y="2073863"/>
                </a:lnTo>
                <a:lnTo>
                  <a:pt x="607969" y="2073863"/>
                </a:lnTo>
                <a:lnTo>
                  <a:pt x="618594" y="2128849"/>
                </a:lnTo>
                <a:lnTo>
                  <a:pt x="648466" y="2128849"/>
                </a:lnTo>
                <a:lnTo>
                  <a:pt x="651510" y="2128849"/>
                </a:lnTo>
                <a:lnTo>
                  <a:pt x="725125" y="2161393"/>
                </a:lnTo>
                <a:lnTo>
                  <a:pt x="729704" y="2161393"/>
                </a:lnTo>
                <a:lnTo>
                  <a:pt x="752212" y="2161393"/>
                </a:lnTo>
                <a:lnTo>
                  <a:pt x="760887" y="2164605"/>
                </a:lnTo>
                <a:lnTo>
                  <a:pt x="788800" y="2164605"/>
                </a:lnTo>
                <a:lnTo>
                  <a:pt x="849255" y="2166209"/>
                </a:lnTo>
                <a:lnTo>
                  <a:pt x="867287" y="2166209"/>
                </a:lnTo>
                <a:lnTo>
                  <a:pt x="893406" y="2187397"/>
                </a:lnTo>
                <a:lnTo>
                  <a:pt x="902865" y="2287947"/>
                </a:lnTo>
                <a:lnTo>
                  <a:pt x="934964" y="2383549"/>
                </a:lnTo>
                <a:lnTo>
                  <a:pt x="939343" y="2398540"/>
                </a:lnTo>
                <a:lnTo>
                  <a:pt x="975223" y="2398540"/>
                </a:lnTo>
                <a:lnTo>
                  <a:pt x="977265" y="2398540"/>
                </a:lnTo>
                <a:lnTo>
                  <a:pt x="980495" y="2453725"/>
                </a:lnTo>
                <a:lnTo>
                  <a:pt x="1018657" y="2502589"/>
                </a:lnTo>
                <a:lnTo>
                  <a:pt x="1047489" y="2529741"/>
                </a:lnTo>
                <a:lnTo>
                  <a:pt x="1050602" y="2529741"/>
                </a:lnTo>
                <a:lnTo>
                  <a:pt x="1087557" y="2529741"/>
                </a:lnTo>
                <a:lnTo>
                  <a:pt x="1090844" y="2588566"/>
                </a:lnTo>
                <a:lnTo>
                  <a:pt x="1181731" y="2625036"/>
                </a:lnTo>
                <a:lnTo>
                  <a:pt x="1234275" y="2642801"/>
                </a:lnTo>
                <a:lnTo>
                  <a:pt x="1258663" y="2643733"/>
                </a:lnTo>
                <a:lnTo>
                  <a:pt x="1283756" y="2682940"/>
                </a:lnTo>
                <a:lnTo>
                  <a:pt x="1285260" y="2705022"/>
                </a:lnTo>
                <a:lnTo>
                  <a:pt x="1292393" y="2727642"/>
                </a:lnTo>
                <a:lnTo>
                  <a:pt x="1315686" y="2777845"/>
                </a:lnTo>
                <a:lnTo>
                  <a:pt x="1628775" y="2777845"/>
                </a:lnTo>
                <a:lnTo>
                  <a:pt x="1910851" y="2802984"/>
                </a:lnTo>
                <a:lnTo>
                  <a:pt x="2443163" y="2802984"/>
                </a:lnTo>
                <a:lnTo>
                  <a:pt x="3257550" y="2802984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72B2"/>
            </a:solidFill>
            <a:prstDash val="solid"/>
          </a:ln>
        </p:spPr>
      </p:sp>
      <p:sp>
        <p:nvSpPr>
          <p:cNvPr id="43" name="Mean_Phi_under_common_budget">
            <a:extLst xmlns:a="http://schemas.openxmlformats.org/drawingml/2006/main">
              <a:ext uri="{FF2B5EF4-FFF2-40B4-BE49-F238E27FC236}">
                <a16:creationId xmlns:a16="http://schemas.microsoft.com/office/drawing/2014/main" id="{677A867E-8406-492A-AF59-200E2937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250811"/>
            <a:ext cx="3257550" cy="2790913"/>
          </a:xfrm>
          <a:custGeom xmlns:a="http://schemas.openxmlformats.org/drawingml/2006/main">
            <a:pathLst>
              <a:path w="3257550" h="2790913">
                <a:moveTo>
                  <a:pt x="0" y="0"/>
                </a:moveTo>
                <a:lnTo>
                  <a:pt x="73" y="13208"/>
                </a:lnTo>
                <a:lnTo>
                  <a:pt x="87" y="13208"/>
                </a:lnTo>
                <a:lnTo>
                  <a:pt x="89" y="13208"/>
                </a:lnTo>
                <a:lnTo>
                  <a:pt x="305" y="32092"/>
                </a:lnTo>
                <a:lnTo>
                  <a:pt x="431" y="32092"/>
                </a:lnTo>
                <a:lnTo>
                  <a:pt x="457" y="32092"/>
                </a:lnTo>
                <a:lnTo>
                  <a:pt x="633" y="51155"/>
                </a:lnTo>
                <a:lnTo>
                  <a:pt x="1029" y="51155"/>
                </a:lnTo>
                <a:lnTo>
                  <a:pt x="1090" y="71673"/>
                </a:lnTo>
                <a:lnTo>
                  <a:pt x="1315" y="71673"/>
                </a:lnTo>
                <a:lnTo>
                  <a:pt x="1425" y="71673"/>
                </a:lnTo>
                <a:lnTo>
                  <a:pt x="1456" y="71673"/>
                </a:lnTo>
                <a:lnTo>
                  <a:pt x="1537" y="71673"/>
                </a:lnTo>
                <a:lnTo>
                  <a:pt x="2341" y="71673"/>
                </a:lnTo>
                <a:lnTo>
                  <a:pt x="2615" y="114788"/>
                </a:lnTo>
                <a:lnTo>
                  <a:pt x="2789" y="114788"/>
                </a:lnTo>
                <a:lnTo>
                  <a:pt x="2991" y="114788"/>
                </a:lnTo>
                <a:lnTo>
                  <a:pt x="3400" y="115914"/>
                </a:lnTo>
                <a:lnTo>
                  <a:pt x="3404" y="115914"/>
                </a:lnTo>
                <a:lnTo>
                  <a:pt x="3880" y="115914"/>
                </a:lnTo>
                <a:lnTo>
                  <a:pt x="4552" y="119404"/>
                </a:lnTo>
                <a:lnTo>
                  <a:pt x="6431" y="119404"/>
                </a:lnTo>
                <a:lnTo>
                  <a:pt x="6729" y="186344"/>
                </a:lnTo>
                <a:lnTo>
                  <a:pt x="7130" y="186344"/>
                </a:lnTo>
                <a:lnTo>
                  <a:pt x="7490" y="279342"/>
                </a:lnTo>
                <a:lnTo>
                  <a:pt x="7936" y="279342"/>
                </a:lnTo>
                <a:lnTo>
                  <a:pt x="8004" y="279342"/>
                </a:lnTo>
                <a:lnTo>
                  <a:pt x="9213" y="301275"/>
                </a:lnTo>
                <a:lnTo>
                  <a:pt x="10058" y="301275"/>
                </a:lnTo>
                <a:lnTo>
                  <a:pt x="10176" y="301275"/>
                </a:lnTo>
                <a:lnTo>
                  <a:pt x="10191" y="301275"/>
                </a:lnTo>
                <a:lnTo>
                  <a:pt x="12585" y="301275"/>
                </a:lnTo>
                <a:lnTo>
                  <a:pt x="12973" y="301275"/>
                </a:lnTo>
                <a:lnTo>
                  <a:pt x="14425" y="301275"/>
                </a:lnTo>
                <a:lnTo>
                  <a:pt x="16004" y="301275"/>
                </a:lnTo>
                <a:lnTo>
                  <a:pt x="16288" y="301275"/>
                </a:lnTo>
                <a:lnTo>
                  <a:pt x="20957" y="356412"/>
                </a:lnTo>
                <a:lnTo>
                  <a:pt x="21273" y="356412"/>
                </a:lnTo>
                <a:lnTo>
                  <a:pt x="23354" y="356412"/>
                </a:lnTo>
                <a:lnTo>
                  <a:pt x="23818" y="356412"/>
                </a:lnTo>
                <a:lnTo>
                  <a:pt x="24973" y="356412"/>
                </a:lnTo>
                <a:lnTo>
                  <a:pt x="25055" y="356412"/>
                </a:lnTo>
                <a:lnTo>
                  <a:pt x="27668" y="370248"/>
                </a:lnTo>
                <a:lnTo>
                  <a:pt x="27976" y="384511"/>
                </a:lnTo>
                <a:lnTo>
                  <a:pt x="28557" y="384511"/>
                </a:lnTo>
                <a:lnTo>
                  <a:pt x="29436" y="384511"/>
                </a:lnTo>
                <a:lnTo>
                  <a:pt x="32448" y="384511"/>
                </a:lnTo>
                <a:lnTo>
                  <a:pt x="32575" y="384511"/>
                </a:lnTo>
                <a:lnTo>
                  <a:pt x="37572" y="384511"/>
                </a:lnTo>
                <a:lnTo>
                  <a:pt x="39548" y="422163"/>
                </a:lnTo>
                <a:lnTo>
                  <a:pt x="40443" y="422163"/>
                </a:lnTo>
                <a:lnTo>
                  <a:pt x="40650" y="422163"/>
                </a:lnTo>
                <a:lnTo>
                  <a:pt x="40706" y="422163"/>
                </a:lnTo>
                <a:lnTo>
                  <a:pt x="42458" y="433497"/>
                </a:lnTo>
                <a:lnTo>
                  <a:pt x="42618" y="538766"/>
                </a:lnTo>
                <a:lnTo>
                  <a:pt x="44184" y="538766"/>
                </a:lnTo>
                <a:lnTo>
                  <a:pt x="45618" y="553545"/>
                </a:lnTo>
                <a:lnTo>
                  <a:pt x="48568" y="612651"/>
                </a:lnTo>
                <a:lnTo>
                  <a:pt x="48775" y="612651"/>
                </a:lnTo>
                <a:lnTo>
                  <a:pt x="53359" y="612651"/>
                </a:lnTo>
                <a:lnTo>
                  <a:pt x="54270" y="612651"/>
                </a:lnTo>
                <a:lnTo>
                  <a:pt x="58312" y="612651"/>
                </a:lnTo>
                <a:lnTo>
                  <a:pt x="63395" y="612651"/>
                </a:lnTo>
                <a:lnTo>
                  <a:pt x="63558" y="612651"/>
                </a:lnTo>
                <a:lnTo>
                  <a:pt x="65151" y="612651"/>
                </a:lnTo>
                <a:lnTo>
                  <a:pt x="71132" y="612651"/>
                </a:lnTo>
                <a:lnTo>
                  <a:pt x="71716" y="612651"/>
                </a:lnTo>
                <a:lnTo>
                  <a:pt x="75440" y="612651"/>
                </a:lnTo>
                <a:lnTo>
                  <a:pt x="81287" y="612651"/>
                </a:lnTo>
                <a:lnTo>
                  <a:pt x="86896" y="700217"/>
                </a:lnTo>
                <a:lnTo>
                  <a:pt x="87330" y="749109"/>
                </a:lnTo>
                <a:lnTo>
                  <a:pt x="89630" y="749109"/>
                </a:lnTo>
                <a:lnTo>
                  <a:pt x="94981" y="749109"/>
                </a:lnTo>
                <a:lnTo>
                  <a:pt x="95100" y="749109"/>
                </a:lnTo>
                <a:lnTo>
                  <a:pt x="95846" y="749109"/>
                </a:lnTo>
                <a:lnTo>
                  <a:pt x="96760" y="750535"/>
                </a:lnTo>
                <a:lnTo>
                  <a:pt x="97749" y="867903"/>
                </a:lnTo>
                <a:lnTo>
                  <a:pt x="103344" y="867903"/>
                </a:lnTo>
                <a:lnTo>
                  <a:pt x="105415" y="878260"/>
                </a:lnTo>
                <a:lnTo>
                  <a:pt x="107115" y="878260"/>
                </a:lnTo>
                <a:lnTo>
                  <a:pt x="107917" y="878260"/>
                </a:lnTo>
                <a:lnTo>
                  <a:pt x="110216" y="948001"/>
                </a:lnTo>
                <a:lnTo>
                  <a:pt x="111988" y="1072269"/>
                </a:lnTo>
                <a:lnTo>
                  <a:pt x="112352" y="1072269"/>
                </a:lnTo>
                <a:lnTo>
                  <a:pt x="112641" y="1072269"/>
                </a:lnTo>
                <a:lnTo>
                  <a:pt x="114987" y="1072269"/>
                </a:lnTo>
                <a:lnTo>
                  <a:pt x="121833" y="1130748"/>
                </a:lnTo>
                <a:lnTo>
                  <a:pt x="126464" y="1130748"/>
                </a:lnTo>
                <a:lnTo>
                  <a:pt x="126634" y="1130748"/>
                </a:lnTo>
                <a:lnTo>
                  <a:pt x="135930" y="1130748"/>
                </a:lnTo>
                <a:lnTo>
                  <a:pt x="137647" y="1218635"/>
                </a:lnTo>
                <a:lnTo>
                  <a:pt x="137927" y="1229676"/>
                </a:lnTo>
                <a:lnTo>
                  <a:pt x="139403" y="1270538"/>
                </a:lnTo>
                <a:lnTo>
                  <a:pt x="141687" y="1270538"/>
                </a:lnTo>
                <a:lnTo>
                  <a:pt x="143113" y="1338511"/>
                </a:lnTo>
                <a:lnTo>
                  <a:pt x="144013" y="1338511"/>
                </a:lnTo>
                <a:lnTo>
                  <a:pt x="144397" y="1409948"/>
                </a:lnTo>
                <a:lnTo>
                  <a:pt x="145721" y="1409948"/>
                </a:lnTo>
                <a:lnTo>
                  <a:pt x="146799" y="1409948"/>
                </a:lnTo>
                <a:lnTo>
                  <a:pt x="147993" y="1409948"/>
                </a:lnTo>
                <a:lnTo>
                  <a:pt x="149266" y="1527649"/>
                </a:lnTo>
                <a:lnTo>
                  <a:pt x="152257" y="1527649"/>
                </a:lnTo>
                <a:lnTo>
                  <a:pt x="153970" y="1531911"/>
                </a:lnTo>
                <a:lnTo>
                  <a:pt x="154167" y="1569245"/>
                </a:lnTo>
                <a:lnTo>
                  <a:pt x="155292" y="1569245"/>
                </a:lnTo>
                <a:lnTo>
                  <a:pt x="157291" y="1569245"/>
                </a:lnTo>
                <a:lnTo>
                  <a:pt x="158602" y="1569245"/>
                </a:lnTo>
                <a:lnTo>
                  <a:pt x="161107" y="1569245"/>
                </a:lnTo>
                <a:lnTo>
                  <a:pt x="162306" y="1579839"/>
                </a:lnTo>
                <a:lnTo>
                  <a:pt x="162878" y="1579839"/>
                </a:lnTo>
                <a:lnTo>
                  <a:pt x="164628" y="1579839"/>
                </a:lnTo>
                <a:lnTo>
                  <a:pt x="165856" y="1579839"/>
                </a:lnTo>
                <a:lnTo>
                  <a:pt x="166291" y="1579839"/>
                </a:lnTo>
                <a:lnTo>
                  <a:pt x="166812" y="1579839"/>
                </a:lnTo>
                <a:lnTo>
                  <a:pt x="170833" y="1579839"/>
                </a:lnTo>
                <a:lnTo>
                  <a:pt x="174890" y="1579839"/>
                </a:lnTo>
                <a:lnTo>
                  <a:pt x="183121" y="1579839"/>
                </a:lnTo>
                <a:lnTo>
                  <a:pt x="186630" y="1579839"/>
                </a:lnTo>
                <a:lnTo>
                  <a:pt x="189513" y="1579839"/>
                </a:lnTo>
                <a:lnTo>
                  <a:pt x="192441" y="1584704"/>
                </a:lnTo>
                <a:lnTo>
                  <a:pt x="194251" y="1643961"/>
                </a:lnTo>
                <a:lnTo>
                  <a:pt x="199946" y="1643961"/>
                </a:lnTo>
                <a:lnTo>
                  <a:pt x="200285" y="1643961"/>
                </a:lnTo>
                <a:lnTo>
                  <a:pt x="203919" y="1643961"/>
                </a:lnTo>
                <a:lnTo>
                  <a:pt x="204595" y="1643961"/>
                </a:lnTo>
                <a:lnTo>
                  <a:pt x="209865" y="1660431"/>
                </a:lnTo>
                <a:lnTo>
                  <a:pt x="212265" y="1660431"/>
                </a:lnTo>
                <a:lnTo>
                  <a:pt x="217360" y="1660431"/>
                </a:lnTo>
                <a:lnTo>
                  <a:pt x="219508" y="1668519"/>
                </a:lnTo>
                <a:lnTo>
                  <a:pt x="219816" y="1670618"/>
                </a:lnTo>
                <a:lnTo>
                  <a:pt x="225666" y="1750970"/>
                </a:lnTo>
                <a:lnTo>
                  <a:pt x="229443" y="1750970"/>
                </a:lnTo>
                <a:lnTo>
                  <a:pt x="240858" y="1750970"/>
                </a:lnTo>
                <a:lnTo>
                  <a:pt x="247440" y="1750970"/>
                </a:lnTo>
                <a:lnTo>
                  <a:pt x="254756" y="1750970"/>
                </a:lnTo>
                <a:lnTo>
                  <a:pt x="260613" y="1750970"/>
                </a:lnTo>
                <a:lnTo>
                  <a:pt x="262328" y="1798737"/>
                </a:lnTo>
                <a:lnTo>
                  <a:pt x="267811" y="1837620"/>
                </a:lnTo>
                <a:lnTo>
                  <a:pt x="269180" y="1837620"/>
                </a:lnTo>
                <a:lnTo>
                  <a:pt x="275813" y="1837620"/>
                </a:lnTo>
                <a:lnTo>
                  <a:pt x="277364" y="1837620"/>
                </a:lnTo>
                <a:lnTo>
                  <a:pt x="292835" y="1869879"/>
                </a:lnTo>
                <a:lnTo>
                  <a:pt x="303844" y="1869879"/>
                </a:lnTo>
                <a:lnTo>
                  <a:pt x="310532" y="1869879"/>
                </a:lnTo>
                <a:lnTo>
                  <a:pt x="321493" y="1869879"/>
                </a:lnTo>
                <a:lnTo>
                  <a:pt x="325193" y="1869879"/>
                </a:lnTo>
                <a:lnTo>
                  <a:pt x="325755" y="1869879"/>
                </a:lnTo>
                <a:lnTo>
                  <a:pt x="332598" y="1869879"/>
                </a:lnTo>
                <a:lnTo>
                  <a:pt x="337615" y="1869879"/>
                </a:lnTo>
                <a:lnTo>
                  <a:pt x="338591" y="1869879"/>
                </a:lnTo>
                <a:lnTo>
                  <a:pt x="346310" y="1962289"/>
                </a:lnTo>
                <a:lnTo>
                  <a:pt x="361488" y="2044652"/>
                </a:lnTo>
                <a:lnTo>
                  <a:pt x="363547" y="2044652"/>
                </a:lnTo>
                <a:lnTo>
                  <a:pt x="372143" y="2044652"/>
                </a:lnTo>
                <a:lnTo>
                  <a:pt x="379845" y="2044652"/>
                </a:lnTo>
                <a:lnTo>
                  <a:pt x="391531" y="2044652"/>
                </a:lnTo>
                <a:lnTo>
                  <a:pt x="398790" y="2044652"/>
                </a:lnTo>
                <a:lnTo>
                  <a:pt x="400222" y="2099190"/>
                </a:lnTo>
                <a:lnTo>
                  <a:pt x="414527" y="2099190"/>
                </a:lnTo>
                <a:lnTo>
                  <a:pt x="414535" y="2099190"/>
                </a:lnTo>
                <a:lnTo>
                  <a:pt x="419507" y="2099190"/>
                </a:lnTo>
                <a:lnTo>
                  <a:pt x="430219" y="2099190"/>
                </a:lnTo>
                <a:lnTo>
                  <a:pt x="434222" y="2099190"/>
                </a:lnTo>
                <a:lnTo>
                  <a:pt x="435324" y="2099190"/>
                </a:lnTo>
                <a:lnTo>
                  <a:pt x="441749" y="2154194"/>
                </a:lnTo>
                <a:lnTo>
                  <a:pt x="443682" y="2154194"/>
                </a:lnTo>
                <a:lnTo>
                  <a:pt x="455638" y="2154194"/>
                </a:lnTo>
                <a:lnTo>
                  <a:pt x="461064" y="2154194"/>
                </a:lnTo>
                <a:lnTo>
                  <a:pt x="463019" y="2213613"/>
                </a:lnTo>
                <a:lnTo>
                  <a:pt x="472722" y="2234448"/>
                </a:lnTo>
                <a:lnTo>
                  <a:pt x="474231" y="2234448"/>
                </a:lnTo>
                <a:lnTo>
                  <a:pt x="479664" y="2334529"/>
                </a:lnTo>
                <a:lnTo>
                  <a:pt x="488632" y="2334529"/>
                </a:lnTo>
                <a:lnTo>
                  <a:pt x="502669" y="2334529"/>
                </a:lnTo>
                <a:lnTo>
                  <a:pt x="508883" y="2382873"/>
                </a:lnTo>
                <a:lnTo>
                  <a:pt x="518429" y="2404493"/>
                </a:lnTo>
                <a:lnTo>
                  <a:pt x="520651" y="2427553"/>
                </a:lnTo>
                <a:lnTo>
                  <a:pt x="527766" y="2427553"/>
                </a:lnTo>
                <a:lnTo>
                  <a:pt x="530729" y="2427553"/>
                </a:lnTo>
                <a:lnTo>
                  <a:pt x="536235" y="2427553"/>
                </a:lnTo>
                <a:lnTo>
                  <a:pt x="557643" y="2427553"/>
                </a:lnTo>
                <a:lnTo>
                  <a:pt x="561156" y="2427553"/>
                </a:lnTo>
                <a:lnTo>
                  <a:pt x="565917" y="2427553"/>
                </a:lnTo>
                <a:lnTo>
                  <a:pt x="567245" y="2427553"/>
                </a:lnTo>
                <a:lnTo>
                  <a:pt x="569247" y="2427553"/>
                </a:lnTo>
                <a:lnTo>
                  <a:pt x="575599" y="2504125"/>
                </a:lnTo>
                <a:lnTo>
                  <a:pt x="578423" y="2504125"/>
                </a:lnTo>
                <a:lnTo>
                  <a:pt x="579601" y="2504125"/>
                </a:lnTo>
                <a:lnTo>
                  <a:pt x="580952" y="2504125"/>
                </a:lnTo>
                <a:lnTo>
                  <a:pt x="580972" y="2504125"/>
                </a:lnTo>
                <a:lnTo>
                  <a:pt x="589341" y="2531002"/>
                </a:lnTo>
                <a:lnTo>
                  <a:pt x="593955" y="2569932"/>
                </a:lnTo>
                <a:lnTo>
                  <a:pt x="607969" y="2621020"/>
                </a:lnTo>
                <a:lnTo>
                  <a:pt x="618594" y="2621020"/>
                </a:lnTo>
                <a:lnTo>
                  <a:pt x="648466" y="2716203"/>
                </a:lnTo>
                <a:lnTo>
                  <a:pt x="651510" y="2716203"/>
                </a:lnTo>
                <a:lnTo>
                  <a:pt x="725125" y="2716203"/>
                </a:lnTo>
                <a:lnTo>
                  <a:pt x="729704" y="2716203"/>
                </a:lnTo>
                <a:lnTo>
                  <a:pt x="752212" y="2766133"/>
                </a:lnTo>
                <a:lnTo>
                  <a:pt x="760887" y="2766133"/>
                </a:lnTo>
                <a:lnTo>
                  <a:pt x="788800" y="2766133"/>
                </a:lnTo>
                <a:lnTo>
                  <a:pt x="849255" y="2766133"/>
                </a:lnTo>
                <a:lnTo>
                  <a:pt x="867287" y="2766133"/>
                </a:lnTo>
                <a:lnTo>
                  <a:pt x="893406" y="2766133"/>
                </a:lnTo>
                <a:lnTo>
                  <a:pt x="902865" y="2766133"/>
                </a:lnTo>
                <a:lnTo>
                  <a:pt x="934964" y="2766133"/>
                </a:lnTo>
                <a:lnTo>
                  <a:pt x="939343" y="2766133"/>
                </a:lnTo>
                <a:lnTo>
                  <a:pt x="975223" y="2766133"/>
                </a:lnTo>
                <a:lnTo>
                  <a:pt x="977265" y="2766133"/>
                </a:lnTo>
                <a:lnTo>
                  <a:pt x="980495" y="2766133"/>
                </a:lnTo>
                <a:lnTo>
                  <a:pt x="1018657" y="2766133"/>
                </a:lnTo>
                <a:lnTo>
                  <a:pt x="1047489" y="2766133"/>
                </a:lnTo>
                <a:lnTo>
                  <a:pt x="1050602" y="2790913"/>
                </a:lnTo>
                <a:lnTo>
                  <a:pt x="1087557" y="2790913"/>
                </a:lnTo>
                <a:lnTo>
                  <a:pt x="1090844" y="2790913"/>
                </a:lnTo>
                <a:lnTo>
                  <a:pt x="1181731" y="2790913"/>
                </a:lnTo>
                <a:lnTo>
                  <a:pt x="1234275" y="2790913"/>
                </a:lnTo>
                <a:lnTo>
                  <a:pt x="1258663" y="2790913"/>
                </a:lnTo>
                <a:lnTo>
                  <a:pt x="1283756" y="2790913"/>
                </a:lnTo>
                <a:lnTo>
                  <a:pt x="1285260" y="2790913"/>
                </a:lnTo>
                <a:lnTo>
                  <a:pt x="1292393" y="2790913"/>
                </a:lnTo>
                <a:lnTo>
                  <a:pt x="1315686" y="2790913"/>
                </a:lnTo>
                <a:lnTo>
                  <a:pt x="1628775" y="2790913"/>
                </a:lnTo>
                <a:lnTo>
                  <a:pt x="1910851" y="2790913"/>
                </a:lnTo>
                <a:lnTo>
                  <a:pt x="2443163" y="2790913"/>
                </a:lnTo>
                <a:lnTo>
                  <a:pt x="3257550" y="2790913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8790"/>
            </a:solidFill>
            <a:prstDash val="dash"/>
          </a:ln>
        </p:spPr>
      </p:sp>
      <p:sp>
        <p:nvSpPr>
          <p:cNvPr id="44" name="ellipse_043">
            <a:extLst xmlns:a="http://schemas.openxmlformats.org/drawingml/2006/main">
              <a:ext uri="{FF2B5EF4-FFF2-40B4-BE49-F238E27FC236}">
                <a16:creationId xmlns:a16="http://schemas.microsoft.com/office/drawing/2014/main" id="{28E53818-F29B-4BBE-A45B-CB3550DA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17723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45" name="text_044">
            <a:extLst xmlns:a="http://schemas.openxmlformats.org/drawingml/2006/main">
              <a:ext uri="{FF2B5EF4-FFF2-40B4-BE49-F238E27FC236}">
                <a16:creationId xmlns:a16="http://schemas.microsoft.com/office/drawing/2014/main" id="{B1065287-13B0-4D10-878F-E4C4F2A2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24836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46" name="ellipse_045">
            <a:extLst xmlns:a="http://schemas.openxmlformats.org/drawingml/2006/main">
              <a:ext uri="{FF2B5EF4-FFF2-40B4-BE49-F238E27FC236}">
                <a16:creationId xmlns:a16="http://schemas.microsoft.com/office/drawing/2014/main" id="{42D20C44-1C8C-40C8-A486-8B7296FD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97" y="156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47" name="text_046">
            <a:extLst xmlns:a="http://schemas.openxmlformats.org/drawingml/2006/main">
              <a:ext uri="{FF2B5EF4-FFF2-40B4-BE49-F238E27FC236}">
                <a16:creationId xmlns:a16="http://schemas.microsoft.com/office/drawing/2014/main" id="{722113F9-1D02-45EA-BD63-9A1E1FC2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397" y="1668850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48" name="ellipse_047">
            <a:extLst xmlns:a="http://schemas.openxmlformats.org/drawingml/2006/main">
              <a:ext uri="{FF2B5EF4-FFF2-40B4-BE49-F238E27FC236}">
                <a16:creationId xmlns:a16="http://schemas.microsoft.com/office/drawing/2014/main" id="{7E4F1A9D-6F9A-4779-8601-93F1D8EA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1780" y="3029727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17145">
            <a:solidFill>
              <a:srgbClr val="009E73"/>
            </a:solidFill>
            <a:prstDash val="solid"/>
          </a:ln>
        </p:spPr>
      </p:sp>
      <p:sp>
        <p:nvSpPr>
          <p:cNvPr id="49" name="text_048">
            <a:extLst xmlns:a="http://schemas.openxmlformats.org/drawingml/2006/main">
              <a:ext uri="{FF2B5EF4-FFF2-40B4-BE49-F238E27FC236}">
                <a16:creationId xmlns:a16="http://schemas.microsoft.com/office/drawing/2014/main" id="{D46E142D-AAF4-4A9B-B162-134C44FF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080" y="2877327"/>
            <a:ext cx="714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E73"/>
                </a:solidFill>
                <a:latin typeface="Arial"/>
                <a:ea typeface="Arial"/>
                <a:cs typeface="Arial"/>
              </a:rPr>
              <a:t>R20</a:t>
            </a:r>
          </a:p>
        </p:txBody>
      </p:sp>
      <p:sp>
        <p:nvSpPr>
          <p:cNvPr id="50" name="text_049">
            <a:extLst xmlns:a="http://schemas.openxmlformats.org/drawingml/2006/main">
              <a:ext uri="{FF2B5EF4-FFF2-40B4-BE49-F238E27FC236}">
                <a16:creationId xmlns:a16="http://schemas.microsoft.com/office/drawing/2014/main" id="{7E0CEB6C-A2AA-4FE0-8E97-72577EC2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991100"/>
            <a:ext cx="423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0072B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72B2"/>
                </a:solidFill>
                <a:latin typeface="Arial"/>
                <a:ea typeface="Arial"/>
                <a:cs typeface="Arial"/>
              </a:rPr>
              <a:t>blue: exact mean attainable F</a:t>
            </a:r>
          </a:p>
        </p:txBody>
      </p:sp>
      <p:sp>
        <p:nvSpPr>
          <p:cNvPr id="51" name="text_050">
            <a:extLst xmlns:a="http://schemas.openxmlformats.org/drawingml/2006/main">
              <a:ext uri="{FF2B5EF4-FFF2-40B4-BE49-F238E27FC236}">
                <a16:creationId xmlns:a16="http://schemas.microsoft.com/office/drawing/2014/main" id="{0E4A2A69-838C-43D4-92BF-C9BAB68C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32447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dashed: necessary lower bound Φ</a:t>
            </a:r>
          </a:p>
        </p:txBody>
      </p:sp>
      <p:sp>
        <p:nvSpPr>
          <p:cNvPr id="52" name="text_051">
            <a:extLst xmlns:a="http://schemas.openxmlformats.org/drawingml/2006/main">
              <a:ext uri="{FF2B5EF4-FFF2-40B4-BE49-F238E27FC236}">
                <a16:creationId xmlns:a16="http://schemas.microsoft.com/office/drawing/2014/main" id="{637B9D45-22FE-4D65-85AD-25E81363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657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green: selected-order optima</a:t>
            </a:r>
          </a:p>
        </p:txBody>
      </p:sp>
      <p:sp>
        <p:nvSpPr>
          <p:cNvPr id="53" name="text_052">
            <a:extLst xmlns:a="http://schemas.openxmlformats.org/drawingml/2006/main">
              <a:ext uri="{FF2B5EF4-FFF2-40B4-BE49-F238E27FC236}">
                <a16:creationId xmlns:a16="http://schemas.microsoft.com/office/drawing/2014/main" id="{DFDBD252-F4DD-4F39-AD1D-D70166AE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8572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(c) Same order, better filling</a:t>
            </a:r>
          </a:p>
        </p:txBody>
      </p:sp>
      <p:sp>
        <p:nvSpPr>
          <p:cNvPr id="54" name="text_053">
            <a:extLst xmlns:a="http://schemas.openxmlformats.org/drawingml/2006/main">
              <a:ext uri="{FF2B5EF4-FFF2-40B4-BE49-F238E27FC236}">
                <a16:creationId xmlns:a16="http://schemas.microsoft.com/office/drawing/2014/main" id="{BEF8BCAE-8EDB-47AA-9E70-1CBB2680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4825"/>
            <a:ext cx="3667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Frame-mean scalar cost (% range)</a:t>
            </a:r>
          </a:p>
        </p:txBody>
      </p:sp>
      <p:sp>
        <p:nvSpPr>
          <p:cNvPr id="55" name="line_054">
            <a:extLst xmlns:a="http://schemas.openxmlformats.org/drawingml/2006/main">
              <a:ext uri="{FF2B5EF4-FFF2-40B4-BE49-F238E27FC236}">
                <a16:creationId xmlns:a16="http://schemas.microsoft.com/office/drawing/2014/main" id="{51B8149C-D92C-4102-A303-FEE9EE19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143375"/>
            <a:ext cx="2381250" cy="95"/>
          </a:xfrm>
          <a:custGeom xmlns:a="http://schemas.openxmlformats.org/drawingml/2006/main">
            <a:pathLst>
              <a:path w="2381250" h="9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56" name="text_055">
            <a:extLst xmlns:a="http://schemas.openxmlformats.org/drawingml/2006/main">
              <a:ext uri="{FF2B5EF4-FFF2-40B4-BE49-F238E27FC236}">
                <a16:creationId xmlns:a16="http://schemas.microsoft.com/office/drawing/2014/main" id="{CBB5C7D4-157D-467B-9E32-C2783EA0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2907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7" name="line_056">
            <a:extLst xmlns:a="http://schemas.openxmlformats.org/drawingml/2006/main">
              <a:ext uri="{FF2B5EF4-FFF2-40B4-BE49-F238E27FC236}">
                <a16:creationId xmlns:a16="http://schemas.microsoft.com/office/drawing/2014/main" id="{BEF7067E-9B96-4D99-9509-F1502C9B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11500"/>
            <a:ext cx="2381250" cy="95"/>
          </a:xfrm>
          <a:custGeom xmlns:a="http://schemas.openxmlformats.org/drawingml/2006/main">
            <a:pathLst>
              <a:path w="2381250" h="9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58" name="text_057">
            <a:extLst xmlns:a="http://schemas.openxmlformats.org/drawingml/2006/main">
              <a:ext uri="{FF2B5EF4-FFF2-40B4-BE49-F238E27FC236}">
                <a16:creationId xmlns:a16="http://schemas.microsoft.com/office/drawing/2014/main" id="{98FD3E1A-2B28-49FB-BC05-CE8DDF04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72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9" name="line_058">
            <a:extLst xmlns:a="http://schemas.openxmlformats.org/drawingml/2006/main">
              <a:ext uri="{FF2B5EF4-FFF2-40B4-BE49-F238E27FC236}">
                <a16:creationId xmlns:a16="http://schemas.microsoft.com/office/drawing/2014/main" id="{7FCD085B-F946-42F8-A3DE-5F3F60E9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79625"/>
            <a:ext cx="2381250" cy="95"/>
          </a:xfrm>
          <a:custGeom xmlns:a="http://schemas.openxmlformats.org/drawingml/2006/main">
            <a:pathLst>
              <a:path w="2381250" h="9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60" name="text_059">
            <a:extLst xmlns:a="http://schemas.openxmlformats.org/drawingml/2006/main">
              <a:ext uri="{FF2B5EF4-FFF2-40B4-BE49-F238E27FC236}">
                <a16:creationId xmlns:a16="http://schemas.microsoft.com/office/drawing/2014/main" id="{B3A25DD7-7693-4DCB-A70A-C9048588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65325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1" name="line_060">
            <a:extLst xmlns:a="http://schemas.openxmlformats.org/drawingml/2006/main">
              <a:ext uri="{FF2B5EF4-FFF2-40B4-BE49-F238E27FC236}">
                <a16:creationId xmlns:a16="http://schemas.microsoft.com/office/drawing/2014/main" id="{DD759906-201C-4756-8B7F-00D69553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047750"/>
            <a:ext cx="2381250" cy="95"/>
          </a:xfrm>
          <a:custGeom xmlns:a="http://schemas.openxmlformats.org/drawingml/2006/main">
            <a:pathLst>
              <a:path w="2381250" h="9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FE4E8"/>
            </a:solidFill>
            <a:prstDash val="solid"/>
          </a:ln>
        </p:spPr>
      </p:sp>
      <p:sp>
        <p:nvSpPr>
          <p:cNvPr id="62" name="text_061">
            <a:extLst xmlns:a="http://schemas.openxmlformats.org/drawingml/2006/main">
              <a:ext uri="{FF2B5EF4-FFF2-40B4-BE49-F238E27FC236}">
                <a16:creationId xmlns:a16="http://schemas.microsoft.com/office/drawing/2014/main" id="{30829A6D-5295-4454-AE77-CE491FC0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93345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3" name="rect_062">
            <a:extLst xmlns:a="http://schemas.openxmlformats.org/drawingml/2006/main">
              <a:ext uri="{FF2B5EF4-FFF2-40B4-BE49-F238E27FC236}">
                <a16:creationId xmlns:a16="http://schemas.microsoft.com/office/drawing/2014/main" id="{BEADE326-5912-4C00-B6DD-8B2962D5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74796"/>
            <a:ext cx="247650" cy="10685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790"/>
          </a:solidFill>
          <a:ln xmlns:a="http://schemas.openxmlformats.org/drawingml/2006/main" w="0">
            <a:solidFill>
              <a:srgbClr val="7B8790"/>
            </a:solidFill>
            <a:prstDash val="solid"/>
          </a:ln>
        </p:spPr>
      </p:sp>
      <p:sp>
        <p:nvSpPr>
          <p:cNvPr id="64" name="text_063">
            <a:extLst xmlns:a="http://schemas.openxmlformats.org/drawingml/2006/main">
              <a:ext uri="{FF2B5EF4-FFF2-40B4-BE49-F238E27FC236}">
                <a16:creationId xmlns:a16="http://schemas.microsoft.com/office/drawing/2014/main" id="{AF6BA093-18AB-4099-9D59-BD89B99D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27146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2.07</a:t>
            </a:r>
          </a:p>
        </p:txBody>
      </p:sp>
      <p:sp>
        <p:nvSpPr>
          <p:cNvPr id="65" name="rect_064">
            <a:extLst xmlns:a="http://schemas.openxmlformats.org/drawingml/2006/main">
              <a:ext uri="{FF2B5EF4-FFF2-40B4-BE49-F238E27FC236}">
                <a16:creationId xmlns:a16="http://schemas.microsoft.com/office/drawing/2014/main" id="{23A4A0F5-26CE-4A65-8075-5945A84C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385988"/>
            <a:ext cx="247650" cy="75738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solidFill>
              <a:srgbClr val="009E73"/>
            </a:solidFill>
            <a:prstDash val="solid"/>
          </a:ln>
        </p:spPr>
      </p:sp>
      <p:sp>
        <p:nvSpPr>
          <p:cNvPr id="66" name="text_065">
            <a:extLst xmlns:a="http://schemas.openxmlformats.org/drawingml/2006/main">
              <a:ext uri="{FF2B5EF4-FFF2-40B4-BE49-F238E27FC236}">
                <a16:creationId xmlns:a16="http://schemas.microsoft.com/office/drawing/2014/main" id="{63667558-19D8-4A13-9DCD-F3F0F177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138338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1.47</a:t>
            </a:r>
          </a:p>
        </p:txBody>
      </p:sp>
      <p:sp>
        <p:nvSpPr>
          <p:cNvPr id="67" name="text_066">
            <a:extLst xmlns:a="http://schemas.openxmlformats.org/drawingml/2006/main">
              <a:ext uri="{FF2B5EF4-FFF2-40B4-BE49-F238E27FC236}">
                <a16:creationId xmlns:a16="http://schemas.microsoft.com/office/drawing/2014/main" id="{9ECF5556-C93D-4651-B125-FF404A4E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19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Storms</a:t>
            </a:r>
          </a:p>
        </p:txBody>
      </p:sp>
      <p:sp>
        <p:nvSpPr>
          <p:cNvPr id="68" name="rect_067">
            <a:extLst xmlns:a="http://schemas.openxmlformats.org/drawingml/2006/main">
              <a:ext uri="{FF2B5EF4-FFF2-40B4-BE49-F238E27FC236}">
                <a16:creationId xmlns:a16="http://schemas.microsoft.com/office/drawing/2014/main" id="{77480F1A-42C6-44EF-A806-826F3684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729333"/>
            <a:ext cx="247650" cy="24140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790"/>
          </a:solidFill>
          <a:ln xmlns:a="http://schemas.openxmlformats.org/drawingml/2006/main" w="0">
            <a:solidFill>
              <a:srgbClr val="7B8790"/>
            </a:solidFill>
            <a:prstDash val="solid"/>
          </a:ln>
        </p:spPr>
      </p:sp>
      <p:sp>
        <p:nvSpPr>
          <p:cNvPr id="69" name="text_068">
            <a:extLst xmlns:a="http://schemas.openxmlformats.org/drawingml/2006/main">
              <a:ext uri="{FF2B5EF4-FFF2-40B4-BE49-F238E27FC236}">
                <a16:creationId xmlns:a16="http://schemas.microsoft.com/office/drawing/2014/main" id="{59B84873-58E7-4988-B3FE-DE3A6FDB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1481683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4.68</a:t>
            </a:r>
          </a:p>
        </p:txBody>
      </p:sp>
      <p:sp>
        <p:nvSpPr>
          <p:cNvPr id="70" name="rect_069">
            <a:extLst xmlns:a="http://schemas.openxmlformats.org/drawingml/2006/main">
              <a:ext uri="{FF2B5EF4-FFF2-40B4-BE49-F238E27FC236}">
                <a16:creationId xmlns:a16="http://schemas.microsoft.com/office/drawing/2014/main" id="{96FA8776-6F3F-47B9-BE24-329CE463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102809"/>
            <a:ext cx="247650" cy="20405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solidFill>
              <a:srgbClr val="009E73"/>
            </a:solidFill>
            <a:prstDash val="solid"/>
          </a:ln>
        </p:spPr>
      </p:sp>
      <p:sp>
        <p:nvSpPr>
          <p:cNvPr id="71" name="text_070">
            <a:extLst xmlns:a="http://schemas.openxmlformats.org/drawingml/2006/main">
              <a:ext uri="{FF2B5EF4-FFF2-40B4-BE49-F238E27FC236}">
                <a16:creationId xmlns:a16="http://schemas.microsoft.com/office/drawing/2014/main" id="{3756C4B4-3435-4B5C-80D7-A2986C16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1855159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3.96</a:t>
            </a:r>
          </a:p>
        </p:txBody>
      </p:sp>
      <p:sp>
        <p:nvSpPr>
          <p:cNvPr id="72" name="text_071">
            <a:extLst xmlns:a="http://schemas.openxmlformats.org/drawingml/2006/main">
              <a:ext uri="{FF2B5EF4-FFF2-40B4-BE49-F238E27FC236}">
                <a16:creationId xmlns:a16="http://schemas.microsoft.com/office/drawing/2014/main" id="{09A6E114-3942-4201-A03F-21D5AFB3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4219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Wildfires</a:t>
            </a:r>
          </a:p>
        </p:txBody>
      </p:sp>
      <p:sp>
        <p:nvSpPr>
          <p:cNvPr id="73" name="rect_072">
            <a:extLst xmlns:a="http://schemas.openxmlformats.org/drawingml/2006/main">
              <a:ext uri="{FF2B5EF4-FFF2-40B4-BE49-F238E27FC236}">
                <a16:creationId xmlns:a16="http://schemas.microsoft.com/office/drawing/2014/main" id="{390FBA34-7A06-43C4-84C2-C522496C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327445"/>
            <a:ext cx="247650" cy="28159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8790"/>
          </a:solidFill>
          <a:ln xmlns:a="http://schemas.openxmlformats.org/drawingml/2006/main" w="0">
            <a:solidFill>
              <a:srgbClr val="7B8790"/>
            </a:solidFill>
            <a:prstDash val="solid"/>
          </a:ln>
        </p:spPr>
      </p:sp>
      <p:sp>
        <p:nvSpPr>
          <p:cNvPr id="74" name="text_073">
            <a:extLst xmlns:a="http://schemas.openxmlformats.org/drawingml/2006/main">
              <a:ext uri="{FF2B5EF4-FFF2-40B4-BE49-F238E27FC236}">
                <a16:creationId xmlns:a16="http://schemas.microsoft.com/office/drawing/2014/main" id="{36015E3C-A15A-48B3-85B3-48204EAB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1079795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5.46</a:t>
            </a:r>
          </a:p>
        </p:txBody>
      </p:sp>
      <p:sp>
        <p:nvSpPr>
          <p:cNvPr id="75" name="rect_074">
            <a:extLst xmlns:a="http://schemas.openxmlformats.org/drawingml/2006/main">
              <a:ext uri="{FF2B5EF4-FFF2-40B4-BE49-F238E27FC236}">
                <a16:creationId xmlns:a16="http://schemas.microsoft.com/office/drawing/2014/main" id="{194D5F58-B139-4B70-B2A6-44FF8F7C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2735410"/>
            <a:ext cx="247650" cy="140796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E73"/>
          </a:solidFill>
          <a:ln xmlns:a="http://schemas.openxmlformats.org/drawingml/2006/main" w="0">
            <a:solidFill>
              <a:srgbClr val="009E73"/>
            </a:solidFill>
            <a:prstDash val="solid"/>
          </a:ln>
        </p:spPr>
      </p:sp>
      <p:sp>
        <p:nvSpPr>
          <p:cNvPr id="76" name="text_075">
            <a:extLst xmlns:a="http://schemas.openxmlformats.org/drawingml/2006/main">
              <a:ext uri="{FF2B5EF4-FFF2-40B4-BE49-F238E27FC236}">
                <a16:creationId xmlns:a16="http://schemas.microsoft.com/office/drawing/2014/main" id="{F66E8332-053F-4FF3-B1A5-7FC9FB77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248776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2.73</a:t>
            </a:r>
          </a:p>
        </p:txBody>
      </p:sp>
      <p:sp>
        <p:nvSpPr>
          <p:cNvPr id="77" name="text_076">
            <a:extLst xmlns:a="http://schemas.openxmlformats.org/drawingml/2006/main">
              <a:ext uri="{FF2B5EF4-FFF2-40B4-BE49-F238E27FC236}">
                <a16:creationId xmlns:a16="http://schemas.microsoft.com/office/drawing/2014/main" id="{F2C77203-CC06-455F-A0BB-F8C18287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4219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Ring</a:t>
            </a:r>
          </a:p>
        </p:txBody>
      </p:sp>
      <p:sp>
        <p:nvSpPr>
          <p:cNvPr id="78" name="text_077">
            <a:extLst xmlns:a="http://schemas.openxmlformats.org/drawingml/2006/main">
              <a:ext uri="{FF2B5EF4-FFF2-40B4-BE49-F238E27FC236}">
                <a16:creationId xmlns:a16="http://schemas.microsoft.com/office/drawing/2014/main" id="{CF68C90D-CE05-4B86-9C81-53B7D1B3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911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7B879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7B8790"/>
                </a:solidFill>
                <a:latin typeface="Arial"/>
                <a:ea typeface="Arial"/>
                <a:cs typeface="Arial"/>
              </a:rPr>
              <a:t>gray: original-LCA filling</a:t>
            </a:r>
          </a:p>
        </p:txBody>
      </p:sp>
      <p:sp>
        <p:nvSpPr>
          <p:cNvPr id="79" name="text_078">
            <a:extLst xmlns:a="http://schemas.openxmlformats.org/drawingml/2006/main">
              <a:ext uri="{FF2B5EF4-FFF2-40B4-BE49-F238E27FC236}">
                <a16:creationId xmlns:a16="http://schemas.microsoft.com/office/drawing/2014/main" id="{0B603E11-AFD2-4EC8-83A2-FCD55108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32447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009E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9E73"/>
                </a:solidFill>
                <a:latin typeface="Arial"/>
                <a:ea typeface="Arial"/>
                <a:cs typeface="Arial"/>
              </a:rPr>
              <a:t>green: minimax barriers</a:t>
            </a:r>
          </a:p>
        </p:txBody>
      </p:sp>
      <p:sp>
        <p:nvSpPr>
          <p:cNvPr id="80" name="text_079">
            <a:extLst xmlns:a="http://schemas.openxmlformats.org/drawingml/2006/main">
              <a:ext uri="{FF2B5EF4-FFF2-40B4-BE49-F238E27FC236}">
                <a16:creationId xmlns:a16="http://schemas.microsoft.com/office/drawing/2014/main" id="{6AA8EDA2-60AB-4825-ACB3-C1985D89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657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No change of selected leaf order</a:t>
            </a:r>
          </a:p>
        </p:txBody>
      </p:sp>
    </p:spTree>
    <p:extLst>
      <p:ext uri="{BB962C8B-B14F-4D97-AF65-F5344CB8AC3E}">
        <p14:creationId xmlns:p14="http://schemas.microsoft.com/office/powerpoint/2010/main" val="347303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2026-10-19T02:13:17.9710000Z</dcterms:created>
  <dcterms:modified xsi:type="dcterms:W3CDTF">2026-10-19T02:13:17.9710000Z</dcterms:modified>
</coreProperties>
</file>