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0e6ae87afd4a91" /><Relationship Type="http://schemas.openxmlformats.org/officeDocument/2006/relationships/extended-properties" Target="/docProps/app.xml" Id="Rf90beaa500954a34" /><Relationship Type="http://schemas.openxmlformats.org/officeDocument/2006/relationships/officeDocument" Target="/ppt/presentation.xml" Id="Rd625cade9af140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c2c55b15f047e1"/>
  </p:sldMasterIdLst>
  <p:notesMasterIdLst>
    <p:notesMasterId xmlns:r="http://schemas.openxmlformats.org/officeDocument/2006/relationships" r:id="R0827cd019bfe4849"/>
  </p:notesMasterIdLst>
  <p:sldIdLst>
    <p:sldId xmlns:r="http://schemas.openxmlformats.org/officeDocument/2006/relationships" id="256" r:id="Rac81c15cfd664992"/>
  </p:sldIdLst>
  <p:sldSz cx="12801600" cy="6572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c7f5cfae54e3f" /><Relationship Type="http://schemas.openxmlformats.org/officeDocument/2006/relationships/slideMaster" Target="/ppt/slideMasters/slideMaster1.xml" Id="R7dc2c55b15f047e1" /><Relationship Type="http://schemas.openxmlformats.org/officeDocument/2006/relationships/notesMaster" Target="/ppt/notesMasters/notesMaster1.xml" Id="R0827cd019bfe4849" /><Relationship Type="http://schemas.openxmlformats.org/officeDocument/2006/relationships/presProps" Target="/ppt/presProps.xml" Id="R3c0e9f00668b4081" /><Relationship Type="http://schemas.openxmlformats.org/officeDocument/2006/relationships/tableStyles" Target="/ppt/tableStyles.xml" Id="R24d211feae98450d" /><Relationship Type="http://schemas.openxmlformats.org/officeDocument/2006/relationships/slide" Target="/ppt/slides/slide1.xml" Id="Rac81c15cfd6649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163d3c42c54e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9556752574cec" /><Relationship Type="http://schemas.openxmlformats.org/officeDocument/2006/relationships/notesMaster" Target="/ppt/notesMasters/notesMaster1.xml" Id="R87ae2bc35b614d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line charts from eval_projection.json, five retained datasets, Gaussian excluded. Each window k uses its own clear-event set. Lines connect operating settings, not physical trajectories. Step duration differs across datasets. Zero clear-event rates remain undefined and omitted.</a:t>
            </a:r>
          </a:p>
          <a:p xmlns:a="http://schemas.openxmlformats.org/drawingml/2006/main">
            <a:r>
              <a:t>Evidence sources and SHA-256: {"code/results/attainable_era5.json":"241a8cc451024eb988030815d85e5978f61d145bce6fa268ddf80ca68bf54342","code/results/attainable_wildfire.json":"6a2fb2a4da5f67bcd962d0692780a1ca16e3646272e5142a515ce6fc828ece68","code/results/attainable_olr.json":"55e624effce24294b3d5649f77de02764d80fda1ed6297a73e7ef102f44abdbc","code/results/attainable_pm25.json":"7d5befd9e1f5424a5f6dfa8e57e2549f3de8c91a94ee7565d204729ceab47613","code/results/attainable_ring.json":"87d9a77042f96407b191fc4e1b3c8c9bdf085e49d68819304d9843e1c463b515","code/results/volume3d/tangaroa-paper-p10-full201/comparison.csv":"3e9daaa12b72c8ae538c5b571ef6a5d3f8db3b2c4c9d4aaa3aee287a80a009bc","code/results/paper1_suite/square-cylinder3d/comparison.csv":"af65a1c1d5cf63afd40739577fce0abd6584295a322f575498d52237d46170f3","code/results/paper1_suite/square-cylinder3d/motion.json":"2377f27f25194970a457945d5fefdb662f2c45cd906501ef944c4f5f9b166135","code/results/eval_projection.json":"f70a343b68ac04531d12480f8e043587b8dd7715ab752b5fd7c4c081d8836cd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5aed9ef344a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ad6c8bbaf46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84037be714c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dafdf256242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a813a560748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2e93776044e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FD7B6B-E4A7-4E1A-A452-9084E64FCD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482850"/>
            <a:ext cx="10241280" cy="94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B937F5-A962-4DEA-8C88-1B68D41936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614738"/>
            <a:ext cx="8961120" cy="73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47B9A6-D0DD-47C7-8B1B-336D3D273C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738438"/>
            <a:ext cx="1024128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25FB9B-6623-49AE-80B6-2A49BB7F8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C68577-A47E-4863-A3EE-C32044745A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1136142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24DFDA-6549-4418-A6BB-E28C16E35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5414D6-A6F1-4FB3-B6DF-09904D5ABE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8C06D4-1288-4E60-B357-55E1AA0A36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7A8BB0-1D7C-4559-A28F-765A86B11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126130-BD7F-4359-A2A0-29BD97AEC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14ff76fe8e46f9" /><Relationship Type="http://schemas.openxmlformats.org/officeDocument/2006/relationships/slideLayout" Target="/ppt/slideLayouts/slideLayout1.xml" Id="R9301a1d488fc4a97" /><Relationship Type="http://schemas.openxmlformats.org/officeDocument/2006/relationships/slideLayout" Target="/ppt/slideLayouts/slideLayout2.xml" Id="R3b6008d6467f44be" /><Relationship Type="http://schemas.openxmlformats.org/officeDocument/2006/relationships/slideLayout" Target="/ppt/slideLayouts/slideLayout3.xml" Id="R39e26f03cb3940ba" /><Relationship Type="http://schemas.openxmlformats.org/officeDocument/2006/relationships/slideLayout" Target="/ppt/slideLayouts/slideLayout4.xml" Id="Rd485cddaccc44ddd" /><Relationship Type="http://schemas.openxmlformats.org/officeDocument/2006/relationships/slideLayout" Target="/ppt/slideLayouts/slideLayout5.xml" Id="R721cf14a7b294b5d" /><Relationship Type="http://schemas.openxmlformats.org/officeDocument/2006/relationships/slideLayout" Target="/ppt/slideLayouts/slideLayout6.xml" Id="Rb4276d78d9ff40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01a1d488fc4a97"/>
    <p:sldLayoutId xmlns:r="http://schemas.openxmlformats.org/officeDocument/2006/relationships" id="2147483650" r:id="R3b6008d6467f44be"/>
    <p:sldLayoutId xmlns:r="http://schemas.openxmlformats.org/officeDocument/2006/relationships" id="2147483651" r:id="R39e26f03cb3940ba"/>
    <p:sldLayoutId xmlns:r="http://schemas.openxmlformats.org/officeDocument/2006/relationships" id="2147483652" r:id="Rd485cddaccc44ddd"/>
    <p:sldLayoutId xmlns:r="http://schemas.openxmlformats.org/officeDocument/2006/relationships" id="2147483653" r:id="R721cf14a7b294b5d"/>
    <p:sldLayoutId xmlns:r="http://schemas.openxmlformats.org/officeDocument/2006/relationships" id="2147483654" r:id="Rb4276d78d9ff40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31447ffbb4d7c" /><Relationship Type="http://schemas.openxmlformats.org/officeDocument/2006/relationships/chart" Target="/ppt/slides/charts/chart1.xml" Id="Rc4cb9d76fc414946" /><Relationship Type="http://schemas.openxmlformats.org/officeDocument/2006/relationships/chart" Target="/ppt/slides/charts/chart2.xml" Id="Ra264385791f94568" /><Relationship Type="http://schemas.openxmlformats.org/officeDocument/2006/relationships/chart" Target="/ppt/slides/charts/chart3.xml" Id="R4d5994934b1447ce" /><Relationship Type="http://schemas.openxmlformats.org/officeDocument/2006/relationships/chart" Target="/ppt/slides/charts/chart4.xml" Id="R417b88fd45964862" /><Relationship Type="http://schemas.openxmlformats.org/officeDocument/2006/relationships/chart" Target="/ppt/slides/charts/chart5.xml" Id="Rd0abbcfe78714926" /><Relationship Type="http://schemas.openxmlformats.org/officeDocument/2006/relationships/notesSlide" Target="/ppt/notesSlides/notesSlide1.xml" Id="R4b448eb78e3b47f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TMTM</c:v>
          </c:tx>
          <c:spPr>
            <a:ln xmlns:a="http://schemas.openxmlformats.org/drawingml/2006/main" w="16193">
              <a:solidFill>
                <a:srgbClr val="77777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61.038961038961034</c:v>
              </c:pt>
              <c:pt idx="1">
                <c:v>47.11538461538461</c:v>
              </c:pt>
              <c:pt idx="2">
                <c:v>49.09090909090909</c:v>
              </c:pt>
              <c:pt idx="3">
                <c:v>66.66666666666666</c:v>
              </c:pt>
            </c:numLit>
          </c:val>
          <c:smooth val="0"/>
        </c:ser>
        <c:ser>
          <c:idx val="1"/>
          <c:order val="1"/>
          <c:tx>
            <c:v>ST-MTM</c:v>
          </c:tx>
          <c:spPr>
            <a:ln xmlns:a="http://schemas.openxmlformats.org/drawingml/2006/main" w="16193">
              <a:solidFill>
                <a:srgbClr val="56B4E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6B4E9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55.1948051948052</c:v>
              </c:pt>
              <c:pt idx="1">
                <c:v>41.34615384615385</c:v>
              </c:pt>
              <c:pt idx="2">
                <c:v>36.36363636363637</c:v>
              </c:pt>
              <c:pt idx="3">
                <c:v>33.33333333333333</c:v>
              </c:pt>
            </c:numLit>
          </c:val>
          <c:smooth val="0"/>
        </c:ser>
        <c:ser>
          <c:idx val="2"/>
          <c:order val="2"/>
          <c:tx>
            <c:v>P</c:v>
          </c:tx>
          <c:spPr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32.467532467532465</c:v>
              </c:pt>
              <c:pt idx="1">
                <c:v>23.076923076923077</c:v>
              </c:pt>
              <c:pt idx="2">
                <c:v>20</c:v>
              </c:pt>
              <c:pt idx="3">
                <c:v>26.666666666666668</c:v>
              </c:pt>
            </c:numLit>
          </c:val>
          <c:smooth val="0"/>
        </c:ser>
        <c:ser>
          <c:idx val="3"/>
          <c:order val="3"/>
          <c:tx>
            <c:v>R20</c:v>
          </c:tx>
          <c:spPr>
            <a:ln xmlns:a="http://schemas.openxmlformats.org/drawingml/2006/main" w="16193">
              <a:solidFill>
                <a:srgbClr val="009E7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9E73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21.428571428571427</c:v>
              </c:pt>
              <c:pt idx="1">
                <c:v>18.269230769230766</c:v>
              </c:pt>
              <c:pt idx="2">
                <c:v>12.727272727272727</c:v>
              </c:pt>
              <c:pt idx="3">
                <c:v>13.333333333333334</c:v>
              </c:pt>
            </c:numLit>
          </c:val>
          <c:smooth val="0"/>
        </c:ser>
        <c:ser>
          <c:idx val="4"/>
          <c:order val="4"/>
          <c:tx>
            <c:v>Hilbert</c:v>
          </c:tx>
          <c:spPr>
            <a:ln xmlns:a="http://schemas.openxmlformats.org/drawingml/2006/main" w="16193">
              <a:solidFill>
                <a:srgbClr val="D55E0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60.3896103896104</c:v>
              </c:pt>
              <c:pt idx="1">
                <c:v>46.15384615384615</c:v>
              </c:pt>
              <c:pt idx="2">
                <c:v>41.81818181818181</c:v>
              </c:pt>
              <c:pt idx="3">
                <c:v>53.333333333333336</c:v>
              </c:pt>
            </c:numLit>
          </c:val>
          <c:smooth val="0"/>
        </c:ser>
        <c:ser>
          <c:idx val="5"/>
          <c:order val="5"/>
          <c:tx>
            <c:v>Morton</c:v>
          </c:tx>
          <c:spPr>
            <a:ln xmlns:a="http://schemas.openxmlformats.org/drawingml/2006/main" w="16193">
              <a:solidFill>
                <a:srgbClr val="CC79A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C79A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45.45454545454545</c:v>
              </c:pt>
              <c:pt idx="1">
                <c:v>44.230769230769226</c:v>
              </c:pt>
              <c:pt idx="2">
                <c:v>45.45454545454545</c:v>
              </c:pt>
              <c:pt idx="3">
                <c:v>73.33333333333333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Window length (time steps)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TMTM</c:v>
          </c:tx>
          <c:spPr>
            <a:ln xmlns:a="http://schemas.openxmlformats.org/drawingml/2006/main" w="16193">
              <a:solidFill>
                <a:srgbClr val="77777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44.44444444444444</c:v>
              </c:pt>
              <c:pt idx="1">
                <c:v>39.285714285714285</c:v>
              </c:pt>
              <c:pt idx="2">
                <c:v>49.29577464788733</c:v>
              </c:pt>
              <c:pt idx="3">
                <c:v>51.61290322580645</c:v>
              </c:pt>
            </c:numLit>
          </c:val>
          <c:smooth val="0"/>
        </c:ser>
        <c:ser>
          <c:idx val="1"/>
          <c:order val="1"/>
          <c:tx>
            <c:v>ST-MTM</c:v>
          </c:tx>
          <c:spPr>
            <a:ln xmlns:a="http://schemas.openxmlformats.org/drawingml/2006/main" w="16193">
              <a:solidFill>
                <a:srgbClr val="56B4E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6B4E9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39.21568627450981</c:v>
              </c:pt>
              <c:pt idx="1">
                <c:v>35.714285714285715</c:v>
              </c:pt>
              <c:pt idx="2">
                <c:v>38.028169014084504</c:v>
              </c:pt>
              <c:pt idx="3">
                <c:v>35.483870967741936</c:v>
              </c:pt>
            </c:numLit>
          </c:val>
          <c:smooth val="0"/>
        </c:ser>
        <c:ser>
          <c:idx val="2"/>
          <c:order val="2"/>
          <c:tx>
            <c:v>P</c:v>
          </c:tx>
          <c:spPr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35.294117647058826</c:v>
              </c:pt>
              <c:pt idx="1">
                <c:v>32.142857142857146</c:v>
              </c:pt>
              <c:pt idx="2">
                <c:v>28.169014084507044</c:v>
              </c:pt>
              <c:pt idx="3">
                <c:v>16.129032258064516</c:v>
              </c:pt>
            </c:numLit>
          </c:val>
          <c:smooth val="0"/>
        </c:ser>
        <c:ser>
          <c:idx val="3"/>
          <c:order val="3"/>
          <c:tx>
            <c:v>R20</c:v>
          </c:tx>
          <c:spPr>
            <a:ln xmlns:a="http://schemas.openxmlformats.org/drawingml/2006/main" w="16193">
              <a:solidFill>
                <a:srgbClr val="009E7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9E73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26.797385620915033</c:v>
              </c:pt>
              <c:pt idx="1">
                <c:v>31.25</c:v>
              </c:pt>
              <c:pt idx="2">
                <c:v>16.901408450704224</c:v>
              </c:pt>
              <c:pt idx="3">
                <c:v>12.903225806451612</c:v>
              </c:pt>
            </c:numLit>
          </c:val>
          <c:smooth val="0"/>
        </c:ser>
        <c:ser>
          <c:idx val="4"/>
          <c:order val="4"/>
          <c:tx>
            <c:v>Hilbert</c:v>
          </c:tx>
          <c:spPr>
            <a:ln xmlns:a="http://schemas.openxmlformats.org/drawingml/2006/main" w="16193">
              <a:solidFill>
                <a:srgbClr val="D55E0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50.326797385620914</c:v>
              </c:pt>
              <c:pt idx="1">
                <c:v>50</c:v>
              </c:pt>
              <c:pt idx="2">
                <c:v>45.07042253521127</c:v>
              </c:pt>
              <c:pt idx="3">
                <c:v>25.806451612903224</c:v>
              </c:pt>
            </c:numLit>
          </c:val>
          <c:smooth val="0"/>
        </c:ser>
        <c:ser>
          <c:idx val="5"/>
          <c:order val="5"/>
          <c:tx>
            <c:v>Morton</c:v>
          </c:tx>
          <c:spPr>
            <a:ln xmlns:a="http://schemas.openxmlformats.org/drawingml/2006/main" w="16193">
              <a:solidFill>
                <a:srgbClr val="CC79A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C79A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49.673202614379086</c:v>
              </c:pt>
              <c:pt idx="1">
                <c:v>48.214285714285715</c:v>
              </c:pt>
              <c:pt idx="2">
                <c:v>49.29577464788733</c:v>
              </c:pt>
              <c:pt idx="3">
                <c:v>25.806451612903224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Window length (time steps)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TMTM</c:v>
          </c:tx>
          <c:spPr>
            <a:ln xmlns:a="http://schemas.openxmlformats.org/drawingml/2006/main" w="16193">
              <a:solidFill>
                <a:srgbClr val="77777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48.62385321100918</c:v>
              </c:pt>
              <c:pt idx="1">
                <c:v>44.642857142857146</c:v>
              </c:pt>
              <c:pt idx="2">
                <c:v>25</c:v>
              </c:pt>
              <c:pt idx="3">
                <c:v>50</c:v>
              </c:pt>
            </c:numLit>
          </c:val>
          <c:smooth val="0"/>
        </c:ser>
        <c:ser>
          <c:idx val="1"/>
          <c:order val="1"/>
          <c:tx>
            <c:v>ST-MTM</c:v>
          </c:tx>
          <c:spPr>
            <a:ln xmlns:a="http://schemas.openxmlformats.org/drawingml/2006/main" w="16193">
              <a:solidFill>
                <a:srgbClr val="56B4E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6B4E9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44.95412844036697</c:v>
              </c:pt>
              <c:pt idx="1">
                <c:v>21.428571428571427</c:v>
              </c:pt>
              <c:pt idx="2">
                <c:v>25</c:v>
              </c:pt>
              <c:pt idx="3">
                <c:v>50</c:v>
              </c:pt>
            </c:numLit>
          </c:val>
          <c:smooth val="0"/>
        </c:ser>
        <c:ser>
          <c:idx val="2"/>
          <c:order val="2"/>
          <c:tx>
            <c:v>P</c:v>
          </c:tx>
          <c:spPr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13.761467889908257</c:v>
              </c:pt>
              <c:pt idx="1">
                <c:v>5.357142857142857</c:v>
              </c:pt>
              <c:pt idx="2">
                <c:v>0</c:v>
              </c:pt>
              <c:pt idx="3">
                <c:v>0</c:v>
              </c:pt>
            </c:numLit>
          </c:val>
          <c:smooth val="0"/>
        </c:ser>
        <c:ser>
          <c:idx val="3"/>
          <c:order val="3"/>
          <c:tx>
            <c:v>R20</c:v>
          </c:tx>
          <c:spPr>
            <a:ln xmlns:a="http://schemas.openxmlformats.org/drawingml/2006/main" w="16193">
              <a:solidFill>
                <a:srgbClr val="009E7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9E73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9.174311926605505</c:v>
              </c:pt>
              <c:pt idx="1">
                <c:v>5.357142857142857</c:v>
              </c:pt>
              <c:pt idx="2">
                <c:v>0</c:v>
              </c:pt>
              <c:pt idx="3">
                <c:v>0</c:v>
              </c:pt>
            </c:numLit>
          </c:val>
          <c:smooth val="0"/>
        </c:ser>
        <c:ser>
          <c:idx val="4"/>
          <c:order val="4"/>
          <c:tx>
            <c:v>Hilbert</c:v>
          </c:tx>
          <c:spPr>
            <a:ln xmlns:a="http://schemas.openxmlformats.org/drawingml/2006/main" w="16193">
              <a:solidFill>
                <a:srgbClr val="D55E0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49.54128440366973</c:v>
              </c:pt>
              <c:pt idx="1">
                <c:v>48.214285714285715</c:v>
              </c:pt>
              <c:pt idx="2">
                <c:v>50</c:v>
              </c:pt>
              <c:pt idx="3">
                <c:v>50</c:v>
              </c:pt>
            </c:numLit>
          </c:val>
          <c:smooth val="0"/>
        </c:ser>
        <c:ser>
          <c:idx val="5"/>
          <c:order val="5"/>
          <c:tx>
            <c:v>Morton</c:v>
          </c:tx>
          <c:spPr>
            <a:ln xmlns:a="http://schemas.openxmlformats.org/drawingml/2006/main" w="16193">
              <a:solidFill>
                <a:srgbClr val="CC79A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C79A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56.88073394495413</c:v>
              </c:pt>
              <c:pt idx="1">
                <c:v>46.42857142857143</c:v>
              </c:pt>
              <c:pt idx="2">
                <c:v>43.75</c:v>
              </c:pt>
              <c:pt idx="3">
                <c:v>50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Window length (time steps)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TMTM</c:v>
          </c:tx>
          <c:spPr>
            <a:ln xmlns:a="http://schemas.openxmlformats.org/drawingml/2006/main" w="16193">
              <a:solidFill>
                <a:srgbClr val="77777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47.05882352941176</c:v>
              </c:pt>
              <c:pt idx="1">
                <c:v>71.42857142857143</c:v>
              </c:pt>
            </c:numLit>
          </c:val>
          <c:smooth val="0"/>
        </c:ser>
        <c:ser>
          <c:idx val="1"/>
          <c:order val="1"/>
          <c:tx>
            <c:v>ST-MTM</c:v>
          </c:tx>
          <c:spPr>
            <a:ln xmlns:a="http://schemas.openxmlformats.org/drawingml/2006/main" w="16193">
              <a:solidFill>
                <a:srgbClr val="56B4E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6B4E9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23.52941176470588</c:v>
              </c:pt>
              <c:pt idx="1">
                <c:v>42.857142857142854</c:v>
              </c:pt>
            </c:numLit>
          </c:val>
          <c:smooth val="0"/>
        </c:ser>
        <c:ser>
          <c:idx val="2"/>
          <c:order val="2"/>
          <c:tx>
            <c:v>P</c:v>
          </c:tx>
          <c:spPr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47.05882352941176</c:v>
              </c:pt>
              <c:pt idx="1">
                <c:v>42.857142857142854</c:v>
              </c:pt>
            </c:numLit>
          </c:val>
          <c:smooth val="0"/>
        </c:ser>
        <c:ser>
          <c:idx val="3"/>
          <c:order val="3"/>
          <c:tx>
            <c:v>R20</c:v>
          </c:tx>
          <c:spPr>
            <a:ln xmlns:a="http://schemas.openxmlformats.org/drawingml/2006/main" w="16193">
              <a:solidFill>
                <a:srgbClr val="009E7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9E73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35.294117647058826</c:v>
              </c:pt>
              <c:pt idx="1">
                <c:v>28.57142857142857</c:v>
              </c:pt>
            </c:numLit>
          </c:val>
          <c:smooth val="0"/>
        </c:ser>
        <c:ser>
          <c:idx val="4"/>
          <c:order val="4"/>
          <c:tx>
            <c:v>Hilbert</c:v>
          </c:tx>
          <c:spPr>
            <a:ln xmlns:a="http://schemas.openxmlformats.org/drawingml/2006/main" w="16193">
              <a:solidFill>
                <a:srgbClr val="D55E0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47.05882352941176</c:v>
              </c:pt>
              <c:pt idx="1">
                <c:v>42.857142857142854</c:v>
              </c:pt>
            </c:numLit>
          </c:val>
          <c:smooth val="0"/>
        </c:ser>
        <c:ser>
          <c:idx val="5"/>
          <c:order val="5"/>
          <c:tx>
            <c:v>Morton</c:v>
          </c:tx>
          <c:spPr>
            <a:ln xmlns:a="http://schemas.openxmlformats.org/drawingml/2006/main" w="16193">
              <a:solidFill>
                <a:srgbClr val="CC79A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C79A7"/>
              </a:solidFill>
            </c:spPr>
          </c:marker>
          <c:cat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cat>
          <c:val>
            <c:numLit>
              <c:formatCode>0</c:formatCode>
              <c:ptCount val="2"/>
              <c:pt idx="0">
                <c:v>41.17647058823529</c:v>
              </c:pt>
              <c:pt idx="1">
                <c:v>28.57142857142857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Window length (time steps)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TMTM</c:v>
          </c:tx>
          <c:spPr>
            <a:ln xmlns:a="http://schemas.openxmlformats.org/drawingml/2006/main" w="16193">
              <a:solidFill>
                <a:srgbClr val="77777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7777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79.7872340425532</c:v>
              </c:pt>
              <c:pt idx="1">
                <c:v>64.51612903225806</c:v>
              </c:pt>
              <c:pt idx="2">
                <c:v>50.476190476190474</c:v>
              </c:pt>
              <c:pt idx="3">
                <c:v>27.083333333333332</c:v>
              </c:pt>
            </c:numLit>
          </c:val>
          <c:smooth val="0"/>
        </c:ser>
        <c:ser>
          <c:idx val="1"/>
          <c:order val="1"/>
          <c:tx>
            <c:v>ST-MTM</c:v>
          </c:tx>
          <c:spPr>
            <a:ln xmlns:a="http://schemas.openxmlformats.org/drawingml/2006/main" w="16193">
              <a:solidFill>
                <a:srgbClr val="56B4E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6B4E9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52.12765957446809</c:v>
              </c:pt>
              <c:pt idx="1">
                <c:v>34.67741935483871</c:v>
              </c:pt>
              <c:pt idx="2">
                <c:v>24.761904761904763</c:v>
              </c:pt>
              <c:pt idx="3">
                <c:v>6.25</c:v>
              </c:pt>
            </c:numLit>
          </c:val>
          <c:smooth val="0"/>
        </c:ser>
        <c:ser>
          <c:idx val="2"/>
          <c:order val="2"/>
          <c:tx>
            <c:v>P</c:v>
          </c:tx>
          <c:spPr>
            <a:ln xmlns:a="http://schemas.openxmlformats.org/drawingml/2006/main" w="16193">
              <a:solidFill>
                <a:srgbClr val="0072B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30.851063829787233</c:v>
              </c:pt>
              <c:pt idx="1">
                <c:v>31.451612903225808</c:v>
              </c:pt>
              <c:pt idx="2">
                <c:v>23.809523809523807</c:v>
              </c:pt>
              <c:pt idx="3">
                <c:v>10.416666666666668</c:v>
              </c:pt>
            </c:numLit>
          </c:val>
          <c:smooth val="0"/>
        </c:ser>
        <c:ser>
          <c:idx val="3"/>
          <c:order val="3"/>
          <c:tx>
            <c:v>R20</c:v>
          </c:tx>
          <c:spPr>
            <a:ln xmlns:a="http://schemas.openxmlformats.org/drawingml/2006/main" w="16193">
              <a:solidFill>
                <a:srgbClr val="009E7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09E73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13.829787234042554</c:v>
              </c:pt>
              <c:pt idx="1">
                <c:v>12.903225806451612</c:v>
              </c:pt>
              <c:pt idx="2">
                <c:v>12.380952380952381</c:v>
              </c:pt>
              <c:pt idx="3">
                <c:v>20.833333333333336</c:v>
              </c:pt>
            </c:numLit>
          </c:val>
          <c:smooth val="0"/>
        </c:ser>
        <c:ser>
          <c:idx val="4"/>
          <c:order val="4"/>
          <c:tx>
            <c:v>Hilbert</c:v>
          </c:tx>
          <c:spPr>
            <a:ln xmlns:a="http://schemas.openxmlformats.org/drawingml/2006/main" w="16193">
              <a:solidFill>
                <a:srgbClr val="D55E00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42.5531914893617</c:v>
              </c:pt>
              <c:pt idx="1">
                <c:v>38.70967741935484</c:v>
              </c:pt>
              <c:pt idx="2">
                <c:v>27.61904761904762</c:v>
              </c:pt>
              <c:pt idx="3">
                <c:v>31.25</c:v>
              </c:pt>
            </c:numLit>
          </c:val>
          <c:smooth val="0"/>
        </c:ser>
        <c:ser>
          <c:idx val="5"/>
          <c:order val="5"/>
          <c:tx>
            <c:v>Morton</c:v>
          </c:tx>
          <c:spPr>
            <a:ln xmlns:a="http://schemas.openxmlformats.org/drawingml/2006/main" w="16193">
              <a:solidFill>
                <a:srgbClr val="CC79A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C79A7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</c:numLit>
          </c:cat>
          <c:val>
            <c:numLit>
              <c:formatCode>0</c:formatCode>
              <c:ptCount val="4"/>
              <c:pt idx="0">
                <c:v>25.53191489361702</c:v>
              </c:pt>
              <c:pt idx="1">
                <c:v>25</c:v>
              </c:pt>
              <c:pt idx="2">
                <c:v>25.71428571428571</c:v>
              </c:pt>
              <c:pt idx="3">
                <c:v>16.666666666666664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Window length (time steps)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Motion error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(a) Storms 1999/2000, n = 154/104/55/15">
            <a:extLst xmlns:a="http://schemas.openxmlformats.org/drawingml/2006/main">
              <a:ext uri="{FF2B5EF4-FFF2-40B4-BE49-F238E27FC236}">
                <a16:creationId xmlns:a16="http://schemas.microsoft.com/office/drawing/2014/main" id="{06CA6B0F-B388-4CFA-8FFF-37A1A3CD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Storms 1999/2000, n = 154/104/55/15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FDBF4BD1-4FA5-4F8A-8EF3-67CF8757B752}"/>
              </a:ext>
            </a:extLst>
          </p:cNvPr>
          <p:cNvGraphicFramePr/>
          <p:nvPr/>
        </p:nvGraphicFramePr>
        <p:xfrm>
          <a:off xmlns:a="http://schemas.openxmlformats.org/drawingml/2006/main" x="1524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cb9d76fc414946"/>
          </a:graphicData>
        </a:graphic>
      </p:graphicFrame>
      <p:sp>
        <p:nvSpPr>
          <p:cNvPr id="3" name="(b) Wildfires 2019, n = 153/112/71/31">
            <a:extLst xmlns:a="http://schemas.openxmlformats.org/drawingml/2006/main">
              <a:ext uri="{FF2B5EF4-FFF2-40B4-BE49-F238E27FC236}">
                <a16:creationId xmlns:a16="http://schemas.microsoft.com/office/drawing/2014/main" id="{4E289ACC-D5E3-4740-94B3-04BA5546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Wildfires 2019, n = 153/112/71/31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6E80712-09DC-4388-A702-D572EDE4561D}"/>
              </a:ext>
            </a:extLst>
          </p:cNvPr>
          <p:cNvGraphicFramePr/>
          <p:nvPr/>
        </p:nvGraphicFramePr>
        <p:xfrm>
          <a:off xmlns:a="http://schemas.openxmlformats.org/drawingml/2006/main" x="436245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64385791f94568"/>
          </a:graphicData>
        </a:graphic>
      </p:graphicFrame>
      <p:sp>
        <p:nvSpPr>
          <p:cNvPr id="5" name="(c) OLR 2024, n = 109/56/16/2">
            <a:extLst xmlns:a="http://schemas.openxmlformats.org/drawingml/2006/main">
              <a:ext uri="{FF2B5EF4-FFF2-40B4-BE49-F238E27FC236}">
                <a16:creationId xmlns:a16="http://schemas.microsoft.com/office/drawing/2014/main" id="{F24290EC-746D-495C-809C-DC5EA719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(c) OLR 2024, n = 109/56/16/2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1CFE1F5-B029-4C87-B514-260E9552F23F}"/>
              </a:ext>
            </a:extLst>
          </p:cNvPr>
          <p:cNvGraphicFramePr/>
          <p:nvPr/>
        </p:nvGraphicFramePr>
        <p:xfrm>
          <a:off xmlns:a="http://schemas.openxmlformats.org/drawingml/2006/main" x="85725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5994934b1447ce"/>
          </a:graphicData>
        </a:graphic>
      </p:graphicFrame>
      <p:sp>
        <p:nvSpPr>
          <p:cNvPr id="7" name="(d) PM2.5 Jan 2000, n = 17/7/0/0">
            <a:extLst xmlns:a="http://schemas.openxmlformats.org/drawingml/2006/main">
              <a:ext uri="{FF2B5EF4-FFF2-40B4-BE49-F238E27FC236}">
                <a16:creationId xmlns:a16="http://schemas.microsoft.com/office/drawing/2014/main" id="{DA4E8E62-93B0-44EA-AD7F-B94FC185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(d) PM2.5 Jan 2000, n = 17/7/0/0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0D82F3C7-6A56-4092-81AC-E89F39F366F7}"/>
              </a:ext>
            </a:extLst>
          </p:cNvPr>
          <p:cNvGraphicFramePr/>
          <p:nvPr/>
        </p:nvGraphicFramePr>
        <p:xfrm>
          <a:off xmlns:a="http://schemas.openxmlformats.org/drawingml/2006/main" x="15240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7b88fd45964862"/>
          </a:graphicData>
        </a:graphic>
      </p:graphicFrame>
      <p:sp>
        <p:nvSpPr>
          <p:cNvPr id="9" name="(e) Ring, n = 94/124/105/48">
            <a:extLst xmlns:a="http://schemas.openxmlformats.org/drawingml/2006/main">
              <a:ext uri="{FF2B5EF4-FFF2-40B4-BE49-F238E27FC236}">
                <a16:creationId xmlns:a16="http://schemas.microsoft.com/office/drawing/2014/main" id="{7ABD83B6-373F-4FED-BE42-CE1CCFFA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(e) Ring, n = 94/124/105/48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9776E719-0E1B-402D-8F49-4B28DEF19FE9}"/>
              </a:ext>
            </a:extLst>
          </p:cNvPr>
          <p:cNvGraphicFramePr/>
          <p:nvPr/>
        </p:nvGraphicFramePr>
        <p:xfrm>
          <a:off xmlns:a="http://schemas.openxmlformats.org/drawingml/2006/main" x="436245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abbcfe78714926"/>
          </a:graphicData>
        </a:graphic>
      </p:graphicFrame>
      <p:sp>
        <p:nvSpPr>
          <p:cNvPr id="11" name="TMTM">
            <a:extLst xmlns:a="http://schemas.openxmlformats.org/drawingml/2006/main">
              <a:ext uri="{FF2B5EF4-FFF2-40B4-BE49-F238E27FC236}">
                <a16:creationId xmlns:a16="http://schemas.microsoft.com/office/drawing/2014/main" id="{A5318ACC-AB8A-4AD1-95FA-9379FC57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sp>
        <p:nvSpPr>
          <p:cNvPr id="12" name="ST-MTM">
            <a:extLst xmlns:a="http://schemas.openxmlformats.org/drawingml/2006/main">
              <a:ext uri="{FF2B5EF4-FFF2-40B4-BE49-F238E27FC236}">
                <a16:creationId xmlns:a16="http://schemas.microsoft.com/office/drawing/2014/main" id="{86612D96-C367-4C5A-B98A-E5AD33D3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100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B4E9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sp>
        <p:nvSpPr>
          <p:cNvPr id="13" name="P = RG-MTM-P">
            <a:extLst xmlns:a="http://schemas.openxmlformats.org/drawingml/2006/main">
              <a:ext uri="{FF2B5EF4-FFF2-40B4-BE49-F238E27FC236}">
                <a16:creationId xmlns:a16="http://schemas.microsoft.com/office/drawing/2014/main" id="{AB038047-0347-4B88-B8CD-2BF8DD75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148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P = RG-MTM-P</a:t>
            </a:r>
          </a:p>
        </p:txBody>
      </p:sp>
      <p:sp>
        <p:nvSpPr>
          <p:cNvPr id="14" name="R20 = RG-MTM-R (κ = 20%)">
            <a:extLst xmlns:a="http://schemas.openxmlformats.org/drawingml/2006/main">
              <a:ext uri="{FF2B5EF4-FFF2-40B4-BE49-F238E27FC236}">
                <a16:creationId xmlns:a16="http://schemas.microsoft.com/office/drawing/2014/main" id="{DB101A79-8E6A-4DB4-9CE4-2FC9A4BE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96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R20 = RG-MTM-R (κ = 20%)</a:t>
            </a:r>
          </a:p>
        </p:txBody>
      </p:sp>
      <p:sp>
        <p:nvSpPr>
          <p:cNvPr id="15" name="Hilbert">
            <a:extLst xmlns:a="http://schemas.openxmlformats.org/drawingml/2006/main">
              <a:ext uri="{FF2B5EF4-FFF2-40B4-BE49-F238E27FC236}">
                <a16:creationId xmlns:a16="http://schemas.microsoft.com/office/drawing/2014/main" id="{E023A16B-2C36-486B-B5A4-7BAC6EB1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244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16" name="Morton">
            <a:extLst xmlns:a="http://schemas.openxmlformats.org/drawingml/2006/main">
              <a:ext uri="{FF2B5EF4-FFF2-40B4-BE49-F238E27FC236}">
                <a16:creationId xmlns:a16="http://schemas.microsoft.com/office/drawing/2014/main" id="{2674CB52-52F9-4E6C-B886-96F7F6B5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29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79A7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17" name="Counts follow k = 1/2/4/8">
            <a:extLst xmlns:a="http://schemas.openxmlformats.org/drawingml/2006/main">
              <a:ext uri="{FF2B5EF4-FFF2-40B4-BE49-F238E27FC236}">
                <a16:creationId xmlns:a16="http://schemas.microsoft.com/office/drawing/2014/main" id="{F9E106D5-98E9-41A7-8728-6816E2B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Counts follow k = 1/2/4/8</a:t>
            </a:r>
          </a:p>
        </p:txBody>
      </p:sp>
      <p:sp>
        <p:nvSpPr>
          <p:cNvPr id="18" name="Undefined rates remain omitted">
            <a:extLst xmlns:a="http://schemas.openxmlformats.org/drawingml/2006/main">
              <a:ext uri="{FF2B5EF4-FFF2-40B4-BE49-F238E27FC236}">
                <a16:creationId xmlns:a16="http://schemas.microsoft.com/office/drawing/2014/main" id="{1DE3C905-5E9B-40F2-B4E7-080359F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Undefined rates remain omitted</a:t>
            </a:r>
          </a:p>
        </p:txBody>
      </p:sp>
      <p:sp>
        <p:nvSpPr>
          <p:cNvPr id="19" name="ε = 2%. Each k has its own clear-event set. Step durations differ">
            <a:extLst xmlns:a="http://schemas.openxmlformats.org/drawingml/2006/main">
              <a:ext uri="{FF2B5EF4-FFF2-40B4-BE49-F238E27FC236}">
                <a16:creationId xmlns:a16="http://schemas.microsoft.com/office/drawing/2014/main" id="{D4D53B77-944F-4445-BF7C-6DB7A29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267450"/>
            <a:ext cx="1233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ε = 2%. Each k has its own clear-event set. Step durations differ across datasets.</a:t>
            </a:r>
          </a:p>
        </p:txBody>
      </p:sp>
    </p:spTree>
    <p:extLst>
      <p:ext uri="{BB962C8B-B14F-4D97-AF65-F5344CB8AC3E}">
        <p14:creationId xmlns:p14="http://schemas.microsoft.com/office/powerpoint/2010/main" val="636920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2026-10-22T17:38:46.6630000Z</dcterms:created>
  <dcterms:modified xsi:type="dcterms:W3CDTF">2026-10-22T17:38:46.6630000Z</dcterms:modified>
</coreProperties>
</file>