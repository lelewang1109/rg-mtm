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07255165e44b7" /><Relationship Type="http://schemas.openxmlformats.org/officeDocument/2006/relationships/extended-properties" Target="/docProps/app.xml" Id="Rd028b3ce37b740fe" /><Relationship Type="http://schemas.openxmlformats.org/officeDocument/2006/relationships/officeDocument" Target="/ppt/presentation.xml" Id="R10aa17c1afe344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1ad9314d349a7"/>
  </p:sldMasterIdLst>
  <p:notesMasterIdLst>
    <p:notesMasterId xmlns:r="http://schemas.openxmlformats.org/officeDocument/2006/relationships" r:id="Rab39cd4b014448c0"/>
  </p:notesMasterIdLst>
  <p:sldIdLst>
    <p:sldId xmlns:r="http://schemas.openxmlformats.org/officeDocument/2006/relationships" id="256" r:id="Rf820c4c813b443c7"/>
  </p:sldIdLst>
  <p:sldSz cx="12801600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14923c3d74997" /><Relationship Type="http://schemas.openxmlformats.org/officeDocument/2006/relationships/slideMaster" Target="/ppt/slideMasters/slideMaster1.xml" Id="Rd051ad9314d349a7" /><Relationship Type="http://schemas.openxmlformats.org/officeDocument/2006/relationships/notesMaster" Target="/ppt/notesMasters/notesMaster1.xml" Id="Rab39cd4b014448c0" /><Relationship Type="http://schemas.openxmlformats.org/officeDocument/2006/relationships/presProps" Target="/ppt/presProps.xml" Id="R2b580fe7b4d04827" /><Relationship Type="http://schemas.openxmlformats.org/officeDocument/2006/relationships/tableStyles" Target="/ppt/tableStyles.xml" Id="Rd04814bb9e9d4312" /><Relationship Type="http://schemas.openxmlformats.org/officeDocument/2006/relationships/slide" Target="/ppt/slides/slide1.xml" Id="Rf820c4c813b443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a6176d5ae348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089e7339984c9a" /><Relationship Type="http://schemas.openxmlformats.org/officeDocument/2006/relationships/notesMaster" Target="/ppt/notesMasters/notesMaster1.xml" Id="R4fefaa481ba946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stacked bar chart from eval_projection.json, five retained datasets, Gaussian excluded. Total motion error equals reversal plus miss. Clear event counts are 2D spatial events, not independent samples. PM2.5 January followed seasonal exploration.</a:t>
            </a:r>
          </a:p>
          <a:p xmlns:a="http://schemas.openxmlformats.org/drawingml/2006/main">
            <a:r>
              <a:t>Evidence sources and SHA-256: {"code/results/attainable_era5.json":"241a8cc451024eb988030815d85e5978f61d145bce6fa268ddf80ca68bf54342","code/results/attainable_wildfire.json":"6a2fb2a4da5f67bcd962d0692780a1ca16e3646272e5142a515ce6fc828ece68","code/results/attainable_olr.json":"55e624effce24294b3d5649f77de02764d80fda1ed6297a73e7ef102f44abdbc","code/results/attainable_pm25.json":"7d5befd9e1f5424a5f6dfa8e57e2549f3de8c91a94ee7565d204729ceab47613","code/results/attainable_ring.json":"87d9a77042f96407b191fc4e1b3c8c9bdf085e49d68819304d9843e1c463b515","code/results/volume3d/tangaroa-paper-p10-full201/comparison.csv":"3e9daaa12b72c8ae538c5b571ef6a5d3f8db3b2c4c9d4aaa3aee287a80a009bc","code/results/paper1_suite/square-cylinder3d/comparison.csv":"af65a1c1d5cf63afd40739577fce0abd6584295a322f575498d52237d46170f3","code/results/paper1_suite/square-cylinder3d/motion.json":"2377f27f25194970a457945d5fefdb662f2c45cd906501ef944c4f5f9b166135","code/results/eval_projection.json":"f70a343b68ac04531d12480f8e043587b8dd7715ab752b5fd7c4c081d8836cd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54b21cfc34e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fe55b225e44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25b12956b4e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fb189224646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f73fe63f344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82d2fb9ef4f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B334E-C706-4F36-8AE6-80A280B72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482850"/>
            <a:ext cx="10241280" cy="94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496EB4-638B-4AE4-ACE9-CFDBDB5335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614738"/>
            <a:ext cx="8961120" cy="73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A9EAEE-A1D0-413E-BBDD-E8E08B64F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38438"/>
            <a:ext cx="1024128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4EF530-E59C-4B9C-8889-C9585F67E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F88AF4-62E4-4081-90C3-0281D4F4CF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1136142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8FDA65-0463-46BD-B1A1-3ED150E55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336831-70BE-4AEC-9A52-197DD5253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2BF026-603E-4CB8-9BCE-BB753583BF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EE35DB-0CCD-4006-80CA-C1227D66D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A82E05-391D-4D4F-B0A7-0CDE9351B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e7183bcbdd48aa" /><Relationship Type="http://schemas.openxmlformats.org/officeDocument/2006/relationships/slideLayout" Target="/ppt/slideLayouts/slideLayout1.xml" Id="R4fe9173a3bbf4e9c" /><Relationship Type="http://schemas.openxmlformats.org/officeDocument/2006/relationships/slideLayout" Target="/ppt/slideLayouts/slideLayout2.xml" Id="R968fb4dfdbeb48bc" /><Relationship Type="http://schemas.openxmlformats.org/officeDocument/2006/relationships/slideLayout" Target="/ppt/slideLayouts/slideLayout3.xml" Id="R5c3d5af7eb644e99" /><Relationship Type="http://schemas.openxmlformats.org/officeDocument/2006/relationships/slideLayout" Target="/ppt/slideLayouts/slideLayout4.xml" Id="Rcae16850247349e0" /><Relationship Type="http://schemas.openxmlformats.org/officeDocument/2006/relationships/slideLayout" Target="/ppt/slideLayouts/slideLayout5.xml" Id="Rad8be95237cb48c1" /><Relationship Type="http://schemas.openxmlformats.org/officeDocument/2006/relationships/slideLayout" Target="/ppt/slideLayouts/slideLayout6.xml" Id="Reb21b6a9cef148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9173a3bbf4e9c"/>
    <p:sldLayoutId xmlns:r="http://schemas.openxmlformats.org/officeDocument/2006/relationships" id="2147483650" r:id="R968fb4dfdbeb48bc"/>
    <p:sldLayoutId xmlns:r="http://schemas.openxmlformats.org/officeDocument/2006/relationships" id="2147483651" r:id="R5c3d5af7eb644e99"/>
    <p:sldLayoutId xmlns:r="http://schemas.openxmlformats.org/officeDocument/2006/relationships" id="2147483652" r:id="Rcae16850247349e0"/>
    <p:sldLayoutId xmlns:r="http://schemas.openxmlformats.org/officeDocument/2006/relationships" id="2147483653" r:id="Rad8be95237cb48c1"/>
    <p:sldLayoutId xmlns:r="http://schemas.openxmlformats.org/officeDocument/2006/relationships" id="2147483654" r:id="Reb21b6a9cef148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e399032514471" /><Relationship Type="http://schemas.openxmlformats.org/officeDocument/2006/relationships/chart" Target="/ppt/slides/charts/chart1.xml" Id="Rbaa22380845c47ec" /><Relationship Type="http://schemas.openxmlformats.org/officeDocument/2006/relationships/chart" Target="/ppt/slides/charts/chart2.xml" Id="R6c61bead99fc47af" /><Relationship Type="http://schemas.openxmlformats.org/officeDocument/2006/relationships/chart" Target="/ppt/slides/charts/chart3.xml" Id="Rddfeec194b144ffe" /><Relationship Type="http://schemas.openxmlformats.org/officeDocument/2006/relationships/chart" Target="/ppt/slides/charts/chart4.xml" Id="Ref038949e55c4617" /><Relationship Type="http://schemas.openxmlformats.org/officeDocument/2006/relationships/chart" Target="/ppt/slides/charts/chart5.xml" Id="Rcd35965f84744b2a" /><Relationship Type="http://schemas.openxmlformats.org/officeDocument/2006/relationships/notesSlide" Target="/ppt/notesSlides/notesSlide1.xml" Id="Rb14a7d2cf0724a4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26.923076923076923</c:v>
              </c:pt>
              <c:pt idx="1">
                <c:v>21.153846153846153</c:v>
              </c:pt>
              <c:pt idx="2">
                <c:v>19.230769230769234</c:v>
              </c:pt>
              <c:pt idx="3">
                <c:v>13.461538461538462</c:v>
              </c:pt>
              <c:pt idx="4">
                <c:v>23.076923076923077</c:v>
              </c:pt>
              <c:pt idx="5">
                <c:v>25.961538461538463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20.192307692307693</c:v>
              </c:pt>
              <c:pt idx="1">
                <c:v>20.192307692307693</c:v>
              </c:pt>
              <c:pt idx="2">
                <c:v>3.8461538461538463</c:v>
              </c:pt>
              <c:pt idx="3">
                <c:v>4.807692307692308</c:v>
              </c:pt>
              <c:pt idx="4">
                <c:v>23.076923076923077</c:v>
              </c:pt>
              <c:pt idx="5">
                <c:v>18.269230769230766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21.428571428571427</c:v>
              </c:pt>
              <c:pt idx="1">
                <c:v>21.428571428571427</c:v>
              </c:pt>
              <c:pt idx="2">
                <c:v>16.071428571428573</c:v>
              </c:pt>
              <c:pt idx="3">
                <c:v>6.25</c:v>
              </c:pt>
              <c:pt idx="4">
                <c:v>14.285714285714285</c:v>
              </c:pt>
              <c:pt idx="5">
                <c:v>11.607142857142858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17.857142857142858</c:v>
              </c:pt>
              <c:pt idx="1">
                <c:v>14.285714285714285</c:v>
              </c:pt>
              <c:pt idx="2">
                <c:v>16.071428571428573</c:v>
              </c:pt>
              <c:pt idx="3">
                <c:v>25</c:v>
              </c:pt>
              <c:pt idx="4">
                <c:v>35.714285714285715</c:v>
              </c:pt>
              <c:pt idx="5">
                <c:v>36.607142857142854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32.142857142857146</c:v>
              </c:pt>
              <c:pt idx="1">
                <c:v>1.7857142857142856</c:v>
              </c:pt>
              <c:pt idx="2">
                <c:v>0</c:v>
              </c:pt>
              <c:pt idx="3">
                <c:v>1.7857142857142856</c:v>
              </c:pt>
              <c:pt idx="4">
                <c:v>25</c:v>
              </c:pt>
              <c:pt idx="5">
                <c:v>33.92857142857143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12.5</c:v>
              </c:pt>
              <c:pt idx="1">
                <c:v>19.642857142857142</c:v>
              </c:pt>
              <c:pt idx="2">
                <c:v>5.357142857142857</c:v>
              </c:pt>
              <c:pt idx="3">
                <c:v>3.571428571428571</c:v>
              </c:pt>
              <c:pt idx="4">
                <c:v>23.214285714285715</c:v>
              </c:pt>
              <c:pt idx="5">
                <c:v>12.5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28.57142857142857</c:v>
              </c:pt>
              <c:pt idx="1">
                <c:v>42.857142857142854</c:v>
              </c:pt>
              <c:pt idx="2">
                <c:v>42.857142857142854</c:v>
              </c:pt>
              <c:pt idx="3">
                <c:v>28.57142857142857</c:v>
              </c:pt>
              <c:pt idx="4">
                <c:v>14.285714285714285</c:v>
              </c:pt>
              <c:pt idx="5">
                <c:v>28.57142857142857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42.857142857142854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28.57142857142857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22.58064516129032</c:v>
              </c:pt>
              <c:pt idx="1">
                <c:v>7.258064516129033</c:v>
              </c:pt>
              <c:pt idx="2">
                <c:v>24.193548387096776</c:v>
              </c:pt>
              <c:pt idx="3">
                <c:v>10.483870967741936</c:v>
              </c:pt>
              <c:pt idx="4">
                <c:v>10.483870967741936</c:v>
              </c:pt>
              <c:pt idx="5">
                <c:v>8.064516129032258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41.935483870967744</c:v>
              </c:pt>
              <c:pt idx="1">
                <c:v>27.419354838709676</c:v>
              </c:pt>
              <c:pt idx="2">
                <c:v>7.258064516129033</c:v>
              </c:pt>
              <c:pt idx="3">
                <c:v>2.4193548387096775</c:v>
              </c:pt>
              <c:pt idx="4">
                <c:v>28.225806451612907</c:v>
              </c:pt>
              <c:pt idx="5">
                <c:v>16.93548387096774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(a) Storms 1999/2000, n = 104">
            <a:extLst xmlns:a="http://schemas.openxmlformats.org/drawingml/2006/main">
              <a:ext uri="{FF2B5EF4-FFF2-40B4-BE49-F238E27FC236}">
                <a16:creationId xmlns:a16="http://schemas.microsoft.com/office/drawing/2014/main" id="{EFC2D6DC-6E5B-428D-B6B6-813F155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Storms 1999/2000, n = 104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77375E58-F6E9-45A0-80DC-AC3859E8E540}"/>
              </a:ext>
            </a:extLst>
          </p:cNvPr>
          <p:cNvGraphicFramePr/>
          <p:nvPr/>
        </p:nvGraphicFramePr>
        <p:xfrm>
          <a:off xmlns:a="http://schemas.openxmlformats.org/drawingml/2006/main" x="1524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a22380845c47ec"/>
          </a:graphicData>
        </a:graphic>
      </p:graphicFrame>
      <p:sp>
        <p:nvSpPr>
          <p:cNvPr id="3" name="(b) Wildfires 2019, n = 112">
            <a:extLst xmlns:a="http://schemas.openxmlformats.org/drawingml/2006/main">
              <a:ext uri="{FF2B5EF4-FFF2-40B4-BE49-F238E27FC236}">
                <a16:creationId xmlns:a16="http://schemas.microsoft.com/office/drawing/2014/main" id="{6F0634FC-9B85-4558-BC98-974688B2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Wildfires 2019, n = 112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8EFC245-CF4B-4774-8686-5E7899D4D675}"/>
              </a:ext>
            </a:extLst>
          </p:cNvPr>
          <p:cNvGraphicFramePr/>
          <p:nvPr/>
        </p:nvGraphicFramePr>
        <p:xfrm>
          <a:off xmlns:a="http://schemas.openxmlformats.org/drawingml/2006/main" x="436245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61bead99fc47af"/>
          </a:graphicData>
        </a:graphic>
      </p:graphicFrame>
      <p:sp>
        <p:nvSpPr>
          <p:cNvPr id="5" name="(c) OLR 2024, n = 56">
            <a:extLst xmlns:a="http://schemas.openxmlformats.org/drawingml/2006/main">
              <a:ext uri="{FF2B5EF4-FFF2-40B4-BE49-F238E27FC236}">
                <a16:creationId xmlns:a16="http://schemas.microsoft.com/office/drawing/2014/main" id="{ABE8333B-FF60-41BF-AE30-61E1CEA3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OLR 2024, n = 56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9FCC852-DC27-40DA-B610-16B9196DEDAF}"/>
              </a:ext>
            </a:extLst>
          </p:cNvPr>
          <p:cNvGraphicFramePr/>
          <p:nvPr/>
        </p:nvGraphicFramePr>
        <p:xfrm>
          <a:off xmlns:a="http://schemas.openxmlformats.org/drawingml/2006/main" x="85725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feec194b144ffe"/>
          </a:graphicData>
        </a:graphic>
      </p:graphicFrame>
      <p:sp>
        <p:nvSpPr>
          <p:cNvPr id="7" name="(d) PM2.5 Jan 2000, n = 7">
            <a:extLst xmlns:a="http://schemas.openxmlformats.org/drawingml/2006/main">
              <a:ext uri="{FF2B5EF4-FFF2-40B4-BE49-F238E27FC236}">
                <a16:creationId xmlns:a16="http://schemas.microsoft.com/office/drawing/2014/main" id="{3BC01EF5-B3C1-4DEB-9E30-743FCE19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(d) PM2.5 Jan 2000, n = 7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15C32F09-0E40-4B57-A6F5-AB05E9CD6245}"/>
              </a:ext>
            </a:extLst>
          </p:cNvPr>
          <p:cNvGraphicFramePr/>
          <p:nvPr/>
        </p:nvGraphicFramePr>
        <p:xfrm>
          <a:off xmlns:a="http://schemas.openxmlformats.org/drawingml/2006/main" x="15240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038949e55c4617"/>
          </a:graphicData>
        </a:graphic>
      </p:graphicFrame>
      <p:sp>
        <p:nvSpPr>
          <p:cNvPr id="9" name="(e) Ring, n = 124">
            <a:extLst xmlns:a="http://schemas.openxmlformats.org/drawingml/2006/main">
              <a:ext uri="{FF2B5EF4-FFF2-40B4-BE49-F238E27FC236}">
                <a16:creationId xmlns:a16="http://schemas.microsoft.com/office/drawing/2014/main" id="{84FFF1AA-5717-4AF3-BDE5-46EDE540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(e) Ring, n = 124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7760D0E-4B33-4398-9FC1-A712C7BC89C3}"/>
              </a:ext>
            </a:extLst>
          </p:cNvPr>
          <p:cNvGraphicFramePr/>
          <p:nvPr/>
        </p:nvGraphicFramePr>
        <p:xfrm>
          <a:off xmlns:a="http://schemas.openxmlformats.org/drawingml/2006/main" x="436245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35965f84744b2a"/>
          </a:graphicData>
        </a:graphic>
      </p:graphicFrame>
      <p:sp>
        <p:nvSpPr>
          <p:cNvPr id="11" name="TMTM">
            <a:extLst xmlns:a="http://schemas.openxmlformats.org/drawingml/2006/main">
              <a:ext uri="{FF2B5EF4-FFF2-40B4-BE49-F238E27FC236}">
                <a16:creationId xmlns:a16="http://schemas.microsoft.com/office/drawing/2014/main" id="{D0371539-0D99-4E1E-8A0E-74BE2F1C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12" name="ST-MTM">
            <a:extLst xmlns:a="http://schemas.openxmlformats.org/drawingml/2006/main">
              <a:ext uri="{FF2B5EF4-FFF2-40B4-BE49-F238E27FC236}">
                <a16:creationId xmlns:a16="http://schemas.microsoft.com/office/drawing/2014/main" id="{112AF717-D537-4E9F-AE4D-B74B7BD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B4E9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13" name="P = RG-MTM-P">
            <a:extLst xmlns:a="http://schemas.openxmlformats.org/drawingml/2006/main">
              <a:ext uri="{FF2B5EF4-FFF2-40B4-BE49-F238E27FC236}">
                <a16:creationId xmlns:a16="http://schemas.microsoft.com/office/drawing/2014/main" id="{BD738D62-D876-4465-B642-A972F981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148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 = RG-MTM-P</a:t>
            </a:r>
          </a:p>
        </p:txBody>
      </p:sp>
      <p:sp>
        <p:nvSpPr>
          <p:cNvPr id="14" name="R20 = RG-MTM-R (κ = 20%)">
            <a:extLst xmlns:a="http://schemas.openxmlformats.org/drawingml/2006/main">
              <a:ext uri="{FF2B5EF4-FFF2-40B4-BE49-F238E27FC236}">
                <a16:creationId xmlns:a16="http://schemas.microsoft.com/office/drawing/2014/main" id="{65987CBF-3A2B-40CF-A543-9922343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R20 = RG-MTM-R (κ = 20%)</a:t>
            </a:r>
          </a:p>
        </p:txBody>
      </p:sp>
      <p:sp>
        <p:nvSpPr>
          <p:cNvPr id="15" name="Hilbert">
            <a:extLst xmlns:a="http://schemas.openxmlformats.org/drawingml/2006/main">
              <a:ext uri="{FF2B5EF4-FFF2-40B4-BE49-F238E27FC236}">
                <a16:creationId xmlns:a16="http://schemas.microsoft.com/office/drawing/2014/main" id="{C8866C0F-C8F9-41D4-A739-89D0085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6" name="Morton">
            <a:extLst xmlns:a="http://schemas.openxmlformats.org/drawingml/2006/main">
              <a:ext uri="{FF2B5EF4-FFF2-40B4-BE49-F238E27FC236}">
                <a16:creationId xmlns:a16="http://schemas.microsoft.com/office/drawing/2014/main" id="{C092391B-0AF5-4FD5-8767-EA9CED13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79A7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7" name="Solid: reversal. Pale: miss.">
            <a:extLst xmlns:a="http://schemas.openxmlformats.org/drawingml/2006/main">
              <a:ext uri="{FF2B5EF4-FFF2-40B4-BE49-F238E27FC236}">
                <a16:creationId xmlns:a16="http://schemas.microsoft.com/office/drawing/2014/main" id="{509DCDD5-216C-412E-958E-091BD669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Solid: reversal. Pale: miss.</a:t>
            </a:r>
          </a:p>
        </p:txBody>
      </p:sp>
      <p:sp>
        <p:nvSpPr>
          <p:cNvPr id="18" name="k = 2, ε = 2%. Event counts describe each full sequence. PM2.5 Ja">
            <a:extLst xmlns:a="http://schemas.openxmlformats.org/drawingml/2006/main">
              <a:ext uri="{FF2B5EF4-FFF2-40B4-BE49-F238E27FC236}">
                <a16:creationId xmlns:a16="http://schemas.microsoft.com/office/drawing/2014/main" id="{9E66F479-4511-41B3-9790-D5D382E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67450"/>
            <a:ext cx="1233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 = 2, ε = 2%. Event counts describe each full sequence. PM2.5 January followed seasonal exploration.</a:t>
            </a:r>
          </a:p>
        </p:txBody>
      </p:sp>
    </p:spTree>
    <p:extLst>
      <p:ext uri="{BB962C8B-B14F-4D97-AF65-F5344CB8AC3E}">
        <p14:creationId xmlns:p14="http://schemas.microsoft.com/office/powerpoint/2010/main" val="334739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2026-10-22T17:38:41.4230000Z</dcterms:created>
  <dcterms:modified xsi:type="dcterms:W3CDTF">2026-10-22T17:38:41.4230000Z</dcterms:modified>
</coreProperties>
</file>