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slides/charts/chart1.xml" ContentType="application/vnd.openxmlformats-officedocument.drawingml.chart+xml"/>
  <Override PartName="/ppt/slides/charts/chart2.xml" ContentType="application/vnd.openxmlformats-officedocument.drawingml.chart+xml"/>
  <Override PartName="/ppt/slides/charts/chart3.xml" ContentType="application/vnd.openxmlformats-officedocument.drawingml.chart+xml"/>
  <Override PartName="/ppt/slides/charts/chart4.xml" ContentType="application/vnd.openxmlformats-officedocument.drawingml.chart+xml"/>
  <Override PartName="/ppt/slides/charts/chart5.xml" ContentType="application/vnd.openxmlformats-officedocument.drawingml.chart+xml"/>
  <Override PartName="/ppt/notesSlides/notesSlide1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5c6ba967c18e4975" /><Relationship Type="http://schemas.openxmlformats.org/officeDocument/2006/relationships/extended-properties" Target="/docProps/app.xml" Id="R066c39232e524533" /><Relationship Type="http://schemas.openxmlformats.org/officeDocument/2006/relationships/officeDocument" Target="/ppt/presentation.xml" Id="Re33e9d2233d84954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914c88bfc9be4707"/>
  </p:sldMasterIdLst>
  <p:notesMasterIdLst>
    <p:notesMasterId xmlns:r="http://schemas.openxmlformats.org/officeDocument/2006/relationships" r:id="R6188bac5309d4acb"/>
  </p:notesMasterIdLst>
  <p:sldIdLst>
    <p:sldId xmlns:r="http://schemas.openxmlformats.org/officeDocument/2006/relationships" id="256" r:id="Re0dcf508bfc142e6"/>
  </p:sldIdLst>
  <p:sldSz cx="12801600" cy="657225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ef3dc714115f418f" /><Relationship Type="http://schemas.openxmlformats.org/officeDocument/2006/relationships/slideMaster" Target="/ppt/slideMasters/slideMaster1.xml" Id="R914c88bfc9be4707" /><Relationship Type="http://schemas.openxmlformats.org/officeDocument/2006/relationships/notesMaster" Target="/ppt/notesMasters/notesMaster1.xml" Id="R6188bac5309d4acb" /><Relationship Type="http://schemas.openxmlformats.org/officeDocument/2006/relationships/presProps" Target="/ppt/presProps.xml" Id="R5c767dcb85f7427c" /><Relationship Type="http://schemas.openxmlformats.org/officeDocument/2006/relationships/tableStyles" Target="/ppt/tableStyles.xml" Id="Reb664ba3985e4382" /><Relationship Type="http://schemas.openxmlformats.org/officeDocument/2006/relationships/slide" Target="/ppt/slides/slide1.xml" Id="Re0dcf508bfc142e6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7d597e18a0f540ce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0a643397dcfc49aa" /><Relationship Type="http://schemas.openxmlformats.org/officeDocument/2006/relationships/notesMaster" Target="/ppt/notesMasters/notesMaster1.xml" Id="R65401be0c11d4edc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Native scatter chart from eval_projection.json, five retained datasets, Gaussian excluded. Frame-mean stress and nearest-neighbour preservation use saved hidden-cost evaluation. These metrics describe spatial relationships, not human performance. Frames with fewer than three extrema are excluded.</a:t>
            </a:r>
          </a:p>
          <a:p xmlns:a="http://schemas.openxmlformats.org/drawingml/2006/main">
            <a:r>
              <a:t>Evidence sources and SHA-256: {"code/results/attainable_era5.json":"241a8cc451024eb988030815d85e5978f61d145bce6fa268ddf80ca68bf54342","code/results/attainable_wildfire.json":"6a2fb2a4da5f67bcd962d0692780a1ca16e3646272e5142a515ce6fc828ece68","code/results/attainable_olr.json":"55e624effce24294b3d5649f77de02764d80fda1ed6297a73e7ef102f44abdbc","code/results/attainable_pm25.json":"7d5befd9e1f5424a5f6dfa8e57e2549f3de8c91a94ee7565d204729ceab47613","code/results/attainable_ring.json":"87d9a77042f96407b191fc4e1b3c8c9bdf085e49d68819304d9843e1c463b515","code/results/volume3d/tangaroa-paper-p10-full201/comparison.csv":"3e9daaa12b72c8ae538c5b571ef6a5d3f8db3b2c4c9d4aaa3aee287a80a009bc","code/results/paper1_suite/square-cylinder3d/comparison.csv":"af65a1c1d5cf63afd40739577fce0abd6584295a322f575498d52237d46170f3","code/results/paper1_suite/square-cylinder3d/motion.json":"2377f27f25194970a457945d5fefdb662f2c45cd906501ef944c4f5f9b166135","code/results/eval_projection.json":"f70a343b68ac04531d12480f8e043587b8dd7715ab752b5fd7c4c081d8836cda"}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ee0a4c3d3b5742fb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300f6174d8ff4f7b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acf5f3222df741e8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1d441c19e8aa4819" /></Relationships>
</file>

<file path=ppt/slideLayouts/_rels/slideLayout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8e903f25131c4e55" /></Relationships>
</file>

<file path=ppt/slideLayouts/_rels/slideLayout6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8973c1309d454c28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3289031F-22D9-4760-8573-E4FCC9665822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80160" y="2482850"/>
            <a:ext cx="10241280" cy="949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46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6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6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6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6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6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6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6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6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6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Subtitle">
            <a:extLst xmlns:a="http://schemas.openxmlformats.org/drawingml/2006/main">
              <a:ext uri="{FF2B5EF4-FFF2-40B4-BE49-F238E27FC236}">
                <a16:creationId xmlns:a16="http://schemas.microsoft.com/office/drawing/2014/main" id="{C7F6D3F8-A51A-4647-94F9-2177A4C2F68D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1920240" y="3614738"/>
            <a:ext cx="8961120" cy="730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2013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013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013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013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013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013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013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013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013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013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2.xml><?xml version="1.0" encoding="utf-8"?>
<p:sldLayout xmlns:p="http://schemas.openxmlformats.org/presentationml/2006/main">
  <p:cSld name="Section Header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ection title">
            <a:extLst xmlns:a="http://schemas.openxmlformats.org/drawingml/2006/main">
              <a:ext uri="{FF2B5EF4-FFF2-40B4-BE49-F238E27FC236}">
                <a16:creationId xmlns:a16="http://schemas.microsoft.com/office/drawing/2014/main" id="{A16787A6-2681-461C-9B66-134A91BA01B6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80160" y="2738438"/>
            <a:ext cx="10241280" cy="1095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402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02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02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02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02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02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02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02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02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02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3.xml><?xml version="1.0" encoding="utf-8"?>
<p:sldLayout xmlns:p="http://schemas.openxmlformats.org/presentationml/2006/main">
  <p:cSld name="Title and Body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0723BE57-2F14-4F1F-B80F-AA47AEC504B7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720090" y="511175"/>
            <a:ext cx="11361420" cy="803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163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163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163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163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163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163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163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163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163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163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Body">
            <a:extLst xmlns:a="http://schemas.openxmlformats.org/drawingml/2006/main">
              <a:ext uri="{FF2B5EF4-FFF2-40B4-BE49-F238E27FC236}">
                <a16:creationId xmlns:a16="http://schemas.microsoft.com/office/drawing/2014/main" id="{0374FCA7-9EF5-4B65-9856-3353A213C0C6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720090" y="1825625"/>
            <a:ext cx="11361420" cy="4089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156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19075" indent="-219075" algn="l">
              <a:lnSpc>
                <a:spcPct val="110000"/>
              </a:lnSpc>
              <a:spcBef>
                <a:spcPts val="0"/>
              </a:spcBef>
              <a:spcAft>
                <a:spcPts val="1150"/>
              </a:spcAft>
              <a:buChar char="•"/>
              <a:defRPr sz="2156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11175" indent="-219075" algn="l">
              <a:lnSpc>
                <a:spcPct val="110000"/>
              </a:lnSpc>
              <a:spcBef>
                <a:spcPts val="0"/>
              </a:spcBef>
              <a:spcAft>
                <a:spcPts val="1150"/>
              </a:spcAft>
              <a:buChar char="•"/>
              <a:defRPr sz="2156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03275" indent="-219075" algn="l">
              <a:lnSpc>
                <a:spcPct val="110000"/>
              </a:lnSpc>
              <a:spcBef>
                <a:spcPts val="0"/>
              </a:spcBef>
              <a:spcAft>
                <a:spcPts val="1150"/>
              </a:spcAft>
              <a:buChar char="•"/>
              <a:defRPr sz="2156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095375" indent="-219075" algn="l">
              <a:lnSpc>
                <a:spcPct val="110000"/>
              </a:lnSpc>
              <a:spcBef>
                <a:spcPts val="0"/>
              </a:spcBef>
              <a:spcAft>
                <a:spcPts val="1150"/>
              </a:spcAft>
              <a:buChar char="•"/>
              <a:defRPr sz="2156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387475" indent="-219075" algn="l">
              <a:lnSpc>
                <a:spcPct val="110000"/>
              </a:lnSpc>
              <a:spcBef>
                <a:spcPts val="0"/>
              </a:spcBef>
              <a:spcAft>
                <a:spcPts val="1150"/>
              </a:spcAft>
              <a:buChar char="•"/>
              <a:defRPr sz="2156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679575" indent="-219075" algn="l">
              <a:lnSpc>
                <a:spcPct val="110000"/>
              </a:lnSpc>
              <a:spcBef>
                <a:spcPts val="0"/>
              </a:spcBef>
              <a:spcAft>
                <a:spcPts val="1150"/>
              </a:spcAft>
              <a:buChar char="•"/>
              <a:defRPr sz="2156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1971675" indent="-219075" algn="l">
              <a:lnSpc>
                <a:spcPct val="110000"/>
              </a:lnSpc>
              <a:spcBef>
                <a:spcPts val="0"/>
              </a:spcBef>
              <a:spcAft>
                <a:spcPts val="1150"/>
              </a:spcAft>
              <a:buChar char="•"/>
              <a:defRPr sz="2156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263775" indent="-219075" algn="l">
              <a:lnSpc>
                <a:spcPct val="110000"/>
              </a:lnSpc>
              <a:spcBef>
                <a:spcPts val="0"/>
              </a:spcBef>
              <a:spcAft>
                <a:spcPts val="1150"/>
              </a:spcAft>
              <a:buChar char="•"/>
              <a:defRPr sz="2156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555875" indent="-219075" algn="l">
              <a:lnSpc>
                <a:spcPct val="110000"/>
              </a:lnSpc>
              <a:spcBef>
                <a:spcPts val="0"/>
              </a:spcBef>
              <a:spcAft>
                <a:spcPts val="1150"/>
              </a:spcAft>
              <a:buChar char="•"/>
              <a:defRPr sz="2156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4.xml><?xml version="1.0" encoding="utf-8"?>
<p:sldLayout xmlns:p="http://schemas.openxmlformats.org/presentationml/2006/main">
  <p:cSld name="Title and Two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Title">
            <a:extLst xmlns:a="http://schemas.openxmlformats.org/drawingml/2006/main">
              <a:ext uri="{FF2B5EF4-FFF2-40B4-BE49-F238E27FC236}">
                <a16:creationId xmlns:a16="http://schemas.microsoft.com/office/drawing/2014/main" id="{7CFE4E88-554D-4F30-96C1-CC686DA8E41C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720090" y="511175"/>
            <a:ext cx="11361420" cy="803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163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163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163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163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163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163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163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163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163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163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B574D965-F5CF-49F8-A949-7AE413D123FD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720090" y="1825625"/>
            <a:ext cx="5280660" cy="4089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013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19075" indent="-219075" algn="l">
              <a:lnSpc>
                <a:spcPct val="110000"/>
              </a:lnSpc>
              <a:spcBef>
                <a:spcPts val="0"/>
              </a:spcBef>
              <a:spcAft>
                <a:spcPts val="1150"/>
              </a:spcAft>
              <a:buChar char="•"/>
              <a:defRPr sz="2013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11175" indent="-219075" algn="l">
              <a:lnSpc>
                <a:spcPct val="110000"/>
              </a:lnSpc>
              <a:spcBef>
                <a:spcPts val="0"/>
              </a:spcBef>
              <a:spcAft>
                <a:spcPts val="1150"/>
              </a:spcAft>
              <a:buChar char="•"/>
              <a:defRPr sz="2013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03275" indent="-219075" algn="l">
              <a:lnSpc>
                <a:spcPct val="110000"/>
              </a:lnSpc>
              <a:spcBef>
                <a:spcPts val="0"/>
              </a:spcBef>
              <a:spcAft>
                <a:spcPts val="1150"/>
              </a:spcAft>
              <a:buChar char="•"/>
              <a:defRPr sz="2013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095375" indent="-219075" algn="l">
              <a:lnSpc>
                <a:spcPct val="110000"/>
              </a:lnSpc>
              <a:spcBef>
                <a:spcPts val="0"/>
              </a:spcBef>
              <a:spcAft>
                <a:spcPts val="1150"/>
              </a:spcAft>
              <a:buChar char="•"/>
              <a:defRPr sz="2013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387475" indent="-219075" algn="l">
              <a:lnSpc>
                <a:spcPct val="110000"/>
              </a:lnSpc>
              <a:spcBef>
                <a:spcPts val="0"/>
              </a:spcBef>
              <a:spcAft>
                <a:spcPts val="1150"/>
              </a:spcAft>
              <a:buChar char="•"/>
              <a:defRPr sz="2013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679575" indent="-219075" algn="l">
              <a:lnSpc>
                <a:spcPct val="110000"/>
              </a:lnSpc>
              <a:spcBef>
                <a:spcPts val="0"/>
              </a:spcBef>
              <a:spcAft>
                <a:spcPts val="1150"/>
              </a:spcAft>
              <a:buChar char="•"/>
              <a:defRPr sz="2013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1971675" indent="-219075" algn="l">
              <a:lnSpc>
                <a:spcPct val="110000"/>
              </a:lnSpc>
              <a:spcBef>
                <a:spcPts val="0"/>
              </a:spcBef>
              <a:spcAft>
                <a:spcPts val="1150"/>
              </a:spcAft>
              <a:buChar char="•"/>
              <a:defRPr sz="2013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263775" indent="-219075" algn="l">
              <a:lnSpc>
                <a:spcPct val="110000"/>
              </a:lnSpc>
              <a:spcBef>
                <a:spcPts val="0"/>
              </a:spcBef>
              <a:spcAft>
                <a:spcPts val="1150"/>
              </a:spcAft>
              <a:buChar char="•"/>
              <a:defRPr sz="2013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555875" indent="-219075" algn="l">
              <a:lnSpc>
                <a:spcPct val="110000"/>
              </a:lnSpc>
              <a:spcBef>
                <a:spcPts val="0"/>
              </a:spcBef>
              <a:spcAft>
                <a:spcPts val="1150"/>
              </a:spcAft>
              <a:buChar char="•"/>
              <a:defRPr sz="2013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  <p:sp>
        <p:nvSpPr>
          <p:cNvPr id="3" name="Right column">
            <a:extLst xmlns:a="http://schemas.openxmlformats.org/drawingml/2006/main">
              <a:ext uri="{FF2B5EF4-FFF2-40B4-BE49-F238E27FC236}">
                <a16:creationId xmlns:a16="http://schemas.microsoft.com/office/drawing/2014/main" id="{69FEF32C-3B85-4528-8C10-CA14E7C31C1B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6800850" y="1825625"/>
            <a:ext cx="5280660" cy="4089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013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19075" indent="-219075" algn="l">
              <a:lnSpc>
                <a:spcPct val="110000"/>
              </a:lnSpc>
              <a:spcBef>
                <a:spcPts val="0"/>
              </a:spcBef>
              <a:spcAft>
                <a:spcPts val="1150"/>
              </a:spcAft>
              <a:buChar char="•"/>
              <a:defRPr sz="2013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11175" indent="-219075" algn="l">
              <a:lnSpc>
                <a:spcPct val="110000"/>
              </a:lnSpc>
              <a:spcBef>
                <a:spcPts val="0"/>
              </a:spcBef>
              <a:spcAft>
                <a:spcPts val="1150"/>
              </a:spcAft>
              <a:buChar char="•"/>
              <a:defRPr sz="2013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03275" indent="-219075" algn="l">
              <a:lnSpc>
                <a:spcPct val="110000"/>
              </a:lnSpc>
              <a:spcBef>
                <a:spcPts val="0"/>
              </a:spcBef>
              <a:spcAft>
                <a:spcPts val="1150"/>
              </a:spcAft>
              <a:buChar char="•"/>
              <a:defRPr sz="2013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095375" indent="-219075" algn="l">
              <a:lnSpc>
                <a:spcPct val="110000"/>
              </a:lnSpc>
              <a:spcBef>
                <a:spcPts val="0"/>
              </a:spcBef>
              <a:spcAft>
                <a:spcPts val="1150"/>
              </a:spcAft>
              <a:buChar char="•"/>
              <a:defRPr sz="2013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387475" indent="-219075" algn="l">
              <a:lnSpc>
                <a:spcPct val="110000"/>
              </a:lnSpc>
              <a:spcBef>
                <a:spcPts val="0"/>
              </a:spcBef>
              <a:spcAft>
                <a:spcPts val="1150"/>
              </a:spcAft>
              <a:buChar char="•"/>
              <a:defRPr sz="2013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679575" indent="-219075" algn="l">
              <a:lnSpc>
                <a:spcPct val="110000"/>
              </a:lnSpc>
              <a:spcBef>
                <a:spcPts val="0"/>
              </a:spcBef>
              <a:spcAft>
                <a:spcPts val="1150"/>
              </a:spcAft>
              <a:buChar char="•"/>
              <a:defRPr sz="2013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1971675" indent="-219075" algn="l">
              <a:lnSpc>
                <a:spcPct val="110000"/>
              </a:lnSpc>
              <a:spcBef>
                <a:spcPts val="0"/>
              </a:spcBef>
              <a:spcAft>
                <a:spcPts val="1150"/>
              </a:spcAft>
              <a:buChar char="•"/>
              <a:defRPr sz="2013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263775" indent="-219075" algn="l">
              <a:lnSpc>
                <a:spcPct val="110000"/>
              </a:lnSpc>
              <a:spcBef>
                <a:spcPts val="0"/>
              </a:spcBef>
              <a:spcAft>
                <a:spcPts val="1150"/>
              </a:spcAft>
              <a:buChar char="•"/>
              <a:defRPr sz="2013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555875" indent="-219075" algn="l">
              <a:lnSpc>
                <a:spcPct val="110000"/>
              </a:lnSpc>
              <a:spcBef>
                <a:spcPts val="0"/>
              </a:spcBef>
              <a:spcAft>
                <a:spcPts val="1150"/>
              </a:spcAft>
              <a:buChar char="•"/>
              <a:defRPr sz="2013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5.xml><?xml version="1.0" encoding="utf-8"?>
<p:sldLayout xmlns:p="http://schemas.openxmlformats.org/presentationml/2006/main">
  <p:cSld name="Title and One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A6A28D47-8FA9-4CDC-8001-59E1162265AF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720090" y="511175"/>
            <a:ext cx="11361420" cy="803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163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163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163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163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163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163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163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163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163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163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AD3FBFE4-1C6E-4DD6-B0E3-34F07A6B2A44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720090" y="1825625"/>
            <a:ext cx="5280660" cy="4089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156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19075" indent="-219075" algn="l">
              <a:lnSpc>
                <a:spcPct val="110000"/>
              </a:lnSpc>
              <a:spcBef>
                <a:spcPts val="0"/>
              </a:spcBef>
              <a:spcAft>
                <a:spcPts val="1150"/>
              </a:spcAft>
              <a:buChar char="•"/>
              <a:defRPr sz="2156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11175" indent="-219075" algn="l">
              <a:lnSpc>
                <a:spcPct val="110000"/>
              </a:lnSpc>
              <a:spcBef>
                <a:spcPts val="0"/>
              </a:spcBef>
              <a:spcAft>
                <a:spcPts val="1150"/>
              </a:spcAft>
              <a:buChar char="•"/>
              <a:defRPr sz="2156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03275" indent="-219075" algn="l">
              <a:lnSpc>
                <a:spcPct val="110000"/>
              </a:lnSpc>
              <a:spcBef>
                <a:spcPts val="0"/>
              </a:spcBef>
              <a:spcAft>
                <a:spcPts val="1150"/>
              </a:spcAft>
              <a:buChar char="•"/>
              <a:defRPr sz="2156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095375" indent="-219075" algn="l">
              <a:lnSpc>
                <a:spcPct val="110000"/>
              </a:lnSpc>
              <a:spcBef>
                <a:spcPts val="0"/>
              </a:spcBef>
              <a:spcAft>
                <a:spcPts val="1150"/>
              </a:spcAft>
              <a:buChar char="•"/>
              <a:defRPr sz="2156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387475" indent="-219075" algn="l">
              <a:lnSpc>
                <a:spcPct val="110000"/>
              </a:lnSpc>
              <a:spcBef>
                <a:spcPts val="0"/>
              </a:spcBef>
              <a:spcAft>
                <a:spcPts val="1150"/>
              </a:spcAft>
              <a:buChar char="•"/>
              <a:defRPr sz="2156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679575" indent="-219075" algn="l">
              <a:lnSpc>
                <a:spcPct val="110000"/>
              </a:lnSpc>
              <a:spcBef>
                <a:spcPts val="0"/>
              </a:spcBef>
              <a:spcAft>
                <a:spcPts val="1150"/>
              </a:spcAft>
              <a:buChar char="•"/>
              <a:defRPr sz="2156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1971675" indent="-219075" algn="l">
              <a:lnSpc>
                <a:spcPct val="110000"/>
              </a:lnSpc>
              <a:spcBef>
                <a:spcPts val="0"/>
              </a:spcBef>
              <a:spcAft>
                <a:spcPts val="1150"/>
              </a:spcAft>
              <a:buChar char="•"/>
              <a:defRPr sz="2156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263775" indent="-219075" algn="l">
              <a:lnSpc>
                <a:spcPct val="110000"/>
              </a:lnSpc>
              <a:spcBef>
                <a:spcPts val="0"/>
              </a:spcBef>
              <a:spcAft>
                <a:spcPts val="1150"/>
              </a:spcAft>
              <a:buChar char="•"/>
              <a:defRPr sz="2156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555875" indent="-219075" algn="l">
              <a:lnSpc>
                <a:spcPct val="110000"/>
              </a:lnSpc>
              <a:spcBef>
                <a:spcPts val="0"/>
              </a:spcBef>
              <a:spcAft>
                <a:spcPts val="1150"/>
              </a:spcAft>
              <a:buChar char="•"/>
              <a:defRPr sz="2156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6.xml><?xml version="1.0" encoding="utf-8"?>
<p:sldLayout xmlns:p="http://schemas.openxmlformats.org/presentationml/2006/main" type="blank">
  <p:cSld name="Blank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1dc5a2823ac74284" /><Relationship Type="http://schemas.openxmlformats.org/officeDocument/2006/relationships/slideLayout" Target="/ppt/slideLayouts/slideLayout1.xml" Id="R6c5cb8cc3039458f" /><Relationship Type="http://schemas.openxmlformats.org/officeDocument/2006/relationships/slideLayout" Target="/ppt/slideLayouts/slideLayout2.xml" Id="R07d020e3aabd4dd1" /><Relationship Type="http://schemas.openxmlformats.org/officeDocument/2006/relationships/slideLayout" Target="/ppt/slideLayouts/slideLayout3.xml" Id="R5a7e158883f0437d" /><Relationship Type="http://schemas.openxmlformats.org/officeDocument/2006/relationships/slideLayout" Target="/ppt/slideLayouts/slideLayout4.xml" Id="Ref74151b7e1140dd" /><Relationship Type="http://schemas.openxmlformats.org/officeDocument/2006/relationships/slideLayout" Target="/ppt/slideLayouts/slideLayout5.xml" Id="R2e0ec7d8de7f4529" /><Relationship Type="http://schemas.openxmlformats.org/officeDocument/2006/relationships/slideLayout" Target="/ppt/slideLayouts/slideLayout6.xml" Id="R88a305d4964943db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6c5cb8cc3039458f"/>
    <p:sldLayoutId xmlns:r="http://schemas.openxmlformats.org/officeDocument/2006/relationships" id="2147483650" r:id="R07d020e3aabd4dd1"/>
    <p:sldLayoutId xmlns:r="http://schemas.openxmlformats.org/officeDocument/2006/relationships" id="2147483651" r:id="R5a7e158883f0437d"/>
    <p:sldLayoutId xmlns:r="http://schemas.openxmlformats.org/officeDocument/2006/relationships" id="2147483652" r:id="Ref74151b7e1140dd"/>
    <p:sldLayoutId xmlns:r="http://schemas.openxmlformats.org/officeDocument/2006/relationships" id="2147483653" r:id="R2e0ec7d8de7f4529"/>
    <p:sldLayoutId xmlns:r="http://schemas.openxmlformats.org/officeDocument/2006/relationships" id="2147483654" r:id="R88a305d4964943db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db5aac4aab144e70" /><Relationship Type="http://schemas.openxmlformats.org/officeDocument/2006/relationships/chart" Target="/ppt/slides/charts/chart1.xml" Id="Rcd237d05b9b34988" /><Relationship Type="http://schemas.openxmlformats.org/officeDocument/2006/relationships/chart" Target="/ppt/slides/charts/chart2.xml" Id="Rb5c9afb3c8a44c86" /><Relationship Type="http://schemas.openxmlformats.org/officeDocument/2006/relationships/chart" Target="/ppt/slides/charts/chart3.xml" Id="R09e8266b1a3e4176" /><Relationship Type="http://schemas.openxmlformats.org/officeDocument/2006/relationships/chart" Target="/ppt/slides/charts/chart4.xml" Id="R61f6f0d9ec8746bc" /><Relationship Type="http://schemas.openxmlformats.org/officeDocument/2006/relationships/chart" Target="/ppt/slides/charts/chart5.xml" Id="Ra0cbc3fd95a3428f" /><Relationship Type="http://schemas.openxmlformats.org/officeDocument/2006/relationships/notesSlide" Target="/ppt/notesSlides/notesSlide1.xml" Id="Rb4ab770132e342de" /></Relationships>
</file>

<file path=ppt/slides/charts/chart1.xml><?xml version="1.0" encoding="utf-8"?>
<c:chartSpace xmlns:c="http://schemas.openxmlformats.org/drawingml/2006/chart">
  <c:lang val="en-US"/>
  <c:chart>
    <c:plotArea>
      <c:scatterChart>
        <c:scatterStyle val="marker"/>
        <c:varyColors val="0"/>
        <c:ser>
          <c:idx val="0"/>
          <c:order val="0"/>
          <c:tx>
            <c:v>TMTM</c:v>
          </c:tx>
          <c:spPr>
            <a:solidFill xmlns:a="http://schemas.openxmlformats.org/drawingml/2006/main">
              <a:srgbClr val="777777"/>
            </a:solidFill>
            <a:ln xmlns:a="http://schemas.openxmlformats.org/drawingml/2006/main" w="0">
              <a:solidFill>
                <a:srgbClr val="777777"/>
              </a:solidFill>
              <a:prstDash val="solid"/>
            </a:ln>
          </c:spPr>
          <c:marker>
            <c:symbol val="circle"/>
            <c:size val="7"/>
            <c:spPr>
              <a:solidFill xmlns:a="http://schemas.openxmlformats.org/drawingml/2006/main">
                <a:srgbClr val="777777"/>
              </a:solidFill>
            </c:spPr>
          </c:marker>
          <c:xVal>
            <c:numLit>
              <c:formatCode>General</c:formatCode>
              <c:ptCount val="1"/>
              <c:pt idx="0">
                <c:v>0.3170468516653738</c:v>
              </c:pt>
            </c:numLit>
          </c:xVal>
          <c:yVal>
            <c:numLit>
              <c:formatCode>0</c:formatCode>
              <c:ptCount val="1"/>
              <c:pt idx="0">
                <c:v>74.64015151515152</c:v>
              </c:pt>
            </c:numLit>
          </c:yVal>
        </c:ser>
        <c:ser>
          <c:idx val="1"/>
          <c:order val="1"/>
          <c:tx>
            <c:v>ST-MTM</c:v>
          </c:tx>
          <c:spPr>
            <a:solidFill xmlns:a="http://schemas.openxmlformats.org/drawingml/2006/main">
              <a:srgbClr val="56B4E9"/>
            </a:solidFill>
            <a:ln xmlns:a="http://schemas.openxmlformats.org/drawingml/2006/main" w="0">
              <a:solidFill>
                <a:srgbClr val="56B4E9"/>
              </a:solidFill>
              <a:prstDash val="solid"/>
            </a:ln>
          </c:spPr>
          <c:marker>
            <c:symbol val="circle"/>
            <c:size val="7"/>
            <c:spPr>
              <a:solidFill xmlns:a="http://schemas.openxmlformats.org/drawingml/2006/main">
                <a:srgbClr val="56B4E9"/>
              </a:solidFill>
            </c:spPr>
          </c:marker>
          <c:xVal>
            <c:numLit>
              <c:formatCode>General</c:formatCode>
              <c:ptCount val="1"/>
              <c:pt idx="0">
                <c:v>0.1935717279692967</c:v>
              </c:pt>
            </c:numLit>
          </c:xVal>
          <c:yVal>
            <c:numLit>
              <c:formatCode>0</c:formatCode>
              <c:ptCount val="1"/>
              <c:pt idx="0">
                <c:v>87.70833333333333</c:v>
              </c:pt>
            </c:numLit>
          </c:yVal>
        </c:ser>
        <c:ser>
          <c:idx val="2"/>
          <c:order val="2"/>
          <c:tx>
            <c:v>P</c:v>
          </c:tx>
          <c:spPr>
            <a:solidFill xmlns:a="http://schemas.openxmlformats.org/drawingml/2006/main">
              <a:srgbClr val="0072B2"/>
            </a:solidFill>
            <a:ln xmlns:a="http://schemas.openxmlformats.org/drawingml/2006/main" w="0">
              <a:solidFill>
                <a:srgbClr val="0072B2"/>
              </a:solidFill>
              <a:prstDash val="solid"/>
            </a:ln>
          </c:spPr>
          <c:marker>
            <c:symbol val="circle"/>
            <c:size val="7"/>
            <c:spPr>
              <a:solidFill xmlns:a="http://schemas.openxmlformats.org/drawingml/2006/main">
                <a:srgbClr val="0072B2"/>
              </a:solidFill>
            </c:spPr>
          </c:marker>
          <c:xVal>
            <c:numLit>
              <c:formatCode>General</c:formatCode>
              <c:ptCount val="1"/>
              <c:pt idx="0">
                <c:v>0.3268374160918471</c:v>
              </c:pt>
            </c:numLit>
          </c:xVal>
          <c:yVal>
            <c:numLit>
              <c:formatCode>0</c:formatCode>
              <c:ptCount val="1"/>
              <c:pt idx="0">
                <c:v>73.125</c:v>
              </c:pt>
            </c:numLit>
          </c:yVal>
        </c:ser>
        <c:ser>
          <c:idx val="3"/>
          <c:order val="3"/>
          <c:tx>
            <c:v>R20</c:v>
          </c:tx>
          <c:spPr>
            <a:solidFill xmlns:a="http://schemas.openxmlformats.org/drawingml/2006/main">
              <a:srgbClr val="009E73"/>
            </a:solidFill>
            <a:ln xmlns:a="http://schemas.openxmlformats.org/drawingml/2006/main" w="0">
              <a:solidFill>
                <a:srgbClr val="009E73"/>
              </a:solidFill>
              <a:prstDash val="solid"/>
            </a:ln>
          </c:spPr>
          <c:marker>
            <c:symbol val="circle"/>
            <c:size val="7"/>
            <c:spPr>
              <a:solidFill xmlns:a="http://schemas.openxmlformats.org/drawingml/2006/main">
                <a:srgbClr val="009E73"/>
              </a:solidFill>
            </c:spPr>
          </c:marker>
          <c:xVal>
            <c:numLit>
              <c:formatCode>General</c:formatCode>
              <c:ptCount val="1"/>
              <c:pt idx="0">
                <c:v>0.30801797054041685</c:v>
              </c:pt>
            </c:numLit>
          </c:xVal>
          <c:yVal>
            <c:numLit>
              <c:formatCode>0</c:formatCode>
              <c:ptCount val="1"/>
              <c:pt idx="0">
                <c:v>70</c:v>
              </c:pt>
            </c:numLit>
          </c:yVal>
        </c:ser>
        <c:ser>
          <c:idx val="4"/>
          <c:order val="4"/>
          <c:tx>
            <c:v>Hilbert</c:v>
          </c:tx>
          <c:spPr>
            <a:solidFill xmlns:a="http://schemas.openxmlformats.org/drawingml/2006/main">
              <a:srgbClr val="D55E00"/>
            </a:solidFill>
            <a:ln xmlns:a="http://schemas.openxmlformats.org/drawingml/2006/main" w="0">
              <a:solidFill>
                <a:srgbClr val="D55E00"/>
              </a:solidFill>
              <a:prstDash val="solid"/>
            </a:ln>
          </c:spPr>
          <c:marker>
            <c:symbol val="circle"/>
            <c:size val="7"/>
            <c:spPr>
              <a:solidFill xmlns:a="http://schemas.openxmlformats.org/drawingml/2006/main">
                <a:srgbClr val="D55E00"/>
              </a:solidFill>
            </c:spPr>
          </c:marker>
          <c:xVal>
            <c:numLit>
              <c:formatCode>General</c:formatCode>
              <c:ptCount val="1"/>
              <c:pt idx="0">
                <c:v>0.32573582341751056</c:v>
              </c:pt>
            </c:numLit>
          </c:xVal>
          <c:yVal>
            <c:numLit>
              <c:formatCode>0</c:formatCode>
              <c:ptCount val="1"/>
              <c:pt idx="0">
                <c:v>72.60416666666667</c:v>
              </c:pt>
            </c:numLit>
          </c:yVal>
        </c:ser>
        <c:ser>
          <c:idx val="5"/>
          <c:order val="5"/>
          <c:tx>
            <c:v>Morton</c:v>
          </c:tx>
          <c:spPr>
            <a:solidFill xmlns:a="http://schemas.openxmlformats.org/drawingml/2006/main">
              <a:srgbClr val="CC79A7"/>
            </a:solidFill>
            <a:ln xmlns:a="http://schemas.openxmlformats.org/drawingml/2006/main" w="0">
              <a:solidFill>
                <a:srgbClr val="CC79A7"/>
              </a:solidFill>
              <a:prstDash val="solid"/>
            </a:ln>
          </c:spPr>
          <c:marker>
            <c:symbol val="circle"/>
            <c:size val="7"/>
            <c:spPr>
              <a:solidFill xmlns:a="http://schemas.openxmlformats.org/drawingml/2006/main">
                <a:srgbClr val="CC79A7"/>
              </a:solidFill>
            </c:spPr>
          </c:marker>
          <c:xVal>
            <c:numLit>
              <c:formatCode>General</c:formatCode>
              <c:ptCount val="1"/>
              <c:pt idx="0">
                <c:v>0.3517091921655705</c:v>
              </c:pt>
            </c:numLit>
          </c:xVal>
          <c:yVal>
            <c:numLit>
              <c:formatCode>0</c:formatCode>
              <c:ptCount val="1"/>
              <c:pt idx="0">
                <c:v>67.86931818181817</c:v>
              </c:pt>
            </c:numLit>
          </c:yVal>
        </c:ser>
        <c:dLbls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>
                  <a:latin typeface="Arial"/>
                  <a:ea typeface="Arial"/>
                  <a:cs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axId val="48650112"/>
        <c:axId val="48672768"/>
      </c:scatterChart>
      <c:valAx>
        <c:axId val="48672768"/>
        <c:scaling>
          <c:orientation val="minMax"/>
          <c:max val="100"/>
          <c:min val="0"/>
        </c:scaling>
        <c:delete val="0"/>
        <c:axPos val="l"/>
        <c:majorGridlines>
          <c:spPr>
            <a:ln xmlns:a="http://schemas.openxmlformats.org/drawingml/2006/main" w="5715">
              <a:solidFill>
                <a:srgbClr val="D9DFE3"/>
              </a:solidFill>
              <a:prstDash val="solid"/>
            </a:ln>
          </c:spPr>
        </c:majorGridlines>
        <c:title>
          <c:tx>
            <c:rich>
              <a:bodyPr xmlns:a="http://schemas.openxmlformats.org/drawingml/2006/main"/>
              <a:lstStyle xmlns:a="http://schemas.openxmlformats.org/drawingml/2006/main"/>
              <a:p xmlns:a="http://schemas.openxmlformats.org/drawingml/2006/main">
                <a:r>
                  <a:rPr sz="1200">
                    <a:solidFill>
                      <a:srgbClr val="263238"/>
                    </a:solidFill>
                    <a:latin typeface="Arial"/>
                    <a:ea typeface="Arial"/>
                    <a:cs typeface="Arial"/>
                  </a:rPr>
                  <a:t>NN preservation (%)</a:t>
                </a:r>
              </a:p>
            </c:rich>
          </c:tx>
          <c:overlay val="0"/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1200">
                  <a:solidFill>
                    <a:srgbClr val="263238"/>
                  </a:solidFill>
                  <a:latin typeface="Arial"/>
                  <a:ea typeface="Arial"/>
                  <a:cs typeface="Arial"/>
                </a:defRPr>
              </a:pPr>
            </a:p>
          </c:txPr>
        </c:title>
        <c:numFmt formatCode="0"/>
        <c:majorTickMark val="none"/>
        <c:minorTickMark val="none"/>
        <c:spPr>
          <a:ln xmlns:a="http://schemas.openxmlformats.org/drawingml/2006/main" w="7620">
            <a:solidFill>
              <a:srgbClr val="263238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125">
                <a:solidFill>
                  <a:srgbClr val="263238"/>
                </a:solidFill>
                <a:latin typeface="Arial"/>
                <a:ea typeface="Arial"/>
                <a:cs typeface="Arial"/>
              </a:defRPr>
            </a:pPr>
          </a:p>
        </c:txPr>
        <c:crossAx val="48650112"/>
        <c:majorUnit val="20"/>
      </c:valAx>
      <c:valAx>
        <c:axId val="48650112"/>
        <c:scaling>
          <c:orientation val="minMax"/>
          <c:max val="1.2"/>
          <c:min val="0"/>
        </c:scaling>
        <c:delete val="0"/>
        <c:axPos val="b"/>
        <c:majorGridlines>
          <c:spPr>
            <a:ln xmlns:a="http://schemas.openxmlformats.org/drawingml/2006/main" w="5715">
              <a:solidFill>
                <a:srgbClr val="D9DFE3"/>
              </a:solidFill>
              <a:prstDash val="solid"/>
            </a:ln>
          </c:spPr>
        </c:majorGridlines>
        <c:title>
          <c:tx>
            <c:rich>
              <a:bodyPr xmlns:a="http://schemas.openxmlformats.org/drawingml/2006/main"/>
              <a:lstStyle xmlns:a="http://schemas.openxmlformats.org/drawingml/2006/main"/>
              <a:p xmlns:a="http://schemas.openxmlformats.org/drawingml/2006/main">
                <a:r>
                  <a:rPr sz="1200">
                    <a:solidFill>
                      <a:srgbClr val="263238"/>
                    </a:solidFill>
                    <a:latin typeface="Arial"/>
                    <a:ea typeface="Arial"/>
                    <a:cs typeface="Arial"/>
                  </a:rPr>
                  <a:t>Kruskal stress-1</a:t>
                </a:r>
              </a:p>
            </c:rich>
          </c:tx>
          <c:overlay val="0"/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1200">
                  <a:solidFill>
                    <a:srgbClr val="263238"/>
                  </a:solidFill>
                  <a:latin typeface="Arial"/>
                  <a:ea typeface="Arial"/>
                  <a:cs typeface="Arial"/>
                </a:defRPr>
              </a:pPr>
            </a:p>
          </c:txPr>
        </c:title>
        <c:numFmt formatCode="0.0"/>
        <c:majorTickMark val="none"/>
        <c:minorTickMark val="none"/>
        <c:spPr>
          <a:ln xmlns:a="http://schemas.openxmlformats.org/drawingml/2006/main" w="7620">
            <a:solidFill>
              <a:srgbClr val="263238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125">
                <a:solidFill>
                  <a:srgbClr val="263238"/>
                </a:solidFill>
                <a:latin typeface="Arial"/>
                <a:ea typeface="Arial"/>
                <a:cs typeface="Arial"/>
              </a:defRPr>
            </a:pPr>
          </a:p>
        </c:txPr>
        <c:crossAx val="48672768"/>
        <c:majorUnit val="0.4"/>
      </c:valAx>
      <c:spPr>
        <a:solidFill xmlns:a="http://schemas.openxmlformats.org/drawingml/2006/main">
          <a:srgbClr val="FFFFFF"/>
        </a:solidFill>
        <a:ln xmlns:a="http://schemas.openxmlformats.org/drawingml/2006/main" w="0">
          <a:noFill/>
          <a:prstDash val="solid"/>
        </a:ln>
      </c:spPr>
    </c:plotArea>
    <c:plotVisOnly val="1"/>
  </c:chart>
  <c:spPr>
    <a:solidFill xmlns:a="http://schemas.openxmlformats.org/drawingml/2006/main">
      <a:srgbClr val="FFFFFF"/>
    </a:solidFill>
    <a:ln xmlns:a="http://schemas.openxmlformats.org/drawingml/2006/main" w="0">
      <a:noFill/>
      <a:prstDash val="solid"/>
    </a:ln>
  </c:spPr>
</c:chartSpace>
</file>

<file path=ppt/slides/charts/chart2.xml><?xml version="1.0" encoding="utf-8"?>
<c:chartSpace xmlns:c="http://schemas.openxmlformats.org/drawingml/2006/chart">
  <c:lang val="en-US"/>
  <c:chart>
    <c:plotArea>
      <c:scatterChart>
        <c:scatterStyle val="marker"/>
        <c:varyColors val="0"/>
        <c:ser>
          <c:idx val="0"/>
          <c:order val="0"/>
          <c:tx>
            <c:v>TMTM</c:v>
          </c:tx>
          <c:spPr>
            <a:solidFill xmlns:a="http://schemas.openxmlformats.org/drawingml/2006/main">
              <a:srgbClr val="777777"/>
            </a:solidFill>
            <a:ln xmlns:a="http://schemas.openxmlformats.org/drawingml/2006/main" w="0">
              <a:solidFill>
                <a:srgbClr val="777777"/>
              </a:solidFill>
              <a:prstDash val="solid"/>
            </a:ln>
          </c:spPr>
          <c:marker>
            <c:symbol val="circle"/>
            <c:size val="7"/>
            <c:spPr>
              <a:solidFill xmlns:a="http://schemas.openxmlformats.org/drawingml/2006/main">
                <a:srgbClr val="777777"/>
              </a:solidFill>
            </c:spPr>
          </c:marker>
          <c:xVal>
            <c:numLit>
              <c:formatCode>General</c:formatCode>
              <c:ptCount val="1"/>
              <c:pt idx="0">
                <c:v>0.45823124213906896</c:v>
              </c:pt>
            </c:numLit>
          </c:xVal>
          <c:yVal>
            <c:numLit>
              <c:formatCode>0</c:formatCode>
              <c:ptCount val="1"/>
              <c:pt idx="0">
                <c:v>63.92099567099567</c:v>
              </c:pt>
            </c:numLit>
          </c:yVal>
        </c:ser>
        <c:ser>
          <c:idx val="1"/>
          <c:order val="1"/>
          <c:tx>
            <c:v>ST-MTM</c:v>
          </c:tx>
          <c:spPr>
            <a:solidFill xmlns:a="http://schemas.openxmlformats.org/drawingml/2006/main">
              <a:srgbClr val="56B4E9"/>
            </a:solidFill>
            <a:ln xmlns:a="http://schemas.openxmlformats.org/drawingml/2006/main" w="0">
              <a:solidFill>
                <a:srgbClr val="56B4E9"/>
              </a:solidFill>
              <a:prstDash val="solid"/>
            </a:ln>
          </c:spPr>
          <c:marker>
            <c:symbol val="circle"/>
            <c:size val="7"/>
            <c:spPr>
              <a:solidFill xmlns:a="http://schemas.openxmlformats.org/drawingml/2006/main">
                <a:srgbClr val="56B4E9"/>
              </a:solidFill>
            </c:spPr>
          </c:marker>
          <c:xVal>
            <c:numLit>
              <c:formatCode>General</c:formatCode>
              <c:ptCount val="1"/>
              <c:pt idx="0">
                <c:v>0.25625718820410853</c:v>
              </c:pt>
            </c:numLit>
          </c:xVal>
          <c:yVal>
            <c:numLit>
              <c:formatCode>0</c:formatCode>
              <c:ptCount val="1"/>
              <c:pt idx="0">
                <c:v>75.33513708513709</c:v>
              </c:pt>
            </c:numLit>
          </c:yVal>
        </c:ser>
        <c:ser>
          <c:idx val="2"/>
          <c:order val="2"/>
          <c:tx>
            <c:v>P</c:v>
          </c:tx>
          <c:spPr>
            <a:solidFill xmlns:a="http://schemas.openxmlformats.org/drawingml/2006/main">
              <a:srgbClr val="0072B2"/>
            </a:solidFill>
            <a:ln xmlns:a="http://schemas.openxmlformats.org/drawingml/2006/main" w="0">
              <a:solidFill>
                <a:srgbClr val="0072B2"/>
              </a:solidFill>
              <a:prstDash val="solid"/>
            </a:ln>
          </c:spPr>
          <c:marker>
            <c:symbol val="circle"/>
            <c:size val="7"/>
            <c:spPr>
              <a:solidFill xmlns:a="http://schemas.openxmlformats.org/drawingml/2006/main">
                <a:srgbClr val="0072B2"/>
              </a:solidFill>
            </c:spPr>
          </c:marker>
          <c:xVal>
            <c:numLit>
              <c:formatCode>General</c:formatCode>
              <c:ptCount val="1"/>
              <c:pt idx="0">
                <c:v>0.26072510050305914</c:v>
              </c:pt>
            </c:numLit>
          </c:xVal>
          <c:yVal>
            <c:numLit>
              <c:formatCode>0</c:formatCode>
              <c:ptCount val="1"/>
              <c:pt idx="0">
                <c:v>65.80940355940358</c:v>
              </c:pt>
            </c:numLit>
          </c:yVal>
        </c:ser>
        <c:ser>
          <c:idx val="3"/>
          <c:order val="3"/>
          <c:tx>
            <c:v>R20</c:v>
          </c:tx>
          <c:spPr>
            <a:solidFill xmlns:a="http://schemas.openxmlformats.org/drawingml/2006/main">
              <a:srgbClr val="009E73"/>
            </a:solidFill>
            <a:ln xmlns:a="http://schemas.openxmlformats.org/drawingml/2006/main" w="0">
              <a:solidFill>
                <a:srgbClr val="009E73"/>
              </a:solidFill>
              <a:prstDash val="solid"/>
            </a:ln>
          </c:spPr>
          <c:marker>
            <c:symbol val="circle"/>
            <c:size val="7"/>
            <c:spPr>
              <a:solidFill xmlns:a="http://schemas.openxmlformats.org/drawingml/2006/main">
                <a:srgbClr val="009E73"/>
              </a:solidFill>
            </c:spPr>
          </c:marker>
          <c:xVal>
            <c:numLit>
              <c:formatCode>General</c:formatCode>
              <c:ptCount val="1"/>
              <c:pt idx="0">
                <c:v>0.22093978168647171</c:v>
              </c:pt>
            </c:numLit>
          </c:xVal>
          <c:yVal>
            <c:numLit>
              <c:formatCode>0</c:formatCode>
              <c:ptCount val="1"/>
              <c:pt idx="0">
                <c:v>62.98015873015874</c:v>
              </c:pt>
            </c:numLit>
          </c:yVal>
        </c:ser>
        <c:ser>
          <c:idx val="4"/>
          <c:order val="4"/>
          <c:tx>
            <c:v>Hilbert</c:v>
          </c:tx>
          <c:spPr>
            <a:solidFill xmlns:a="http://schemas.openxmlformats.org/drawingml/2006/main">
              <a:srgbClr val="D55E00"/>
            </a:solidFill>
            <a:ln xmlns:a="http://schemas.openxmlformats.org/drawingml/2006/main" w="0">
              <a:solidFill>
                <a:srgbClr val="D55E00"/>
              </a:solidFill>
              <a:prstDash val="solid"/>
            </a:ln>
          </c:spPr>
          <c:marker>
            <c:symbol val="circle"/>
            <c:size val="7"/>
            <c:spPr>
              <a:solidFill xmlns:a="http://schemas.openxmlformats.org/drawingml/2006/main">
                <a:srgbClr val="D55E00"/>
              </a:solidFill>
            </c:spPr>
          </c:marker>
          <c:xVal>
            <c:numLit>
              <c:formatCode>General</c:formatCode>
              <c:ptCount val="1"/>
              <c:pt idx="0">
                <c:v>0.47869737364349096</c:v>
              </c:pt>
            </c:numLit>
          </c:xVal>
          <c:yVal>
            <c:numLit>
              <c:formatCode>0</c:formatCode>
              <c:ptCount val="1"/>
              <c:pt idx="0">
                <c:v>55.872655122655125</c:v>
              </c:pt>
            </c:numLit>
          </c:yVal>
        </c:ser>
        <c:ser>
          <c:idx val="5"/>
          <c:order val="5"/>
          <c:tx>
            <c:v>Morton</c:v>
          </c:tx>
          <c:spPr>
            <a:solidFill xmlns:a="http://schemas.openxmlformats.org/drawingml/2006/main">
              <a:srgbClr val="CC79A7"/>
            </a:solidFill>
            <a:ln xmlns:a="http://schemas.openxmlformats.org/drawingml/2006/main" w="0">
              <a:solidFill>
                <a:srgbClr val="CC79A7"/>
              </a:solidFill>
              <a:prstDash val="solid"/>
            </a:ln>
          </c:spPr>
          <c:marker>
            <c:symbol val="circle"/>
            <c:size val="7"/>
            <c:spPr>
              <a:solidFill xmlns:a="http://schemas.openxmlformats.org/drawingml/2006/main">
                <a:srgbClr val="CC79A7"/>
              </a:solidFill>
            </c:spPr>
          </c:marker>
          <c:xVal>
            <c:numLit>
              <c:formatCode>General</c:formatCode>
              <c:ptCount val="1"/>
              <c:pt idx="0">
                <c:v>0.3080683740407574</c:v>
              </c:pt>
            </c:numLit>
          </c:xVal>
          <c:yVal>
            <c:numLit>
              <c:formatCode>0</c:formatCode>
              <c:ptCount val="1"/>
              <c:pt idx="0">
                <c:v>52.97065897065897</c:v>
              </c:pt>
            </c:numLit>
          </c:yVal>
        </c:ser>
        <c:dLbls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>
                  <a:latin typeface="Arial"/>
                  <a:ea typeface="Arial"/>
                  <a:cs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axId val="48650112"/>
        <c:axId val="48672768"/>
      </c:scatterChart>
      <c:valAx>
        <c:axId val="48672768"/>
        <c:scaling>
          <c:orientation val="minMax"/>
          <c:max val="100"/>
          <c:min val="0"/>
        </c:scaling>
        <c:delete val="0"/>
        <c:axPos val="l"/>
        <c:majorGridlines>
          <c:spPr>
            <a:ln xmlns:a="http://schemas.openxmlformats.org/drawingml/2006/main" w="5715">
              <a:solidFill>
                <a:srgbClr val="D9DFE3"/>
              </a:solidFill>
              <a:prstDash val="solid"/>
            </a:ln>
          </c:spPr>
        </c:majorGridlines>
        <c:title>
          <c:tx>
            <c:rich>
              <a:bodyPr xmlns:a="http://schemas.openxmlformats.org/drawingml/2006/main"/>
              <a:lstStyle xmlns:a="http://schemas.openxmlformats.org/drawingml/2006/main"/>
              <a:p xmlns:a="http://schemas.openxmlformats.org/drawingml/2006/main">
                <a:r>
                  <a:rPr sz="1200">
                    <a:solidFill>
                      <a:srgbClr val="263238"/>
                    </a:solidFill>
                    <a:latin typeface="Arial"/>
                    <a:ea typeface="Arial"/>
                    <a:cs typeface="Arial"/>
                  </a:rPr>
                  <a:t>NN preservation (%)</a:t>
                </a:r>
              </a:p>
            </c:rich>
          </c:tx>
          <c:overlay val="0"/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1200">
                  <a:solidFill>
                    <a:srgbClr val="263238"/>
                  </a:solidFill>
                  <a:latin typeface="Arial"/>
                  <a:ea typeface="Arial"/>
                  <a:cs typeface="Arial"/>
                </a:defRPr>
              </a:pPr>
            </a:p>
          </c:txPr>
        </c:title>
        <c:numFmt formatCode="0"/>
        <c:majorTickMark val="none"/>
        <c:minorTickMark val="none"/>
        <c:spPr>
          <a:ln xmlns:a="http://schemas.openxmlformats.org/drawingml/2006/main" w="7620">
            <a:solidFill>
              <a:srgbClr val="263238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125">
                <a:solidFill>
                  <a:srgbClr val="263238"/>
                </a:solidFill>
                <a:latin typeface="Arial"/>
                <a:ea typeface="Arial"/>
                <a:cs typeface="Arial"/>
              </a:defRPr>
            </a:pPr>
          </a:p>
        </c:txPr>
        <c:crossAx val="48650112"/>
        <c:majorUnit val="20"/>
      </c:valAx>
      <c:valAx>
        <c:axId val="48650112"/>
        <c:scaling>
          <c:orientation val="minMax"/>
          <c:max val="1.2"/>
          <c:min val="0"/>
        </c:scaling>
        <c:delete val="0"/>
        <c:axPos val="b"/>
        <c:majorGridlines>
          <c:spPr>
            <a:ln xmlns:a="http://schemas.openxmlformats.org/drawingml/2006/main" w="5715">
              <a:solidFill>
                <a:srgbClr val="D9DFE3"/>
              </a:solidFill>
              <a:prstDash val="solid"/>
            </a:ln>
          </c:spPr>
        </c:majorGridlines>
        <c:title>
          <c:tx>
            <c:rich>
              <a:bodyPr xmlns:a="http://schemas.openxmlformats.org/drawingml/2006/main"/>
              <a:lstStyle xmlns:a="http://schemas.openxmlformats.org/drawingml/2006/main"/>
              <a:p xmlns:a="http://schemas.openxmlformats.org/drawingml/2006/main">
                <a:r>
                  <a:rPr sz="1200">
                    <a:solidFill>
                      <a:srgbClr val="263238"/>
                    </a:solidFill>
                    <a:latin typeface="Arial"/>
                    <a:ea typeface="Arial"/>
                    <a:cs typeface="Arial"/>
                  </a:rPr>
                  <a:t>Kruskal stress-1</a:t>
                </a:r>
              </a:p>
            </c:rich>
          </c:tx>
          <c:overlay val="0"/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1200">
                  <a:solidFill>
                    <a:srgbClr val="263238"/>
                  </a:solidFill>
                  <a:latin typeface="Arial"/>
                  <a:ea typeface="Arial"/>
                  <a:cs typeface="Arial"/>
                </a:defRPr>
              </a:pPr>
            </a:p>
          </c:txPr>
        </c:title>
        <c:numFmt formatCode="0.0"/>
        <c:majorTickMark val="none"/>
        <c:minorTickMark val="none"/>
        <c:spPr>
          <a:ln xmlns:a="http://schemas.openxmlformats.org/drawingml/2006/main" w="7620">
            <a:solidFill>
              <a:srgbClr val="263238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125">
                <a:solidFill>
                  <a:srgbClr val="263238"/>
                </a:solidFill>
                <a:latin typeface="Arial"/>
                <a:ea typeface="Arial"/>
                <a:cs typeface="Arial"/>
              </a:defRPr>
            </a:pPr>
          </a:p>
        </c:txPr>
        <c:crossAx val="48672768"/>
        <c:majorUnit val="0.4"/>
      </c:valAx>
      <c:spPr>
        <a:solidFill xmlns:a="http://schemas.openxmlformats.org/drawingml/2006/main">
          <a:srgbClr val="FFFFFF"/>
        </a:solidFill>
        <a:ln xmlns:a="http://schemas.openxmlformats.org/drawingml/2006/main" w="0">
          <a:noFill/>
          <a:prstDash val="solid"/>
        </a:ln>
      </c:spPr>
    </c:plotArea>
    <c:plotVisOnly val="1"/>
  </c:chart>
  <c:spPr>
    <a:solidFill xmlns:a="http://schemas.openxmlformats.org/drawingml/2006/main">
      <a:srgbClr val="FFFFFF"/>
    </a:solidFill>
    <a:ln xmlns:a="http://schemas.openxmlformats.org/drawingml/2006/main" w="0">
      <a:noFill/>
      <a:prstDash val="solid"/>
    </a:ln>
  </c:spPr>
</c:chartSpace>
</file>

<file path=ppt/slides/charts/chart3.xml><?xml version="1.0" encoding="utf-8"?>
<c:chartSpace xmlns:c="http://schemas.openxmlformats.org/drawingml/2006/chart">
  <c:lang val="en-US"/>
  <c:chart>
    <c:plotArea>
      <c:scatterChart>
        <c:scatterStyle val="marker"/>
        <c:varyColors val="0"/>
        <c:ser>
          <c:idx val="0"/>
          <c:order val="0"/>
          <c:tx>
            <c:v>TMTM</c:v>
          </c:tx>
          <c:spPr>
            <a:solidFill xmlns:a="http://schemas.openxmlformats.org/drawingml/2006/main">
              <a:srgbClr val="777777"/>
            </a:solidFill>
            <a:ln xmlns:a="http://schemas.openxmlformats.org/drawingml/2006/main" w="0">
              <a:solidFill>
                <a:srgbClr val="777777"/>
              </a:solidFill>
              <a:prstDash val="solid"/>
            </a:ln>
          </c:spPr>
          <c:marker>
            <c:symbol val="circle"/>
            <c:size val="7"/>
            <c:spPr>
              <a:solidFill xmlns:a="http://schemas.openxmlformats.org/drawingml/2006/main">
                <a:srgbClr val="777777"/>
              </a:solidFill>
            </c:spPr>
          </c:marker>
          <c:xVal>
            <c:numLit>
              <c:formatCode>General</c:formatCode>
              <c:ptCount val="1"/>
              <c:pt idx="0">
                <c:v>0.3788396118656661</c:v>
              </c:pt>
            </c:numLit>
          </c:xVal>
          <c:yVal>
            <c:numLit>
              <c:formatCode>0</c:formatCode>
              <c:ptCount val="1"/>
              <c:pt idx="0">
                <c:v>70.82875457875457</c:v>
              </c:pt>
            </c:numLit>
          </c:yVal>
        </c:ser>
        <c:ser>
          <c:idx val="1"/>
          <c:order val="1"/>
          <c:tx>
            <c:v>ST-MTM</c:v>
          </c:tx>
          <c:spPr>
            <a:solidFill xmlns:a="http://schemas.openxmlformats.org/drawingml/2006/main">
              <a:srgbClr val="56B4E9"/>
            </a:solidFill>
            <a:ln xmlns:a="http://schemas.openxmlformats.org/drawingml/2006/main" w="0">
              <a:solidFill>
                <a:srgbClr val="56B4E9"/>
              </a:solidFill>
              <a:prstDash val="solid"/>
            </a:ln>
          </c:spPr>
          <c:marker>
            <c:symbol val="circle"/>
            <c:size val="7"/>
            <c:spPr>
              <a:solidFill xmlns:a="http://schemas.openxmlformats.org/drawingml/2006/main">
                <a:srgbClr val="56B4E9"/>
              </a:solidFill>
            </c:spPr>
          </c:marker>
          <c:xVal>
            <c:numLit>
              <c:formatCode>General</c:formatCode>
              <c:ptCount val="1"/>
              <c:pt idx="0">
                <c:v>0.09743810680155364</c:v>
              </c:pt>
            </c:numLit>
          </c:xVal>
          <c:yVal>
            <c:numLit>
              <c:formatCode>0</c:formatCode>
              <c:ptCount val="1"/>
              <c:pt idx="0">
                <c:v>91.34615384615384</c:v>
              </c:pt>
            </c:numLit>
          </c:yVal>
        </c:ser>
        <c:ser>
          <c:idx val="2"/>
          <c:order val="2"/>
          <c:tx>
            <c:v>P</c:v>
          </c:tx>
          <c:spPr>
            <a:solidFill xmlns:a="http://schemas.openxmlformats.org/drawingml/2006/main">
              <a:srgbClr val="0072B2"/>
            </a:solidFill>
            <a:ln xmlns:a="http://schemas.openxmlformats.org/drawingml/2006/main" w="0">
              <a:solidFill>
                <a:srgbClr val="0072B2"/>
              </a:solidFill>
              <a:prstDash val="solid"/>
            </a:ln>
          </c:spPr>
          <c:marker>
            <c:symbol val="circle"/>
            <c:size val="7"/>
            <c:spPr>
              <a:solidFill xmlns:a="http://schemas.openxmlformats.org/drawingml/2006/main">
                <a:srgbClr val="0072B2"/>
              </a:solidFill>
            </c:spPr>
          </c:marker>
          <c:xVal>
            <c:numLit>
              <c:formatCode>General</c:formatCode>
              <c:ptCount val="1"/>
              <c:pt idx="0">
                <c:v>0.08410007499206959</c:v>
              </c:pt>
            </c:numLit>
          </c:xVal>
          <c:yVal>
            <c:numLit>
              <c:formatCode>0</c:formatCode>
              <c:ptCount val="1"/>
              <c:pt idx="0">
                <c:v>91.22710622710622</c:v>
              </c:pt>
            </c:numLit>
          </c:yVal>
        </c:ser>
        <c:ser>
          <c:idx val="3"/>
          <c:order val="3"/>
          <c:tx>
            <c:v>R20</c:v>
          </c:tx>
          <c:spPr>
            <a:solidFill xmlns:a="http://schemas.openxmlformats.org/drawingml/2006/main">
              <a:srgbClr val="009E73"/>
            </a:solidFill>
            <a:ln xmlns:a="http://schemas.openxmlformats.org/drawingml/2006/main" w="0">
              <a:solidFill>
                <a:srgbClr val="009E73"/>
              </a:solidFill>
              <a:prstDash val="solid"/>
            </a:ln>
          </c:spPr>
          <c:marker>
            <c:symbol val="circle"/>
            <c:size val="7"/>
            <c:spPr>
              <a:solidFill xmlns:a="http://schemas.openxmlformats.org/drawingml/2006/main">
                <a:srgbClr val="009E73"/>
              </a:solidFill>
            </c:spPr>
          </c:marker>
          <c:xVal>
            <c:numLit>
              <c:formatCode>General</c:formatCode>
              <c:ptCount val="1"/>
              <c:pt idx="0">
                <c:v>0.07412932700584916</c:v>
              </c:pt>
            </c:numLit>
          </c:xVal>
          <c:yVal>
            <c:numLit>
              <c:formatCode>0</c:formatCode>
              <c:ptCount val="1"/>
              <c:pt idx="0">
                <c:v>91.48351648351648</c:v>
              </c:pt>
            </c:numLit>
          </c:yVal>
        </c:ser>
        <c:ser>
          <c:idx val="4"/>
          <c:order val="4"/>
          <c:tx>
            <c:v>Hilbert</c:v>
          </c:tx>
          <c:spPr>
            <a:solidFill xmlns:a="http://schemas.openxmlformats.org/drawingml/2006/main">
              <a:srgbClr val="D55E00"/>
            </a:solidFill>
            <a:ln xmlns:a="http://schemas.openxmlformats.org/drawingml/2006/main" w="0">
              <a:solidFill>
                <a:srgbClr val="D55E00"/>
              </a:solidFill>
              <a:prstDash val="solid"/>
            </a:ln>
          </c:spPr>
          <c:marker>
            <c:symbol val="circle"/>
            <c:size val="7"/>
            <c:spPr>
              <a:solidFill xmlns:a="http://schemas.openxmlformats.org/drawingml/2006/main">
                <a:srgbClr val="D55E00"/>
              </a:solidFill>
            </c:spPr>
          </c:marker>
          <c:xVal>
            <c:numLit>
              <c:formatCode>General</c:formatCode>
              <c:ptCount val="1"/>
              <c:pt idx="0">
                <c:v>0.3578872306420107</c:v>
              </c:pt>
            </c:numLit>
          </c:xVal>
          <c:yVal>
            <c:numLit>
              <c:formatCode>0</c:formatCode>
              <c:ptCount val="1"/>
              <c:pt idx="0">
                <c:v>69.13003663003661</c:v>
              </c:pt>
            </c:numLit>
          </c:yVal>
        </c:ser>
        <c:ser>
          <c:idx val="5"/>
          <c:order val="5"/>
          <c:tx>
            <c:v>Morton</c:v>
          </c:tx>
          <c:spPr>
            <a:solidFill xmlns:a="http://schemas.openxmlformats.org/drawingml/2006/main">
              <a:srgbClr val="CC79A7"/>
            </a:solidFill>
            <a:ln xmlns:a="http://schemas.openxmlformats.org/drawingml/2006/main" w="0">
              <a:solidFill>
                <a:srgbClr val="CC79A7"/>
              </a:solidFill>
              <a:prstDash val="solid"/>
            </a:ln>
          </c:spPr>
          <c:marker>
            <c:symbol val="circle"/>
            <c:size val="7"/>
            <c:spPr>
              <a:solidFill xmlns:a="http://schemas.openxmlformats.org/drawingml/2006/main">
                <a:srgbClr val="CC79A7"/>
              </a:solidFill>
            </c:spPr>
          </c:marker>
          <c:xVal>
            <c:numLit>
              <c:formatCode>General</c:formatCode>
              <c:ptCount val="1"/>
              <c:pt idx="0">
                <c:v>0.5280322906497287</c:v>
              </c:pt>
            </c:numLit>
          </c:xVal>
          <c:yVal>
            <c:numLit>
              <c:formatCode>0</c:formatCode>
              <c:ptCount val="1"/>
              <c:pt idx="0">
                <c:v>50.755494505494504</c:v>
              </c:pt>
            </c:numLit>
          </c:yVal>
        </c:ser>
        <c:dLbls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>
                  <a:latin typeface="Arial"/>
                  <a:ea typeface="Arial"/>
                  <a:cs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axId val="48650112"/>
        <c:axId val="48672768"/>
      </c:scatterChart>
      <c:valAx>
        <c:axId val="48672768"/>
        <c:scaling>
          <c:orientation val="minMax"/>
          <c:max val="100"/>
          <c:min val="0"/>
        </c:scaling>
        <c:delete val="0"/>
        <c:axPos val="l"/>
        <c:majorGridlines>
          <c:spPr>
            <a:ln xmlns:a="http://schemas.openxmlformats.org/drawingml/2006/main" w="5715">
              <a:solidFill>
                <a:srgbClr val="D9DFE3"/>
              </a:solidFill>
              <a:prstDash val="solid"/>
            </a:ln>
          </c:spPr>
        </c:majorGridlines>
        <c:title>
          <c:tx>
            <c:rich>
              <a:bodyPr xmlns:a="http://schemas.openxmlformats.org/drawingml/2006/main"/>
              <a:lstStyle xmlns:a="http://schemas.openxmlformats.org/drawingml/2006/main"/>
              <a:p xmlns:a="http://schemas.openxmlformats.org/drawingml/2006/main">
                <a:r>
                  <a:rPr sz="1200">
                    <a:solidFill>
                      <a:srgbClr val="263238"/>
                    </a:solidFill>
                    <a:latin typeface="Arial"/>
                    <a:ea typeface="Arial"/>
                    <a:cs typeface="Arial"/>
                  </a:rPr>
                  <a:t>NN preservation (%)</a:t>
                </a:r>
              </a:p>
            </c:rich>
          </c:tx>
          <c:overlay val="0"/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1200">
                  <a:solidFill>
                    <a:srgbClr val="263238"/>
                  </a:solidFill>
                  <a:latin typeface="Arial"/>
                  <a:ea typeface="Arial"/>
                  <a:cs typeface="Arial"/>
                </a:defRPr>
              </a:pPr>
            </a:p>
          </c:txPr>
        </c:title>
        <c:numFmt formatCode="0"/>
        <c:majorTickMark val="none"/>
        <c:minorTickMark val="none"/>
        <c:spPr>
          <a:ln xmlns:a="http://schemas.openxmlformats.org/drawingml/2006/main" w="7620">
            <a:solidFill>
              <a:srgbClr val="263238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125">
                <a:solidFill>
                  <a:srgbClr val="263238"/>
                </a:solidFill>
                <a:latin typeface="Arial"/>
                <a:ea typeface="Arial"/>
                <a:cs typeface="Arial"/>
              </a:defRPr>
            </a:pPr>
          </a:p>
        </c:txPr>
        <c:crossAx val="48650112"/>
        <c:majorUnit val="20"/>
      </c:valAx>
      <c:valAx>
        <c:axId val="48650112"/>
        <c:scaling>
          <c:orientation val="minMax"/>
          <c:max val="1.2"/>
          <c:min val="0"/>
        </c:scaling>
        <c:delete val="0"/>
        <c:axPos val="b"/>
        <c:majorGridlines>
          <c:spPr>
            <a:ln xmlns:a="http://schemas.openxmlformats.org/drawingml/2006/main" w="5715">
              <a:solidFill>
                <a:srgbClr val="D9DFE3"/>
              </a:solidFill>
              <a:prstDash val="solid"/>
            </a:ln>
          </c:spPr>
        </c:majorGridlines>
        <c:title>
          <c:tx>
            <c:rich>
              <a:bodyPr xmlns:a="http://schemas.openxmlformats.org/drawingml/2006/main"/>
              <a:lstStyle xmlns:a="http://schemas.openxmlformats.org/drawingml/2006/main"/>
              <a:p xmlns:a="http://schemas.openxmlformats.org/drawingml/2006/main">
                <a:r>
                  <a:rPr sz="1200">
                    <a:solidFill>
                      <a:srgbClr val="263238"/>
                    </a:solidFill>
                    <a:latin typeface="Arial"/>
                    <a:ea typeface="Arial"/>
                    <a:cs typeface="Arial"/>
                  </a:rPr>
                  <a:t>Kruskal stress-1</a:t>
                </a:r>
              </a:p>
            </c:rich>
          </c:tx>
          <c:overlay val="0"/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1200">
                  <a:solidFill>
                    <a:srgbClr val="263238"/>
                  </a:solidFill>
                  <a:latin typeface="Arial"/>
                  <a:ea typeface="Arial"/>
                  <a:cs typeface="Arial"/>
                </a:defRPr>
              </a:pPr>
            </a:p>
          </c:txPr>
        </c:title>
        <c:numFmt formatCode="0.0"/>
        <c:majorTickMark val="none"/>
        <c:minorTickMark val="none"/>
        <c:spPr>
          <a:ln xmlns:a="http://schemas.openxmlformats.org/drawingml/2006/main" w="7620">
            <a:solidFill>
              <a:srgbClr val="263238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125">
                <a:solidFill>
                  <a:srgbClr val="263238"/>
                </a:solidFill>
                <a:latin typeface="Arial"/>
                <a:ea typeface="Arial"/>
                <a:cs typeface="Arial"/>
              </a:defRPr>
            </a:pPr>
          </a:p>
        </c:txPr>
        <c:crossAx val="48672768"/>
        <c:majorUnit val="0.4"/>
      </c:valAx>
      <c:spPr>
        <a:solidFill xmlns:a="http://schemas.openxmlformats.org/drawingml/2006/main">
          <a:srgbClr val="FFFFFF"/>
        </a:solidFill>
        <a:ln xmlns:a="http://schemas.openxmlformats.org/drawingml/2006/main" w="0">
          <a:noFill/>
          <a:prstDash val="solid"/>
        </a:ln>
      </c:spPr>
    </c:plotArea>
    <c:plotVisOnly val="1"/>
  </c:chart>
  <c:spPr>
    <a:solidFill xmlns:a="http://schemas.openxmlformats.org/drawingml/2006/main">
      <a:srgbClr val="FFFFFF"/>
    </a:solidFill>
    <a:ln xmlns:a="http://schemas.openxmlformats.org/drawingml/2006/main" w="0">
      <a:noFill/>
      <a:prstDash val="solid"/>
    </a:ln>
  </c:spPr>
</c:chartSpace>
</file>

<file path=ppt/slides/charts/chart4.xml><?xml version="1.0" encoding="utf-8"?>
<c:chartSpace xmlns:c="http://schemas.openxmlformats.org/drawingml/2006/chart">
  <c:lang val="en-US"/>
  <c:chart>
    <c:plotArea>
      <c:scatterChart>
        <c:scatterStyle val="marker"/>
        <c:varyColors val="0"/>
        <c:ser>
          <c:idx val="0"/>
          <c:order val="0"/>
          <c:tx>
            <c:v>TMTM</c:v>
          </c:tx>
          <c:spPr>
            <a:solidFill xmlns:a="http://schemas.openxmlformats.org/drawingml/2006/main">
              <a:srgbClr val="777777"/>
            </a:solidFill>
            <a:ln xmlns:a="http://schemas.openxmlformats.org/drawingml/2006/main" w="0">
              <a:solidFill>
                <a:srgbClr val="777777"/>
              </a:solidFill>
              <a:prstDash val="solid"/>
            </a:ln>
          </c:spPr>
          <c:marker>
            <c:symbol val="circle"/>
            <c:size val="7"/>
            <c:spPr>
              <a:solidFill xmlns:a="http://schemas.openxmlformats.org/drawingml/2006/main">
                <a:srgbClr val="777777"/>
              </a:solidFill>
            </c:spPr>
          </c:marker>
          <c:xVal>
            <c:numLit>
              <c:formatCode>General</c:formatCode>
              <c:ptCount val="1"/>
              <c:pt idx="0">
                <c:v>0.24129982756527782</c:v>
              </c:pt>
            </c:numLit>
          </c:xVal>
          <c:yVal>
            <c:numLit>
              <c:formatCode>0</c:formatCode>
              <c:ptCount val="1"/>
              <c:pt idx="0">
                <c:v>77.08333333333334</c:v>
              </c:pt>
            </c:numLit>
          </c:yVal>
        </c:ser>
        <c:ser>
          <c:idx val="1"/>
          <c:order val="1"/>
          <c:tx>
            <c:v>ST-MTM</c:v>
          </c:tx>
          <c:spPr>
            <a:solidFill xmlns:a="http://schemas.openxmlformats.org/drawingml/2006/main">
              <a:srgbClr val="56B4E9"/>
            </a:solidFill>
            <a:ln xmlns:a="http://schemas.openxmlformats.org/drawingml/2006/main" w="0">
              <a:solidFill>
                <a:srgbClr val="56B4E9"/>
              </a:solidFill>
              <a:prstDash val="solid"/>
            </a:ln>
          </c:spPr>
          <c:marker>
            <c:symbol val="circle"/>
            <c:size val="7"/>
            <c:spPr>
              <a:solidFill xmlns:a="http://schemas.openxmlformats.org/drawingml/2006/main">
                <a:srgbClr val="56B4E9"/>
              </a:solidFill>
            </c:spPr>
          </c:marker>
          <c:xVal>
            <c:numLit>
              <c:formatCode>General</c:formatCode>
              <c:ptCount val="1"/>
              <c:pt idx="0">
                <c:v>0.13721663390891284</c:v>
              </c:pt>
            </c:numLit>
          </c:xVal>
          <c:yVal>
            <c:numLit>
              <c:formatCode>0</c:formatCode>
              <c:ptCount val="1"/>
              <c:pt idx="0">
                <c:v>90.27777777777777</c:v>
              </c:pt>
            </c:numLit>
          </c:yVal>
        </c:ser>
        <c:ser>
          <c:idx val="2"/>
          <c:order val="2"/>
          <c:tx>
            <c:v>P</c:v>
          </c:tx>
          <c:spPr>
            <a:solidFill xmlns:a="http://schemas.openxmlformats.org/drawingml/2006/main">
              <a:srgbClr val="0072B2"/>
            </a:solidFill>
            <a:ln xmlns:a="http://schemas.openxmlformats.org/drawingml/2006/main" w="0">
              <a:solidFill>
                <a:srgbClr val="0072B2"/>
              </a:solidFill>
              <a:prstDash val="solid"/>
            </a:ln>
          </c:spPr>
          <c:marker>
            <c:symbol val="circle"/>
            <c:size val="7"/>
            <c:spPr>
              <a:solidFill xmlns:a="http://schemas.openxmlformats.org/drawingml/2006/main">
                <a:srgbClr val="0072B2"/>
              </a:solidFill>
            </c:spPr>
          </c:marker>
          <c:xVal>
            <c:numLit>
              <c:formatCode>General</c:formatCode>
              <c:ptCount val="1"/>
              <c:pt idx="0">
                <c:v>0.5082287637461403</c:v>
              </c:pt>
            </c:numLit>
          </c:xVal>
          <c:yVal>
            <c:numLit>
              <c:formatCode>0</c:formatCode>
              <c:ptCount val="1"/>
              <c:pt idx="0">
                <c:v>58.75</c:v>
              </c:pt>
            </c:numLit>
          </c:yVal>
        </c:ser>
        <c:ser>
          <c:idx val="3"/>
          <c:order val="3"/>
          <c:tx>
            <c:v>R20</c:v>
          </c:tx>
          <c:spPr>
            <a:solidFill xmlns:a="http://schemas.openxmlformats.org/drawingml/2006/main">
              <a:srgbClr val="009E73"/>
            </a:solidFill>
            <a:ln xmlns:a="http://schemas.openxmlformats.org/drawingml/2006/main" w="0">
              <a:solidFill>
                <a:srgbClr val="009E73"/>
              </a:solidFill>
              <a:prstDash val="solid"/>
            </a:ln>
          </c:spPr>
          <c:marker>
            <c:symbol val="circle"/>
            <c:size val="7"/>
            <c:spPr>
              <a:solidFill xmlns:a="http://schemas.openxmlformats.org/drawingml/2006/main">
                <a:srgbClr val="009E73"/>
              </a:solidFill>
            </c:spPr>
          </c:marker>
          <c:xVal>
            <c:numLit>
              <c:formatCode>General</c:formatCode>
              <c:ptCount val="1"/>
              <c:pt idx="0">
                <c:v>0.443387983878091</c:v>
              </c:pt>
            </c:numLit>
          </c:xVal>
          <c:yVal>
            <c:numLit>
              <c:formatCode>0</c:formatCode>
              <c:ptCount val="1"/>
              <c:pt idx="0">
                <c:v>60.138888888888886</c:v>
              </c:pt>
            </c:numLit>
          </c:yVal>
        </c:ser>
        <c:ser>
          <c:idx val="4"/>
          <c:order val="4"/>
          <c:tx>
            <c:v>Hilbert</c:v>
          </c:tx>
          <c:spPr>
            <a:solidFill xmlns:a="http://schemas.openxmlformats.org/drawingml/2006/main">
              <a:srgbClr val="D55E00"/>
            </a:solidFill>
            <a:ln xmlns:a="http://schemas.openxmlformats.org/drawingml/2006/main" w="0">
              <a:solidFill>
                <a:srgbClr val="D55E00"/>
              </a:solidFill>
              <a:prstDash val="solid"/>
            </a:ln>
          </c:spPr>
          <c:marker>
            <c:symbol val="circle"/>
            <c:size val="7"/>
            <c:spPr>
              <a:solidFill xmlns:a="http://schemas.openxmlformats.org/drawingml/2006/main">
                <a:srgbClr val="D55E00"/>
              </a:solidFill>
            </c:spPr>
          </c:marker>
          <c:xVal>
            <c:numLit>
              <c:formatCode>General</c:formatCode>
              <c:ptCount val="1"/>
              <c:pt idx="0">
                <c:v>0.3472478437144475</c:v>
              </c:pt>
            </c:numLit>
          </c:xVal>
          <c:yVal>
            <c:numLit>
              <c:formatCode>0</c:formatCode>
              <c:ptCount val="1"/>
              <c:pt idx="0">
                <c:v>51.52777777777777</c:v>
              </c:pt>
            </c:numLit>
          </c:yVal>
        </c:ser>
        <c:ser>
          <c:idx val="5"/>
          <c:order val="5"/>
          <c:tx>
            <c:v>Morton</c:v>
          </c:tx>
          <c:spPr>
            <a:solidFill xmlns:a="http://schemas.openxmlformats.org/drawingml/2006/main">
              <a:srgbClr val="CC79A7"/>
            </a:solidFill>
            <a:ln xmlns:a="http://schemas.openxmlformats.org/drawingml/2006/main" w="0">
              <a:solidFill>
                <a:srgbClr val="CC79A7"/>
              </a:solidFill>
              <a:prstDash val="solid"/>
            </a:ln>
          </c:spPr>
          <c:marker>
            <c:symbol val="circle"/>
            <c:size val="7"/>
            <c:spPr>
              <a:solidFill xmlns:a="http://schemas.openxmlformats.org/drawingml/2006/main">
                <a:srgbClr val="CC79A7"/>
              </a:solidFill>
            </c:spPr>
          </c:marker>
          <c:xVal>
            <c:numLit>
              <c:formatCode>General</c:formatCode>
              <c:ptCount val="1"/>
              <c:pt idx="0">
                <c:v>0.4094026484943149</c:v>
              </c:pt>
            </c:numLit>
          </c:xVal>
          <c:yVal>
            <c:numLit>
              <c:formatCode>0</c:formatCode>
              <c:ptCount val="1"/>
              <c:pt idx="0">
                <c:v>46.94444444444445</c:v>
              </c:pt>
            </c:numLit>
          </c:yVal>
        </c:ser>
        <c:dLbls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>
                  <a:latin typeface="Arial"/>
                  <a:ea typeface="Arial"/>
                  <a:cs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axId val="48650112"/>
        <c:axId val="48672768"/>
      </c:scatterChart>
      <c:valAx>
        <c:axId val="48672768"/>
        <c:scaling>
          <c:orientation val="minMax"/>
          <c:max val="100"/>
          <c:min val="0"/>
        </c:scaling>
        <c:delete val="0"/>
        <c:axPos val="l"/>
        <c:majorGridlines>
          <c:spPr>
            <a:ln xmlns:a="http://schemas.openxmlformats.org/drawingml/2006/main" w="5715">
              <a:solidFill>
                <a:srgbClr val="D9DFE3"/>
              </a:solidFill>
              <a:prstDash val="solid"/>
            </a:ln>
          </c:spPr>
        </c:majorGridlines>
        <c:title>
          <c:tx>
            <c:rich>
              <a:bodyPr xmlns:a="http://schemas.openxmlformats.org/drawingml/2006/main"/>
              <a:lstStyle xmlns:a="http://schemas.openxmlformats.org/drawingml/2006/main"/>
              <a:p xmlns:a="http://schemas.openxmlformats.org/drawingml/2006/main">
                <a:r>
                  <a:rPr sz="1200">
                    <a:solidFill>
                      <a:srgbClr val="263238"/>
                    </a:solidFill>
                    <a:latin typeface="Arial"/>
                    <a:ea typeface="Arial"/>
                    <a:cs typeface="Arial"/>
                  </a:rPr>
                  <a:t>NN preservation (%)</a:t>
                </a:r>
              </a:p>
            </c:rich>
          </c:tx>
          <c:overlay val="0"/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1200">
                  <a:solidFill>
                    <a:srgbClr val="263238"/>
                  </a:solidFill>
                  <a:latin typeface="Arial"/>
                  <a:ea typeface="Arial"/>
                  <a:cs typeface="Arial"/>
                </a:defRPr>
              </a:pPr>
            </a:p>
          </c:txPr>
        </c:title>
        <c:numFmt formatCode="0"/>
        <c:majorTickMark val="none"/>
        <c:minorTickMark val="none"/>
        <c:spPr>
          <a:ln xmlns:a="http://schemas.openxmlformats.org/drawingml/2006/main" w="7620">
            <a:solidFill>
              <a:srgbClr val="263238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125">
                <a:solidFill>
                  <a:srgbClr val="263238"/>
                </a:solidFill>
                <a:latin typeface="Arial"/>
                <a:ea typeface="Arial"/>
                <a:cs typeface="Arial"/>
              </a:defRPr>
            </a:pPr>
          </a:p>
        </c:txPr>
        <c:crossAx val="48650112"/>
        <c:majorUnit val="20"/>
      </c:valAx>
      <c:valAx>
        <c:axId val="48650112"/>
        <c:scaling>
          <c:orientation val="minMax"/>
          <c:max val="1.2"/>
          <c:min val="0"/>
        </c:scaling>
        <c:delete val="0"/>
        <c:axPos val="b"/>
        <c:majorGridlines>
          <c:spPr>
            <a:ln xmlns:a="http://schemas.openxmlformats.org/drawingml/2006/main" w="5715">
              <a:solidFill>
                <a:srgbClr val="D9DFE3"/>
              </a:solidFill>
              <a:prstDash val="solid"/>
            </a:ln>
          </c:spPr>
        </c:majorGridlines>
        <c:title>
          <c:tx>
            <c:rich>
              <a:bodyPr xmlns:a="http://schemas.openxmlformats.org/drawingml/2006/main"/>
              <a:lstStyle xmlns:a="http://schemas.openxmlformats.org/drawingml/2006/main"/>
              <a:p xmlns:a="http://schemas.openxmlformats.org/drawingml/2006/main">
                <a:r>
                  <a:rPr sz="1200">
                    <a:solidFill>
                      <a:srgbClr val="263238"/>
                    </a:solidFill>
                    <a:latin typeface="Arial"/>
                    <a:ea typeface="Arial"/>
                    <a:cs typeface="Arial"/>
                  </a:rPr>
                  <a:t>Kruskal stress-1</a:t>
                </a:r>
              </a:p>
            </c:rich>
          </c:tx>
          <c:overlay val="0"/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1200">
                  <a:solidFill>
                    <a:srgbClr val="263238"/>
                  </a:solidFill>
                  <a:latin typeface="Arial"/>
                  <a:ea typeface="Arial"/>
                  <a:cs typeface="Arial"/>
                </a:defRPr>
              </a:pPr>
            </a:p>
          </c:txPr>
        </c:title>
        <c:numFmt formatCode="0.0"/>
        <c:majorTickMark val="none"/>
        <c:minorTickMark val="none"/>
        <c:spPr>
          <a:ln xmlns:a="http://schemas.openxmlformats.org/drawingml/2006/main" w="7620">
            <a:solidFill>
              <a:srgbClr val="263238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125">
                <a:solidFill>
                  <a:srgbClr val="263238"/>
                </a:solidFill>
                <a:latin typeface="Arial"/>
                <a:ea typeface="Arial"/>
                <a:cs typeface="Arial"/>
              </a:defRPr>
            </a:pPr>
          </a:p>
        </c:txPr>
        <c:crossAx val="48672768"/>
        <c:majorUnit val="0.4"/>
      </c:valAx>
      <c:spPr>
        <a:solidFill xmlns:a="http://schemas.openxmlformats.org/drawingml/2006/main">
          <a:srgbClr val="FFFFFF"/>
        </a:solidFill>
        <a:ln xmlns:a="http://schemas.openxmlformats.org/drawingml/2006/main" w="0">
          <a:noFill/>
          <a:prstDash val="solid"/>
        </a:ln>
      </c:spPr>
    </c:plotArea>
    <c:plotVisOnly val="1"/>
  </c:chart>
  <c:spPr>
    <a:solidFill xmlns:a="http://schemas.openxmlformats.org/drawingml/2006/main">
      <a:srgbClr val="FFFFFF"/>
    </a:solidFill>
    <a:ln xmlns:a="http://schemas.openxmlformats.org/drawingml/2006/main" w="0">
      <a:noFill/>
      <a:prstDash val="solid"/>
    </a:ln>
  </c:spPr>
</c:chartSpace>
</file>

<file path=ppt/slides/charts/chart5.xml><?xml version="1.0" encoding="utf-8"?>
<c:chartSpace xmlns:c="http://schemas.openxmlformats.org/drawingml/2006/chart">
  <c:lang val="en-US"/>
  <c:chart>
    <c:plotArea>
      <c:scatterChart>
        <c:scatterStyle val="marker"/>
        <c:varyColors val="0"/>
        <c:ser>
          <c:idx val="0"/>
          <c:order val="0"/>
          <c:tx>
            <c:v>TMTM</c:v>
          </c:tx>
          <c:spPr>
            <a:solidFill xmlns:a="http://schemas.openxmlformats.org/drawingml/2006/main">
              <a:srgbClr val="777777"/>
            </a:solidFill>
            <a:ln xmlns:a="http://schemas.openxmlformats.org/drawingml/2006/main" w="0">
              <a:solidFill>
                <a:srgbClr val="777777"/>
              </a:solidFill>
              <a:prstDash val="solid"/>
            </a:ln>
          </c:spPr>
          <c:marker>
            <c:symbol val="circle"/>
            <c:size val="7"/>
            <c:spPr>
              <a:solidFill xmlns:a="http://schemas.openxmlformats.org/drawingml/2006/main">
                <a:srgbClr val="777777"/>
              </a:solidFill>
            </c:spPr>
          </c:marker>
          <c:xVal>
            <c:numLit>
              <c:formatCode>General</c:formatCode>
              <c:ptCount val="1"/>
              <c:pt idx="0">
                <c:v>0.4510451166303598</c:v>
              </c:pt>
            </c:numLit>
          </c:xVal>
          <c:yVal>
            <c:numLit>
              <c:formatCode>0</c:formatCode>
              <c:ptCount val="1"/>
              <c:pt idx="0">
                <c:v>42.86596119929453</c:v>
              </c:pt>
            </c:numLit>
          </c:yVal>
        </c:ser>
        <c:ser>
          <c:idx val="1"/>
          <c:order val="1"/>
          <c:tx>
            <c:v>ST-MTM</c:v>
          </c:tx>
          <c:spPr>
            <a:solidFill xmlns:a="http://schemas.openxmlformats.org/drawingml/2006/main">
              <a:srgbClr val="56B4E9"/>
            </a:solidFill>
            <a:ln xmlns:a="http://schemas.openxmlformats.org/drawingml/2006/main" w="0">
              <a:solidFill>
                <a:srgbClr val="56B4E9"/>
              </a:solidFill>
              <a:prstDash val="solid"/>
            </a:ln>
          </c:spPr>
          <c:marker>
            <c:symbol val="circle"/>
            <c:size val="7"/>
            <c:spPr>
              <a:solidFill xmlns:a="http://schemas.openxmlformats.org/drawingml/2006/main">
                <a:srgbClr val="56B4E9"/>
              </a:solidFill>
            </c:spPr>
          </c:marker>
          <c:xVal>
            <c:numLit>
              <c:formatCode>General</c:formatCode>
              <c:ptCount val="1"/>
              <c:pt idx="0">
                <c:v>0.31649055108017615</c:v>
              </c:pt>
            </c:numLit>
          </c:xVal>
          <c:yVal>
            <c:numLit>
              <c:formatCode>0</c:formatCode>
              <c:ptCount val="1"/>
              <c:pt idx="0">
                <c:v>76.4373897707231</c:v>
              </c:pt>
            </c:numLit>
          </c:yVal>
        </c:ser>
        <c:ser>
          <c:idx val="2"/>
          <c:order val="2"/>
          <c:tx>
            <c:v>P</c:v>
          </c:tx>
          <c:spPr>
            <a:solidFill xmlns:a="http://schemas.openxmlformats.org/drawingml/2006/main">
              <a:srgbClr val="0072B2"/>
            </a:solidFill>
            <a:ln xmlns:a="http://schemas.openxmlformats.org/drawingml/2006/main" w="0">
              <a:solidFill>
                <a:srgbClr val="0072B2"/>
              </a:solidFill>
              <a:prstDash val="solid"/>
            </a:ln>
          </c:spPr>
          <c:marker>
            <c:symbol val="circle"/>
            <c:size val="7"/>
            <c:spPr>
              <a:solidFill xmlns:a="http://schemas.openxmlformats.org/drawingml/2006/main">
                <a:srgbClr val="0072B2"/>
              </a:solidFill>
            </c:spPr>
          </c:marker>
          <c:xVal>
            <c:numLit>
              <c:formatCode>General</c:formatCode>
              <c:ptCount val="1"/>
              <c:pt idx="0">
                <c:v>0.4022624349882412</c:v>
              </c:pt>
            </c:numLit>
          </c:xVal>
          <c:yVal>
            <c:numLit>
              <c:formatCode>0</c:formatCode>
              <c:ptCount val="1"/>
              <c:pt idx="0">
                <c:v>49.36507936507937</c:v>
              </c:pt>
            </c:numLit>
          </c:yVal>
        </c:ser>
        <c:ser>
          <c:idx val="3"/>
          <c:order val="3"/>
          <c:tx>
            <c:v>R20</c:v>
          </c:tx>
          <c:spPr>
            <a:solidFill xmlns:a="http://schemas.openxmlformats.org/drawingml/2006/main">
              <a:srgbClr val="009E73"/>
            </a:solidFill>
            <a:ln xmlns:a="http://schemas.openxmlformats.org/drawingml/2006/main" w="0">
              <a:solidFill>
                <a:srgbClr val="009E73"/>
              </a:solidFill>
              <a:prstDash val="solid"/>
            </a:ln>
          </c:spPr>
          <c:marker>
            <c:symbol val="circle"/>
            <c:size val="7"/>
            <c:spPr>
              <a:solidFill xmlns:a="http://schemas.openxmlformats.org/drawingml/2006/main">
                <a:srgbClr val="009E73"/>
              </a:solidFill>
            </c:spPr>
          </c:marker>
          <c:xVal>
            <c:numLit>
              <c:formatCode>General</c:formatCode>
              <c:ptCount val="1"/>
              <c:pt idx="0">
                <c:v>0.37167229547208286</c:v>
              </c:pt>
            </c:numLit>
          </c:xVal>
          <c:yVal>
            <c:numLit>
              <c:formatCode>0</c:formatCode>
              <c:ptCount val="1"/>
              <c:pt idx="0">
                <c:v>55.29100529100529</c:v>
              </c:pt>
            </c:numLit>
          </c:yVal>
        </c:ser>
        <c:ser>
          <c:idx val="4"/>
          <c:order val="4"/>
          <c:tx>
            <c:v>Hilbert</c:v>
          </c:tx>
          <c:spPr>
            <a:solidFill xmlns:a="http://schemas.openxmlformats.org/drawingml/2006/main">
              <a:srgbClr val="D55E00"/>
            </a:solidFill>
            <a:ln xmlns:a="http://schemas.openxmlformats.org/drawingml/2006/main" w="0">
              <a:solidFill>
                <a:srgbClr val="D55E00"/>
              </a:solidFill>
              <a:prstDash val="solid"/>
            </a:ln>
          </c:spPr>
          <c:marker>
            <c:symbol val="circle"/>
            <c:size val="7"/>
            <c:spPr>
              <a:solidFill xmlns:a="http://schemas.openxmlformats.org/drawingml/2006/main">
                <a:srgbClr val="D55E00"/>
              </a:solidFill>
            </c:spPr>
          </c:marker>
          <c:xVal>
            <c:numLit>
              <c:formatCode>General</c:formatCode>
              <c:ptCount val="1"/>
              <c:pt idx="0">
                <c:v>0.33611759855307305</c:v>
              </c:pt>
            </c:numLit>
          </c:xVal>
          <c:yVal>
            <c:numLit>
              <c:formatCode>0</c:formatCode>
              <c:ptCount val="1"/>
              <c:pt idx="0">
                <c:v>67.74250440917109</c:v>
              </c:pt>
            </c:numLit>
          </c:yVal>
        </c:ser>
        <c:ser>
          <c:idx val="5"/>
          <c:order val="5"/>
          <c:tx>
            <c:v>Morton</c:v>
          </c:tx>
          <c:spPr>
            <a:solidFill xmlns:a="http://schemas.openxmlformats.org/drawingml/2006/main">
              <a:srgbClr val="CC79A7"/>
            </a:solidFill>
            <a:ln xmlns:a="http://schemas.openxmlformats.org/drawingml/2006/main" w="0">
              <a:solidFill>
                <a:srgbClr val="CC79A7"/>
              </a:solidFill>
              <a:prstDash val="solid"/>
            </a:ln>
          </c:spPr>
          <c:marker>
            <c:symbol val="circle"/>
            <c:size val="7"/>
            <c:spPr>
              <a:solidFill xmlns:a="http://schemas.openxmlformats.org/drawingml/2006/main">
                <a:srgbClr val="CC79A7"/>
              </a:solidFill>
            </c:spPr>
          </c:marker>
          <c:xVal>
            <c:numLit>
              <c:formatCode>General</c:formatCode>
              <c:ptCount val="1"/>
              <c:pt idx="0">
                <c:v>0.3741791439710959</c:v>
              </c:pt>
            </c:numLit>
          </c:xVal>
          <c:yVal>
            <c:numLit>
              <c:formatCode>0</c:formatCode>
              <c:ptCount val="1"/>
              <c:pt idx="0">
                <c:v>65.67901234567901</c:v>
              </c:pt>
            </c:numLit>
          </c:yVal>
        </c:ser>
        <c:dLbls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>
                  <a:latin typeface="Arial"/>
                  <a:ea typeface="Arial"/>
                  <a:cs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axId val="48650112"/>
        <c:axId val="48672768"/>
      </c:scatterChart>
      <c:valAx>
        <c:axId val="48672768"/>
        <c:scaling>
          <c:orientation val="minMax"/>
          <c:max val="100"/>
          <c:min val="0"/>
        </c:scaling>
        <c:delete val="0"/>
        <c:axPos val="l"/>
        <c:majorGridlines>
          <c:spPr>
            <a:ln xmlns:a="http://schemas.openxmlformats.org/drawingml/2006/main" w="5715">
              <a:solidFill>
                <a:srgbClr val="D9DFE3"/>
              </a:solidFill>
              <a:prstDash val="solid"/>
            </a:ln>
          </c:spPr>
        </c:majorGridlines>
        <c:title>
          <c:tx>
            <c:rich>
              <a:bodyPr xmlns:a="http://schemas.openxmlformats.org/drawingml/2006/main"/>
              <a:lstStyle xmlns:a="http://schemas.openxmlformats.org/drawingml/2006/main"/>
              <a:p xmlns:a="http://schemas.openxmlformats.org/drawingml/2006/main">
                <a:r>
                  <a:rPr sz="1200">
                    <a:solidFill>
                      <a:srgbClr val="263238"/>
                    </a:solidFill>
                    <a:latin typeface="Arial"/>
                    <a:ea typeface="Arial"/>
                    <a:cs typeface="Arial"/>
                  </a:rPr>
                  <a:t>NN preservation (%)</a:t>
                </a:r>
              </a:p>
            </c:rich>
          </c:tx>
          <c:overlay val="0"/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1200">
                  <a:solidFill>
                    <a:srgbClr val="263238"/>
                  </a:solidFill>
                  <a:latin typeface="Arial"/>
                  <a:ea typeface="Arial"/>
                  <a:cs typeface="Arial"/>
                </a:defRPr>
              </a:pPr>
            </a:p>
          </c:txPr>
        </c:title>
        <c:numFmt formatCode="0"/>
        <c:majorTickMark val="none"/>
        <c:minorTickMark val="none"/>
        <c:spPr>
          <a:ln xmlns:a="http://schemas.openxmlformats.org/drawingml/2006/main" w="7620">
            <a:solidFill>
              <a:srgbClr val="263238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125">
                <a:solidFill>
                  <a:srgbClr val="263238"/>
                </a:solidFill>
                <a:latin typeface="Arial"/>
                <a:ea typeface="Arial"/>
                <a:cs typeface="Arial"/>
              </a:defRPr>
            </a:pPr>
          </a:p>
        </c:txPr>
        <c:crossAx val="48650112"/>
        <c:majorUnit val="20"/>
      </c:valAx>
      <c:valAx>
        <c:axId val="48650112"/>
        <c:scaling>
          <c:orientation val="minMax"/>
          <c:max val="1.2"/>
          <c:min val="0"/>
        </c:scaling>
        <c:delete val="0"/>
        <c:axPos val="b"/>
        <c:majorGridlines>
          <c:spPr>
            <a:ln xmlns:a="http://schemas.openxmlformats.org/drawingml/2006/main" w="5715">
              <a:solidFill>
                <a:srgbClr val="D9DFE3"/>
              </a:solidFill>
              <a:prstDash val="solid"/>
            </a:ln>
          </c:spPr>
        </c:majorGridlines>
        <c:title>
          <c:tx>
            <c:rich>
              <a:bodyPr xmlns:a="http://schemas.openxmlformats.org/drawingml/2006/main"/>
              <a:lstStyle xmlns:a="http://schemas.openxmlformats.org/drawingml/2006/main"/>
              <a:p xmlns:a="http://schemas.openxmlformats.org/drawingml/2006/main">
                <a:r>
                  <a:rPr sz="1200">
                    <a:solidFill>
                      <a:srgbClr val="263238"/>
                    </a:solidFill>
                    <a:latin typeface="Arial"/>
                    <a:ea typeface="Arial"/>
                    <a:cs typeface="Arial"/>
                  </a:rPr>
                  <a:t>Kruskal stress-1</a:t>
                </a:r>
              </a:p>
            </c:rich>
          </c:tx>
          <c:overlay val="0"/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1200">
                  <a:solidFill>
                    <a:srgbClr val="263238"/>
                  </a:solidFill>
                  <a:latin typeface="Arial"/>
                  <a:ea typeface="Arial"/>
                  <a:cs typeface="Arial"/>
                </a:defRPr>
              </a:pPr>
            </a:p>
          </c:txPr>
        </c:title>
        <c:numFmt formatCode="0.0"/>
        <c:majorTickMark val="none"/>
        <c:minorTickMark val="none"/>
        <c:spPr>
          <a:ln xmlns:a="http://schemas.openxmlformats.org/drawingml/2006/main" w="7620">
            <a:solidFill>
              <a:srgbClr val="263238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125">
                <a:solidFill>
                  <a:srgbClr val="263238"/>
                </a:solidFill>
                <a:latin typeface="Arial"/>
                <a:ea typeface="Arial"/>
                <a:cs typeface="Arial"/>
              </a:defRPr>
            </a:pPr>
          </a:p>
        </c:txPr>
        <c:crossAx val="48672768"/>
        <c:majorUnit val="0.4"/>
      </c:valAx>
      <c:spPr>
        <a:solidFill xmlns:a="http://schemas.openxmlformats.org/drawingml/2006/main">
          <a:srgbClr val="FFFFFF"/>
        </a:solidFill>
        <a:ln xmlns:a="http://schemas.openxmlformats.org/drawingml/2006/main" w="0">
          <a:noFill/>
          <a:prstDash val="solid"/>
        </a:ln>
      </c:spPr>
    </c:plotArea>
    <c:plotVisOnly val="1"/>
  </c:chart>
  <c:spPr>
    <a:solidFill xmlns:a="http://schemas.openxmlformats.org/drawingml/2006/main">
      <a:srgbClr val="FFFFFF"/>
    </a:solidFill>
    <a:ln xmlns:a="http://schemas.openxmlformats.org/drawingml/2006/main" w="0">
      <a:noFill/>
      <a:prstDash val="solid"/>
    </a:ln>
  </c:spPr>
</c:chartSpace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0" name="(a) Storms 1999/2000">
            <a:extLst xmlns:a="http://schemas.openxmlformats.org/drawingml/2006/main">
              <a:ext uri="{FF2B5EF4-FFF2-40B4-BE49-F238E27FC236}">
                <a16:creationId xmlns:a16="http://schemas.microsoft.com/office/drawing/2014/main" id="{9B77F391-9DF2-4B4A-B698-556DF83644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" y="114300"/>
            <a:ext cx="4000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>
            <a:defPPr>
              <a:defRPr sz="1500" b="1">
                <a:solidFill>
                  <a:srgbClr val="263238"/>
                </a:solidFill>
                <a:latin typeface="Arial"/>
                <a:ea typeface="Arial"/>
                <a:cs typeface="Arial"/>
              </a:defRPr>
            </a:defPPr>
            <a:lvl1pPr>
              <a:defRPr sz="1500" b="1">
                <a:solidFill>
                  <a:srgbClr val="263238"/>
                </a:solidFill>
                <a:latin typeface="Arial"/>
                <a:ea typeface="Arial"/>
                <a:cs typeface="Arial"/>
              </a:defRPr>
            </a:lvl1pPr>
            <a:lvl2pPr>
              <a:defRPr sz="1500" b="1">
                <a:solidFill>
                  <a:srgbClr val="263238"/>
                </a:solidFill>
                <a:latin typeface="Arial"/>
                <a:ea typeface="Arial"/>
                <a:cs typeface="Arial"/>
              </a:defRPr>
            </a:lvl2pPr>
            <a:lvl3pPr>
              <a:defRPr sz="1500" b="1">
                <a:solidFill>
                  <a:srgbClr val="263238"/>
                </a:solidFill>
                <a:latin typeface="Arial"/>
                <a:ea typeface="Arial"/>
                <a:cs typeface="Arial"/>
              </a:defRPr>
            </a:lvl3pPr>
            <a:lvl4pPr>
              <a:defRPr sz="1500" b="1">
                <a:solidFill>
                  <a:srgbClr val="263238"/>
                </a:solidFill>
                <a:latin typeface="Arial"/>
                <a:ea typeface="Arial"/>
                <a:cs typeface="Arial"/>
              </a:defRPr>
            </a:lvl4pPr>
            <a:lvl5pPr>
              <a:defRPr sz="1500" b="1">
                <a:solidFill>
                  <a:srgbClr val="263238"/>
                </a:solidFill>
                <a:latin typeface="Arial"/>
                <a:ea typeface="Arial"/>
                <a:cs typeface="Arial"/>
              </a:defRPr>
            </a:lvl5pPr>
            <a:lvl6pPr>
              <a:defRPr sz="1500" b="1">
                <a:solidFill>
                  <a:srgbClr val="263238"/>
                </a:solidFill>
                <a:latin typeface="Arial"/>
                <a:ea typeface="Arial"/>
                <a:cs typeface="Arial"/>
              </a:defRPr>
            </a:lvl6pPr>
            <a:lvl7pPr>
              <a:defRPr sz="1500" b="1">
                <a:solidFill>
                  <a:srgbClr val="263238"/>
                </a:solidFill>
                <a:latin typeface="Arial"/>
                <a:ea typeface="Arial"/>
                <a:cs typeface="Arial"/>
              </a:defRPr>
            </a:lvl7pPr>
            <a:lvl8pPr>
              <a:defRPr sz="1500" b="1">
                <a:solidFill>
                  <a:srgbClr val="263238"/>
                </a:solidFill>
                <a:latin typeface="Arial"/>
                <a:ea typeface="Arial"/>
                <a:cs typeface="Arial"/>
              </a:defRPr>
            </a:lvl8pPr>
            <a:lvl9pPr>
              <a:defRPr sz="1500" b="1">
                <a:solidFill>
                  <a:srgbClr val="263238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500" b="1">
                <a:solidFill>
                  <a:srgbClr val="263238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263238"/>
                </a:solidFill>
                <a:latin typeface="Arial"/>
                <a:ea typeface="Arial"/>
                <a:cs typeface="Arial"/>
              </a:rPr>
              <a:t>(a) Storms 1999/2000</a:t>
            </a:r>
          </a:p>
        </p:txBody>
      </p:sp>
      <p:graphicFrame>
        <p:nvGraphicFramePr>
          <p:cNvPr id="2" name="Chart">
            <a:extLst xmlns:a="http://schemas.openxmlformats.org/drawingml/2006/main">
              <a:ext uri="{FF2B5EF4-FFF2-40B4-BE49-F238E27FC236}">
                <a16:creationId xmlns:a16="http://schemas.microsoft.com/office/drawing/2014/main" id="{9464C218-EC6B-4DCA-A9A9-C58300AE1F86}"/>
              </a:ext>
            </a:extLst>
          </p:cNvPr>
          <p:cNvGraphicFramePr/>
          <p:nvPr/>
        </p:nvGraphicFramePr>
        <p:xfrm>
          <a:off xmlns:a="http://schemas.openxmlformats.org/drawingml/2006/main" x="152400" y="400050"/>
          <a:ext xmlns:a="http://schemas.openxmlformats.org/drawingml/2006/main" cx="4048125" cy="268605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cd237d05b9b34988"/>
          </a:graphicData>
        </a:graphic>
      </p:graphicFrame>
      <p:sp>
        <p:nvSpPr>
          <p:cNvPr id="3" name="(b) Wildfires 2019">
            <a:extLst xmlns:a="http://schemas.openxmlformats.org/drawingml/2006/main">
              <a:ext uri="{FF2B5EF4-FFF2-40B4-BE49-F238E27FC236}">
                <a16:creationId xmlns:a16="http://schemas.microsoft.com/office/drawing/2014/main" id="{E7ACC918-3394-4A70-8210-6322B7AB6A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114300"/>
            <a:ext cx="4000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>
            <a:defPPr>
              <a:defRPr sz="1500" b="1">
                <a:solidFill>
                  <a:srgbClr val="263238"/>
                </a:solidFill>
                <a:latin typeface="Arial"/>
                <a:ea typeface="Arial"/>
                <a:cs typeface="Arial"/>
              </a:defRPr>
            </a:defPPr>
            <a:lvl1pPr>
              <a:defRPr sz="1500" b="1">
                <a:solidFill>
                  <a:srgbClr val="263238"/>
                </a:solidFill>
                <a:latin typeface="Arial"/>
                <a:ea typeface="Arial"/>
                <a:cs typeface="Arial"/>
              </a:defRPr>
            </a:lvl1pPr>
            <a:lvl2pPr>
              <a:defRPr sz="1500" b="1">
                <a:solidFill>
                  <a:srgbClr val="263238"/>
                </a:solidFill>
                <a:latin typeface="Arial"/>
                <a:ea typeface="Arial"/>
                <a:cs typeface="Arial"/>
              </a:defRPr>
            </a:lvl2pPr>
            <a:lvl3pPr>
              <a:defRPr sz="1500" b="1">
                <a:solidFill>
                  <a:srgbClr val="263238"/>
                </a:solidFill>
                <a:latin typeface="Arial"/>
                <a:ea typeface="Arial"/>
                <a:cs typeface="Arial"/>
              </a:defRPr>
            </a:lvl3pPr>
            <a:lvl4pPr>
              <a:defRPr sz="1500" b="1">
                <a:solidFill>
                  <a:srgbClr val="263238"/>
                </a:solidFill>
                <a:latin typeface="Arial"/>
                <a:ea typeface="Arial"/>
                <a:cs typeface="Arial"/>
              </a:defRPr>
            </a:lvl4pPr>
            <a:lvl5pPr>
              <a:defRPr sz="1500" b="1">
                <a:solidFill>
                  <a:srgbClr val="263238"/>
                </a:solidFill>
                <a:latin typeface="Arial"/>
                <a:ea typeface="Arial"/>
                <a:cs typeface="Arial"/>
              </a:defRPr>
            </a:lvl5pPr>
            <a:lvl6pPr>
              <a:defRPr sz="1500" b="1">
                <a:solidFill>
                  <a:srgbClr val="263238"/>
                </a:solidFill>
                <a:latin typeface="Arial"/>
                <a:ea typeface="Arial"/>
                <a:cs typeface="Arial"/>
              </a:defRPr>
            </a:lvl6pPr>
            <a:lvl7pPr>
              <a:defRPr sz="1500" b="1">
                <a:solidFill>
                  <a:srgbClr val="263238"/>
                </a:solidFill>
                <a:latin typeface="Arial"/>
                <a:ea typeface="Arial"/>
                <a:cs typeface="Arial"/>
              </a:defRPr>
            </a:lvl7pPr>
            <a:lvl8pPr>
              <a:defRPr sz="1500" b="1">
                <a:solidFill>
                  <a:srgbClr val="263238"/>
                </a:solidFill>
                <a:latin typeface="Arial"/>
                <a:ea typeface="Arial"/>
                <a:cs typeface="Arial"/>
              </a:defRPr>
            </a:lvl8pPr>
            <a:lvl9pPr>
              <a:defRPr sz="1500" b="1">
                <a:solidFill>
                  <a:srgbClr val="263238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500" b="1">
                <a:solidFill>
                  <a:srgbClr val="263238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263238"/>
                </a:solidFill>
                <a:latin typeface="Arial"/>
                <a:ea typeface="Arial"/>
                <a:cs typeface="Arial"/>
              </a:rPr>
              <a:t>(b) Wildfires 2019</a:t>
            </a:r>
          </a:p>
        </p:txBody>
      </p:sp>
      <p:graphicFrame>
        <p:nvGraphicFramePr>
          <p:cNvPr id="4" name="Chart">
            <a:extLst xmlns:a="http://schemas.openxmlformats.org/drawingml/2006/main">
              <a:ext uri="{FF2B5EF4-FFF2-40B4-BE49-F238E27FC236}">
                <a16:creationId xmlns:a16="http://schemas.microsoft.com/office/drawing/2014/main" id="{08206DCB-BCE0-4584-9064-F3AED60C1770}"/>
              </a:ext>
            </a:extLst>
          </p:cNvPr>
          <p:cNvGraphicFramePr/>
          <p:nvPr/>
        </p:nvGraphicFramePr>
        <p:xfrm>
          <a:off xmlns:a="http://schemas.openxmlformats.org/drawingml/2006/main" x="4362450" y="400050"/>
          <a:ext xmlns:a="http://schemas.openxmlformats.org/drawingml/2006/main" cx="4048125" cy="268605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b5c9afb3c8a44c86"/>
          </a:graphicData>
        </a:graphic>
      </p:graphicFrame>
      <p:sp>
        <p:nvSpPr>
          <p:cNvPr id="5" name="(c) OLR 2024">
            <a:extLst xmlns:a="http://schemas.openxmlformats.org/drawingml/2006/main">
              <a:ext uri="{FF2B5EF4-FFF2-40B4-BE49-F238E27FC236}">
                <a16:creationId xmlns:a16="http://schemas.microsoft.com/office/drawing/2014/main" id="{D529513E-432D-408A-99E7-B2B4416719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86800" y="114300"/>
            <a:ext cx="4000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>
            <a:defPPr>
              <a:defRPr sz="1500" b="1">
                <a:solidFill>
                  <a:srgbClr val="263238"/>
                </a:solidFill>
                <a:latin typeface="Arial"/>
                <a:ea typeface="Arial"/>
                <a:cs typeface="Arial"/>
              </a:defRPr>
            </a:defPPr>
            <a:lvl1pPr>
              <a:defRPr sz="1500" b="1">
                <a:solidFill>
                  <a:srgbClr val="263238"/>
                </a:solidFill>
                <a:latin typeface="Arial"/>
                <a:ea typeface="Arial"/>
                <a:cs typeface="Arial"/>
              </a:defRPr>
            </a:lvl1pPr>
            <a:lvl2pPr>
              <a:defRPr sz="1500" b="1">
                <a:solidFill>
                  <a:srgbClr val="263238"/>
                </a:solidFill>
                <a:latin typeface="Arial"/>
                <a:ea typeface="Arial"/>
                <a:cs typeface="Arial"/>
              </a:defRPr>
            </a:lvl2pPr>
            <a:lvl3pPr>
              <a:defRPr sz="1500" b="1">
                <a:solidFill>
                  <a:srgbClr val="263238"/>
                </a:solidFill>
                <a:latin typeface="Arial"/>
                <a:ea typeface="Arial"/>
                <a:cs typeface="Arial"/>
              </a:defRPr>
            </a:lvl3pPr>
            <a:lvl4pPr>
              <a:defRPr sz="1500" b="1">
                <a:solidFill>
                  <a:srgbClr val="263238"/>
                </a:solidFill>
                <a:latin typeface="Arial"/>
                <a:ea typeface="Arial"/>
                <a:cs typeface="Arial"/>
              </a:defRPr>
            </a:lvl4pPr>
            <a:lvl5pPr>
              <a:defRPr sz="1500" b="1">
                <a:solidFill>
                  <a:srgbClr val="263238"/>
                </a:solidFill>
                <a:latin typeface="Arial"/>
                <a:ea typeface="Arial"/>
                <a:cs typeface="Arial"/>
              </a:defRPr>
            </a:lvl5pPr>
            <a:lvl6pPr>
              <a:defRPr sz="1500" b="1">
                <a:solidFill>
                  <a:srgbClr val="263238"/>
                </a:solidFill>
                <a:latin typeface="Arial"/>
                <a:ea typeface="Arial"/>
                <a:cs typeface="Arial"/>
              </a:defRPr>
            </a:lvl6pPr>
            <a:lvl7pPr>
              <a:defRPr sz="1500" b="1">
                <a:solidFill>
                  <a:srgbClr val="263238"/>
                </a:solidFill>
                <a:latin typeface="Arial"/>
                <a:ea typeface="Arial"/>
                <a:cs typeface="Arial"/>
              </a:defRPr>
            </a:lvl7pPr>
            <a:lvl8pPr>
              <a:defRPr sz="1500" b="1">
                <a:solidFill>
                  <a:srgbClr val="263238"/>
                </a:solidFill>
                <a:latin typeface="Arial"/>
                <a:ea typeface="Arial"/>
                <a:cs typeface="Arial"/>
              </a:defRPr>
            </a:lvl8pPr>
            <a:lvl9pPr>
              <a:defRPr sz="1500" b="1">
                <a:solidFill>
                  <a:srgbClr val="263238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500" b="1">
                <a:solidFill>
                  <a:srgbClr val="263238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263238"/>
                </a:solidFill>
                <a:latin typeface="Arial"/>
                <a:ea typeface="Arial"/>
                <a:cs typeface="Arial"/>
              </a:rPr>
              <a:t>(c) OLR 2024</a:t>
            </a:r>
          </a:p>
        </p:txBody>
      </p:sp>
      <p:graphicFrame>
        <p:nvGraphicFramePr>
          <p:cNvPr id="6" name="Chart">
            <a:extLst xmlns:a="http://schemas.openxmlformats.org/drawingml/2006/main">
              <a:ext uri="{FF2B5EF4-FFF2-40B4-BE49-F238E27FC236}">
                <a16:creationId xmlns:a16="http://schemas.microsoft.com/office/drawing/2014/main" id="{5416D19B-3B64-4544-B060-DC107888A1E4}"/>
              </a:ext>
            </a:extLst>
          </p:cNvPr>
          <p:cNvGraphicFramePr/>
          <p:nvPr/>
        </p:nvGraphicFramePr>
        <p:xfrm>
          <a:off xmlns:a="http://schemas.openxmlformats.org/drawingml/2006/main" x="8572500" y="400050"/>
          <a:ext xmlns:a="http://schemas.openxmlformats.org/drawingml/2006/main" cx="4048125" cy="268605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09e8266b1a3e4176"/>
          </a:graphicData>
        </a:graphic>
      </p:graphicFrame>
      <p:sp>
        <p:nvSpPr>
          <p:cNvPr id="7" name="(d) PM2.5 Jan 2000">
            <a:extLst xmlns:a="http://schemas.openxmlformats.org/drawingml/2006/main">
              <a:ext uri="{FF2B5EF4-FFF2-40B4-BE49-F238E27FC236}">
                <a16:creationId xmlns:a16="http://schemas.microsoft.com/office/drawing/2014/main" id="{7254A2EF-3C70-41BC-A12A-1087E6C18B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" y="3162300"/>
            <a:ext cx="4000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>
            <a:defPPr>
              <a:defRPr sz="1500" b="1">
                <a:solidFill>
                  <a:srgbClr val="263238"/>
                </a:solidFill>
                <a:latin typeface="Arial"/>
                <a:ea typeface="Arial"/>
                <a:cs typeface="Arial"/>
              </a:defRPr>
            </a:defPPr>
            <a:lvl1pPr>
              <a:defRPr sz="1500" b="1">
                <a:solidFill>
                  <a:srgbClr val="263238"/>
                </a:solidFill>
                <a:latin typeface="Arial"/>
                <a:ea typeface="Arial"/>
                <a:cs typeface="Arial"/>
              </a:defRPr>
            </a:lvl1pPr>
            <a:lvl2pPr>
              <a:defRPr sz="1500" b="1">
                <a:solidFill>
                  <a:srgbClr val="263238"/>
                </a:solidFill>
                <a:latin typeface="Arial"/>
                <a:ea typeface="Arial"/>
                <a:cs typeface="Arial"/>
              </a:defRPr>
            </a:lvl2pPr>
            <a:lvl3pPr>
              <a:defRPr sz="1500" b="1">
                <a:solidFill>
                  <a:srgbClr val="263238"/>
                </a:solidFill>
                <a:latin typeface="Arial"/>
                <a:ea typeface="Arial"/>
                <a:cs typeface="Arial"/>
              </a:defRPr>
            </a:lvl3pPr>
            <a:lvl4pPr>
              <a:defRPr sz="1500" b="1">
                <a:solidFill>
                  <a:srgbClr val="263238"/>
                </a:solidFill>
                <a:latin typeface="Arial"/>
                <a:ea typeface="Arial"/>
                <a:cs typeface="Arial"/>
              </a:defRPr>
            </a:lvl4pPr>
            <a:lvl5pPr>
              <a:defRPr sz="1500" b="1">
                <a:solidFill>
                  <a:srgbClr val="263238"/>
                </a:solidFill>
                <a:latin typeface="Arial"/>
                <a:ea typeface="Arial"/>
                <a:cs typeface="Arial"/>
              </a:defRPr>
            </a:lvl5pPr>
            <a:lvl6pPr>
              <a:defRPr sz="1500" b="1">
                <a:solidFill>
                  <a:srgbClr val="263238"/>
                </a:solidFill>
                <a:latin typeface="Arial"/>
                <a:ea typeface="Arial"/>
                <a:cs typeface="Arial"/>
              </a:defRPr>
            </a:lvl6pPr>
            <a:lvl7pPr>
              <a:defRPr sz="1500" b="1">
                <a:solidFill>
                  <a:srgbClr val="263238"/>
                </a:solidFill>
                <a:latin typeface="Arial"/>
                <a:ea typeface="Arial"/>
                <a:cs typeface="Arial"/>
              </a:defRPr>
            </a:lvl7pPr>
            <a:lvl8pPr>
              <a:defRPr sz="1500" b="1">
                <a:solidFill>
                  <a:srgbClr val="263238"/>
                </a:solidFill>
                <a:latin typeface="Arial"/>
                <a:ea typeface="Arial"/>
                <a:cs typeface="Arial"/>
              </a:defRPr>
            </a:lvl8pPr>
            <a:lvl9pPr>
              <a:defRPr sz="1500" b="1">
                <a:solidFill>
                  <a:srgbClr val="263238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500" b="1">
                <a:solidFill>
                  <a:srgbClr val="263238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263238"/>
                </a:solidFill>
                <a:latin typeface="Arial"/>
                <a:ea typeface="Arial"/>
                <a:cs typeface="Arial"/>
              </a:rPr>
              <a:t>(d) PM2.5 Jan 2000</a:t>
            </a:r>
          </a:p>
        </p:txBody>
      </p:sp>
      <p:graphicFrame>
        <p:nvGraphicFramePr>
          <p:cNvPr id="8" name="Chart">
            <a:extLst xmlns:a="http://schemas.openxmlformats.org/drawingml/2006/main">
              <a:ext uri="{FF2B5EF4-FFF2-40B4-BE49-F238E27FC236}">
                <a16:creationId xmlns:a16="http://schemas.microsoft.com/office/drawing/2014/main" id="{EAFA2E55-1884-415D-8C26-06940AE347A1}"/>
              </a:ext>
            </a:extLst>
          </p:cNvPr>
          <p:cNvGraphicFramePr/>
          <p:nvPr/>
        </p:nvGraphicFramePr>
        <p:xfrm>
          <a:off xmlns:a="http://schemas.openxmlformats.org/drawingml/2006/main" x="152400" y="3448050"/>
          <a:ext xmlns:a="http://schemas.openxmlformats.org/drawingml/2006/main" cx="4048125" cy="268605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61f6f0d9ec8746bc"/>
          </a:graphicData>
        </a:graphic>
      </p:graphicFrame>
      <p:sp>
        <p:nvSpPr>
          <p:cNvPr id="9" name="(e) Ring">
            <a:extLst xmlns:a="http://schemas.openxmlformats.org/drawingml/2006/main">
              <a:ext uri="{FF2B5EF4-FFF2-40B4-BE49-F238E27FC236}">
                <a16:creationId xmlns:a16="http://schemas.microsoft.com/office/drawing/2014/main" id="{4B0F6637-9020-4037-BD5F-DD428279AA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3162300"/>
            <a:ext cx="4000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>
            <a:defPPr>
              <a:defRPr sz="1500" b="1">
                <a:solidFill>
                  <a:srgbClr val="263238"/>
                </a:solidFill>
                <a:latin typeface="Arial"/>
                <a:ea typeface="Arial"/>
                <a:cs typeface="Arial"/>
              </a:defRPr>
            </a:defPPr>
            <a:lvl1pPr>
              <a:defRPr sz="1500" b="1">
                <a:solidFill>
                  <a:srgbClr val="263238"/>
                </a:solidFill>
                <a:latin typeface="Arial"/>
                <a:ea typeface="Arial"/>
                <a:cs typeface="Arial"/>
              </a:defRPr>
            </a:lvl1pPr>
            <a:lvl2pPr>
              <a:defRPr sz="1500" b="1">
                <a:solidFill>
                  <a:srgbClr val="263238"/>
                </a:solidFill>
                <a:latin typeface="Arial"/>
                <a:ea typeface="Arial"/>
                <a:cs typeface="Arial"/>
              </a:defRPr>
            </a:lvl2pPr>
            <a:lvl3pPr>
              <a:defRPr sz="1500" b="1">
                <a:solidFill>
                  <a:srgbClr val="263238"/>
                </a:solidFill>
                <a:latin typeface="Arial"/>
                <a:ea typeface="Arial"/>
                <a:cs typeface="Arial"/>
              </a:defRPr>
            </a:lvl3pPr>
            <a:lvl4pPr>
              <a:defRPr sz="1500" b="1">
                <a:solidFill>
                  <a:srgbClr val="263238"/>
                </a:solidFill>
                <a:latin typeface="Arial"/>
                <a:ea typeface="Arial"/>
                <a:cs typeface="Arial"/>
              </a:defRPr>
            </a:lvl4pPr>
            <a:lvl5pPr>
              <a:defRPr sz="1500" b="1">
                <a:solidFill>
                  <a:srgbClr val="263238"/>
                </a:solidFill>
                <a:latin typeface="Arial"/>
                <a:ea typeface="Arial"/>
                <a:cs typeface="Arial"/>
              </a:defRPr>
            </a:lvl5pPr>
            <a:lvl6pPr>
              <a:defRPr sz="1500" b="1">
                <a:solidFill>
                  <a:srgbClr val="263238"/>
                </a:solidFill>
                <a:latin typeface="Arial"/>
                <a:ea typeface="Arial"/>
                <a:cs typeface="Arial"/>
              </a:defRPr>
            </a:lvl6pPr>
            <a:lvl7pPr>
              <a:defRPr sz="1500" b="1">
                <a:solidFill>
                  <a:srgbClr val="263238"/>
                </a:solidFill>
                <a:latin typeface="Arial"/>
                <a:ea typeface="Arial"/>
                <a:cs typeface="Arial"/>
              </a:defRPr>
            </a:lvl7pPr>
            <a:lvl8pPr>
              <a:defRPr sz="1500" b="1">
                <a:solidFill>
                  <a:srgbClr val="263238"/>
                </a:solidFill>
                <a:latin typeface="Arial"/>
                <a:ea typeface="Arial"/>
                <a:cs typeface="Arial"/>
              </a:defRPr>
            </a:lvl8pPr>
            <a:lvl9pPr>
              <a:defRPr sz="1500" b="1">
                <a:solidFill>
                  <a:srgbClr val="263238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500" b="1">
                <a:solidFill>
                  <a:srgbClr val="263238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263238"/>
                </a:solidFill>
                <a:latin typeface="Arial"/>
                <a:ea typeface="Arial"/>
                <a:cs typeface="Arial"/>
              </a:rPr>
              <a:t>(e) Ring</a:t>
            </a:r>
          </a:p>
        </p:txBody>
      </p:sp>
      <p:graphicFrame>
        <p:nvGraphicFramePr>
          <p:cNvPr id="10" name="Chart">
            <a:extLst xmlns:a="http://schemas.openxmlformats.org/drawingml/2006/main">
              <a:ext uri="{FF2B5EF4-FFF2-40B4-BE49-F238E27FC236}">
                <a16:creationId xmlns:a16="http://schemas.microsoft.com/office/drawing/2014/main" id="{DE375DC6-B8E0-4BB6-A2EC-4665936B8D2F}"/>
              </a:ext>
            </a:extLst>
          </p:cNvPr>
          <p:cNvGraphicFramePr/>
          <p:nvPr/>
        </p:nvGraphicFramePr>
        <p:xfrm>
          <a:off xmlns:a="http://schemas.openxmlformats.org/drawingml/2006/main" x="4362450" y="3448050"/>
          <a:ext xmlns:a="http://schemas.openxmlformats.org/drawingml/2006/main" cx="4048125" cy="268605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a0cbc3fd95a3428f"/>
          </a:graphicData>
        </a:graphic>
      </p:graphicFrame>
      <p:sp>
        <p:nvSpPr>
          <p:cNvPr id="11" name="TMTM">
            <a:extLst xmlns:a="http://schemas.openxmlformats.org/drawingml/2006/main">
              <a:ext uri="{FF2B5EF4-FFF2-40B4-BE49-F238E27FC236}">
                <a16:creationId xmlns:a16="http://schemas.microsoft.com/office/drawing/2014/main" id="{DADA28E6-7FE1-4FF2-BF19-8BCFEF97FE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15375" y="3905250"/>
            <a:ext cx="40005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>
            <a:defPPr>
              <a:defRPr sz="1425" b="0">
                <a:solidFill>
                  <a:srgbClr val="777777"/>
                </a:solidFill>
                <a:latin typeface="Arial"/>
                <a:ea typeface="Arial"/>
                <a:cs typeface="Arial"/>
              </a:defRPr>
            </a:defPPr>
            <a:lvl1pPr>
              <a:defRPr sz="1425" b="0">
                <a:solidFill>
                  <a:srgbClr val="777777"/>
                </a:solidFill>
                <a:latin typeface="Arial"/>
                <a:ea typeface="Arial"/>
                <a:cs typeface="Arial"/>
              </a:defRPr>
            </a:lvl1pPr>
            <a:lvl2pPr>
              <a:defRPr sz="1425" b="0">
                <a:solidFill>
                  <a:srgbClr val="777777"/>
                </a:solidFill>
                <a:latin typeface="Arial"/>
                <a:ea typeface="Arial"/>
                <a:cs typeface="Arial"/>
              </a:defRPr>
            </a:lvl2pPr>
            <a:lvl3pPr>
              <a:defRPr sz="1425" b="0">
                <a:solidFill>
                  <a:srgbClr val="777777"/>
                </a:solidFill>
                <a:latin typeface="Arial"/>
                <a:ea typeface="Arial"/>
                <a:cs typeface="Arial"/>
              </a:defRPr>
            </a:lvl3pPr>
            <a:lvl4pPr>
              <a:defRPr sz="1425" b="0">
                <a:solidFill>
                  <a:srgbClr val="777777"/>
                </a:solidFill>
                <a:latin typeface="Arial"/>
                <a:ea typeface="Arial"/>
                <a:cs typeface="Arial"/>
              </a:defRPr>
            </a:lvl4pPr>
            <a:lvl5pPr>
              <a:defRPr sz="1425" b="0">
                <a:solidFill>
                  <a:srgbClr val="777777"/>
                </a:solidFill>
                <a:latin typeface="Arial"/>
                <a:ea typeface="Arial"/>
                <a:cs typeface="Arial"/>
              </a:defRPr>
            </a:lvl5pPr>
            <a:lvl6pPr>
              <a:defRPr sz="1425" b="0">
                <a:solidFill>
                  <a:srgbClr val="777777"/>
                </a:solidFill>
                <a:latin typeface="Arial"/>
                <a:ea typeface="Arial"/>
                <a:cs typeface="Arial"/>
              </a:defRPr>
            </a:lvl6pPr>
            <a:lvl7pPr>
              <a:defRPr sz="1425" b="0">
                <a:solidFill>
                  <a:srgbClr val="777777"/>
                </a:solidFill>
                <a:latin typeface="Arial"/>
                <a:ea typeface="Arial"/>
                <a:cs typeface="Arial"/>
              </a:defRPr>
            </a:lvl7pPr>
            <a:lvl8pPr>
              <a:defRPr sz="1425" b="0">
                <a:solidFill>
                  <a:srgbClr val="777777"/>
                </a:solidFill>
                <a:latin typeface="Arial"/>
                <a:ea typeface="Arial"/>
                <a:cs typeface="Arial"/>
              </a:defRPr>
            </a:lvl8pPr>
            <a:lvl9pPr>
              <a:defRPr sz="1425" b="0">
                <a:solidFill>
                  <a:srgbClr val="777777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425" b="0">
                <a:solidFill>
                  <a:srgbClr val="777777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777777"/>
                </a:solidFill>
                <a:latin typeface="Arial"/>
                <a:ea typeface="Arial"/>
                <a:cs typeface="Arial"/>
              </a:rPr>
              <a:t>TMTM</a:t>
            </a:r>
          </a:p>
        </p:txBody>
      </p:sp>
      <p:sp>
        <p:nvSpPr>
          <p:cNvPr id="12" name="ST-MTM">
            <a:extLst xmlns:a="http://schemas.openxmlformats.org/drawingml/2006/main">
              <a:ext uri="{FF2B5EF4-FFF2-40B4-BE49-F238E27FC236}">
                <a16:creationId xmlns:a16="http://schemas.microsoft.com/office/drawing/2014/main" id="{5AC1D909-C411-45A0-8B33-0E13FBB81C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15375" y="4210050"/>
            <a:ext cx="40005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>
            <a:defPPr>
              <a:defRPr sz="1425" b="0">
                <a:solidFill>
                  <a:srgbClr val="56B4E9"/>
                </a:solidFill>
                <a:latin typeface="Arial"/>
                <a:ea typeface="Arial"/>
                <a:cs typeface="Arial"/>
              </a:defRPr>
            </a:defPPr>
            <a:lvl1pPr>
              <a:defRPr sz="1425" b="0">
                <a:solidFill>
                  <a:srgbClr val="56B4E9"/>
                </a:solidFill>
                <a:latin typeface="Arial"/>
                <a:ea typeface="Arial"/>
                <a:cs typeface="Arial"/>
              </a:defRPr>
            </a:lvl1pPr>
            <a:lvl2pPr>
              <a:defRPr sz="1425" b="0">
                <a:solidFill>
                  <a:srgbClr val="56B4E9"/>
                </a:solidFill>
                <a:latin typeface="Arial"/>
                <a:ea typeface="Arial"/>
                <a:cs typeface="Arial"/>
              </a:defRPr>
            </a:lvl2pPr>
            <a:lvl3pPr>
              <a:defRPr sz="1425" b="0">
                <a:solidFill>
                  <a:srgbClr val="56B4E9"/>
                </a:solidFill>
                <a:latin typeface="Arial"/>
                <a:ea typeface="Arial"/>
                <a:cs typeface="Arial"/>
              </a:defRPr>
            </a:lvl3pPr>
            <a:lvl4pPr>
              <a:defRPr sz="1425" b="0">
                <a:solidFill>
                  <a:srgbClr val="56B4E9"/>
                </a:solidFill>
                <a:latin typeface="Arial"/>
                <a:ea typeface="Arial"/>
                <a:cs typeface="Arial"/>
              </a:defRPr>
            </a:lvl4pPr>
            <a:lvl5pPr>
              <a:defRPr sz="1425" b="0">
                <a:solidFill>
                  <a:srgbClr val="56B4E9"/>
                </a:solidFill>
                <a:latin typeface="Arial"/>
                <a:ea typeface="Arial"/>
                <a:cs typeface="Arial"/>
              </a:defRPr>
            </a:lvl5pPr>
            <a:lvl6pPr>
              <a:defRPr sz="1425" b="0">
                <a:solidFill>
                  <a:srgbClr val="56B4E9"/>
                </a:solidFill>
                <a:latin typeface="Arial"/>
                <a:ea typeface="Arial"/>
                <a:cs typeface="Arial"/>
              </a:defRPr>
            </a:lvl6pPr>
            <a:lvl7pPr>
              <a:defRPr sz="1425" b="0">
                <a:solidFill>
                  <a:srgbClr val="56B4E9"/>
                </a:solidFill>
                <a:latin typeface="Arial"/>
                <a:ea typeface="Arial"/>
                <a:cs typeface="Arial"/>
              </a:defRPr>
            </a:lvl7pPr>
            <a:lvl8pPr>
              <a:defRPr sz="1425" b="0">
                <a:solidFill>
                  <a:srgbClr val="56B4E9"/>
                </a:solidFill>
                <a:latin typeface="Arial"/>
                <a:ea typeface="Arial"/>
                <a:cs typeface="Arial"/>
              </a:defRPr>
            </a:lvl8pPr>
            <a:lvl9pPr>
              <a:defRPr sz="1425" b="0">
                <a:solidFill>
                  <a:srgbClr val="56B4E9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425" b="0">
                <a:solidFill>
                  <a:srgbClr val="56B4E9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56B4E9"/>
                </a:solidFill>
                <a:latin typeface="Arial"/>
                <a:ea typeface="Arial"/>
                <a:cs typeface="Arial"/>
              </a:rPr>
              <a:t>ST-MTM</a:t>
            </a:r>
          </a:p>
        </p:txBody>
      </p:sp>
      <p:sp>
        <p:nvSpPr>
          <p:cNvPr id="13" name="P = RG-MTM-P">
            <a:extLst xmlns:a="http://schemas.openxmlformats.org/drawingml/2006/main">
              <a:ext uri="{FF2B5EF4-FFF2-40B4-BE49-F238E27FC236}">
                <a16:creationId xmlns:a16="http://schemas.microsoft.com/office/drawing/2014/main" id="{907B64A6-C152-4FAB-8616-A2233AC3B1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15375" y="4514850"/>
            <a:ext cx="40005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>
            <a:defPPr>
              <a:defRPr sz="1425" b="0">
                <a:solidFill>
                  <a:srgbClr val="0072B2"/>
                </a:solidFill>
                <a:latin typeface="Arial"/>
                <a:ea typeface="Arial"/>
                <a:cs typeface="Arial"/>
              </a:defRPr>
            </a:defPPr>
            <a:lvl1pPr>
              <a:defRPr sz="1425" b="0">
                <a:solidFill>
                  <a:srgbClr val="0072B2"/>
                </a:solidFill>
                <a:latin typeface="Arial"/>
                <a:ea typeface="Arial"/>
                <a:cs typeface="Arial"/>
              </a:defRPr>
            </a:lvl1pPr>
            <a:lvl2pPr>
              <a:defRPr sz="1425" b="0">
                <a:solidFill>
                  <a:srgbClr val="0072B2"/>
                </a:solidFill>
                <a:latin typeface="Arial"/>
                <a:ea typeface="Arial"/>
                <a:cs typeface="Arial"/>
              </a:defRPr>
            </a:lvl2pPr>
            <a:lvl3pPr>
              <a:defRPr sz="1425" b="0">
                <a:solidFill>
                  <a:srgbClr val="0072B2"/>
                </a:solidFill>
                <a:latin typeface="Arial"/>
                <a:ea typeface="Arial"/>
                <a:cs typeface="Arial"/>
              </a:defRPr>
            </a:lvl3pPr>
            <a:lvl4pPr>
              <a:defRPr sz="1425" b="0">
                <a:solidFill>
                  <a:srgbClr val="0072B2"/>
                </a:solidFill>
                <a:latin typeface="Arial"/>
                <a:ea typeface="Arial"/>
                <a:cs typeface="Arial"/>
              </a:defRPr>
            </a:lvl4pPr>
            <a:lvl5pPr>
              <a:defRPr sz="1425" b="0">
                <a:solidFill>
                  <a:srgbClr val="0072B2"/>
                </a:solidFill>
                <a:latin typeface="Arial"/>
                <a:ea typeface="Arial"/>
                <a:cs typeface="Arial"/>
              </a:defRPr>
            </a:lvl5pPr>
            <a:lvl6pPr>
              <a:defRPr sz="1425" b="0">
                <a:solidFill>
                  <a:srgbClr val="0072B2"/>
                </a:solidFill>
                <a:latin typeface="Arial"/>
                <a:ea typeface="Arial"/>
                <a:cs typeface="Arial"/>
              </a:defRPr>
            </a:lvl6pPr>
            <a:lvl7pPr>
              <a:defRPr sz="1425" b="0">
                <a:solidFill>
                  <a:srgbClr val="0072B2"/>
                </a:solidFill>
                <a:latin typeface="Arial"/>
                <a:ea typeface="Arial"/>
                <a:cs typeface="Arial"/>
              </a:defRPr>
            </a:lvl7pPr>
            <a:lvl8pPr>
              <a:defRPr sz="1425" b="0">
                <a:solidFill>
                  <a:srgbClr val="0072B2"/>
                </a:solidFill>
                <a:latin typeface="Arial"/>
                <a:ea typeface="Arial"/>
                <a:cs typeface="Arial"/>
              </a:defRPr>
            </a:lvl8pPr>
            <a:lvl9pPr>
              <a:defRPr sz="1425" b="0">
                <a:solidFill>
                  <a:srgbClr val="0072B2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425" b="0">
                <a:solidFill>
                  <a:srgbClr val="0072B2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0072B2"/>
                </a:solidFill>
                <a:latin typeface="Arial"/>
                <a:ea typeface="Arial"/>
                <a:cs typeface="Arial"/>
              </a:rPr>
              <a:t>P = RG-MTM-P</a:t>
            </a:r>
          </a:p>
        </p:txBody>
      </p:sp>
      <p:sp>
        <p:nvSpPr>
          <p:cNvPr id="14" name="R20 = RG-MTM-R (κ = 20%)">
            <a:extLst xmlns:a="http://schemas.openxmlformats.org/drawingml/2006/main">
              <a:ext uri="{FF2B5EF4-FFF2-40B4-BE49-F238E27FC236}">
                <a16:creationId xmlns:a16="http://schemas.microsoft.com/office/drawing/2014/main" id="{9DC9B5DB-7175-4967-98AE-67BC6295D2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15375" y="4819650"/>
            <a:ext cx="40005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>
            <a:defPPr>
              <a:defRPr sz="1425" b="0">
                <a:solidFill>
                  <a:srgbClr val="009E73"/>
                </a:solidFill>
                <a:latin typeface="Arial"/>
                <a:ea typeface="Arial"/>
                <a:cs typeface="Arial"/>
              </a:defRPr>
            </a:defPPr>
            <a:lvl1pPr>
              <a:defRPr sz="1425" b="0">
                <a:solidFill>
                  <a:srgbClr val="009E73"/>
                </a:solidFill>
                <a:latin typeface="Arial"/>
                <a:ea typeface="Arial"/>
                <a:cs typeface="Arial"/>
              </a:defRPr>
            </a:lvl1pPr>
            <a:lvl2pPr>
              <a:defRPr sz="1425" b="0">
                <a:solidFill>
                  <a:srgbClr val="009E73"/>
                </a:solidFill>
                <a:latin typeface="Arial"/>
                <a:ea typeface="Arial"/>
                <a:cs typeface="Arial"/>
              </a:defRPr>
            </a:lvl2pPr>
            <a:lvl3pPr>
              <a:defRPr sz="1425" b="0">
                <a:solidFill>
                  <a:srgbClr val="009E73"/>
                </a:solidFill>
                <a:latin typeface="Arial"/>
                <a:ea typeface="Arial"/>
                <a:cs typeface="Arial"/>
              </a:defRPr>
            </a:lvl3pPr>
            <a:lvl4pPr>
              <a:defRPr sz="1425" b="0">
                <a:solidFill>
                  <a:srgbClr val="009E73"/>
                </a:solidFill>
                <a:latin typeface="Arial"/>
                <a:ea typeface="Arial"/>
                <a:cs typeface="Arial"/>
              </a:defRPr>
            </a:lvl4pPr>
            <a:lvl5pPr>
              <a:defRPr sz="1425" b="0">
                <a:solidFill>
                  <a:srgbClr val="009E73"/>
                </a:solidFill>
                <a:latin typeface="Arial"/>
                <a:ea typeface="Arial"/>
                <a:cs typeface="Arial"/>
              </a:defRPr>
            </a:lvl5pPr>
            <a:lvl6pPr>
              <a:defRPr sz="1425" b="0">
                <a:solidFill>
                  <a:srgbClr val="009E73"/>
                </a:solidFill>
                <a:latin typeface="Arial"/>
                <a:ea typeface="Arial"/>
                <a:cs typeface="Arial"/>
              </a:defRPr>
            </a:lvl6pPr>
            <a:lvl7pPr>
              <a:defRPr sz="1425" b="0">
                <a:solidFill>
                  <a:srgbClr val="009E73"/>
                </a:solidFill>
                <a:latin typeface="Arial"/>
                <a:ea typeface="Arial"/>
                <a:cs typeface="Arial"/>
              </a:defRPr>
            </a:lvl7pPr>
            <a:lvl8pPr>
              <a:defRPr sz="1425" b="0">
                <a:solidFill>
                  <a:srgbClr val="009E73"/>
                </a:solidFill>
                <a:latin typeface="Arial"/>
                <a:ea typeface="Arial"/>
                <a:cs typeface="Arial"/>
              </a:defRPr>
            </a:lvl8pPr>
            <a:lvl9pPr>
              <a:defRPr sz="1425" b="0">
                <a:solidFill>
                  <a:srgbClr val="009E73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425" b="0">
                <a:solidFill>
                  <a:srgbClr val="009E73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009E73"/>
                </a:solidFill>
                <a:latin typeface="Arial"/>
                <a:ea typeface="Arial"/>
                <a:cs typeface="Arial"/>
              </a:rPr>
              <a:t>R20 = RG-MTM-R (κ = 20%)</a:t>
            </a:r>
          </a:p>
        </p:txBody>
      </p:sp>
      <p:sp>
        <p:nvSpPr>
          <p:cNvPr id="15" name="Hilbert">
            <a:extLst xmlns:a="http://schemas.openxmlformats.org/drawingml/2006/main">
              <a:ext uri="{FF2B5EF4-FFF2-40B4-BE49-F238E27FC236}">
                <a16:creationId xmlns:a16="http://schemas.microsoft.com/office/drawing/2014/main" id="{3E388261-36E6-4B31-9572-79F163F3E1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15375" y="5124450"/>
            <a:ext cx="40005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>
            <a:defPPr>
              <a:defRPr sz="1425" b="0">
                <a:solidFill>
                  <a:srgbClr val="D55E00"/>
                </a:solidFill>
                <a:latin typeface="Arial"/>
                <a:ea typeface="Arial"/>
                <a:cs typeface="Arial"/>
              </a:defRPr>
            </a:defPPr>
            <a:lvl1pPr>
              <a:defRPr sz="1425" b="0">
                <a:solidFill>
                  <a:srgbClr val="D55E00"/>
                </a:solidFill>
                <a:latin typeface="Arial"/>
                <a:ea typeface="Arial"/>
                <a:cs typeface="Arial"/>
              </a:defRPr>
            </a:lvl1pPr>
            <a:lvl2pPr>
              <a:defRPr sz="1425" b="0">
                <a:solidFill>
                  <a:srgbClr val="D55E00"/>
                </a:solidFill>
                <a:latin typeface="Arial"/>
                <a:ea typeface="Arial"/>
                <a:cs typeface="Arial"/>
              </a:defRPr>
            </a:lvl2pPr>
            <a:lvl3pPr>
              <a:defRPr sz="1425" b="0">
                <a:solidFill>
                  <a:srgbClr val="D55E00"/>
                </a:solidFill>
                <a:latin typeface="Arial"/>
                <a:ea typeface="Arial"/>
                <a:cs typeface="Arial"/>
              </a:defRPr>
            </a:lvl3pPr>
            <a:lvl4pPr>
              <a:defRPr sz="1425" b="0">
                <a:solidFill>
                  <a:srgbClr val="D55E00"/>
                </a:solidFill>
                <a:latin typeface="Arial"/>
                <a:ea typeface="Arial"/>
                <a:cs typeface="Arial"/>
              </a:defRPr>
            </a:lvl4pPr>
            <a:lvl5pPr>
              <a:defRPr sz="1425" b="0">
                <a:solidFill>
                  <a:srgbClr val="D55E00"/>
                </a:solidFill>
                <a:latin typeface="Arial"/>
                <a:ea typeface="Arial"/>
                <a:cs typeface="Arial"/>
              </a:defRPr>
            </a:lvl5pPr>
            <a:lvl6pPr>
              <a:defRPr sz="1425" b="0">
                <a:solidFill>
                  <a:srgbClr val="D55E00"/>
                </a:solidFill>
                <a:latin typeface="Arial"/>
                <a:ea typeface="Arial"/>
                <a:cs typeface="Arial"/>
              </a:defRPr>
            </a:lvl6pPr>
            <a:lvl7pPr>
              <a:defRPr sz="1425" b="0">
                <a:solidFill>
                  <a:srgbClr val="D55E00"/>
                </a:solidFill>
                <a:latin typeface="Arial"/>
                <a:ea typeface="Arial"/>
                <a:cs typeface="Arial"/>
              </a:defRPr>
            </a:lvl7pPr>
            <a:lvl8pPr>
              <a:defRPr sz="1425" b="0">
                <a:solidFill>
                  <a:srgbClr val="D55E00"/>
                </a:solidFill>
                <a:latin typeface="Arial"/>
                <a:ea typeface="Arial"/>
                <a:cs typeface="Arial"/>
              </a:defRPr>
            </a:lvl8pPr>
            <a:lvl9pPr>
              <a:defRPr sz="1425" b="0">
                <a:solidFill>
                  <a:srgbClr val="D55E00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425" b="0">
                <a:solidFill>
                  <a:srgbClr val="D55E00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D55E00"/>
                </a:solidFill>
                <a:latin typeface="Arial"/>
                <a:ea typeface="Arial"/>
                <a:cs typeface="Arial"/>
              </a:rPr>
              <a:t>Hilbert</a:t>
            </a:r>
          </a:p>
        </p:txBody>
      </p:sp>
      <p:sp>
        <p:nvSpPr>
          <p:cNvPr id="16" name="Morton">
            <a:extLst xmlns:a="http://schemas.openxmlformats.org/drawingml/2006/main">
              <a:ext uri="{FF2B5EF4-FFF2-40B4-BE49-F238E27FC236}">
                <a16:creationId xmlns:a16="http://schemas.microsoft.com/office/drawing/2014/main" id="{1C43B933-1207-46C7-85E3-1F17D08A02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15375" y="5429250"/>
            <a:ext cx="40005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>
            <a:defPPr>
              <a:defRPr sz="1425" b="0">
                <a:solidFill>
                  <a:srgbClr val="CC79A7"/>
                </a:solidFill>
                <a:latin typeface="Arial"/>
                <a:ea typeface="Arial"/>
                <a:cs typeface="Arial"/>
              </a:defRPr>
            </a:defPPr>
            <a:lvl1pPr>
              <a:defRPr sz="1425" b="0">
                <a:solidFill>
                  <a:srgbClr val="CC79A7"/>
                </a:solidFill>
                <a:latin typeface="Arial"/>
                <a:ea typeface="Arial"/>
                <a:cs typeface="Arial"/>
              </a:defRPr>
            </a:lvl1pPr>
            <a:lvl2pPr>
              <a:defRPr sz="1425" b="0">
                <a:solidFill>
                  <a:srgbClr val="CC79A7"/>
                </a:solidFill>
                <a:latin typeface="Arial"/>
                <a:ea typeface="Arial"/>
                <a:cs typeface="Arial"/>
              </a:defRPr>
            </a:lvl2pPr>
            <a:lvl3pPr>
              <a:defRPr sz="1425" b="0">
                <a:solidFill>
                  <a:srgbClr val="CC79A7"/>
                </a:solidFill>
                <a:latin typeface="Arial"/>
                <a:ea typeface="Arial"/>
                <a:cs typeface="Arial"/>
              </a:defRPr>
            </a:lvl3pPr>
            <a:lvl4pPr>
              <a:defRPr sz="1425" b="0">
                <a:solidFill>
                  <a:srgbClr val="CC79A7"/>
                </a:solidFill>
                <a:latin typeface="Arial"/>
                <a:ea typeface="Arial"/>
                <a:cs typeface="Arial"/>
              </a:defRPr>
            </a:lvl4pPr>
            <a:lvl5pPr>
              <a:defRPr sz="1425" b="0">
                <a:solidFill>
                  <a:srgbClr val="CC79A7"/>
                </a:solidFill>
                <a:latin typeface="Arial"/>
                <a:ea typeface="Arial"/>
                <a:cs typeface="Arial"/>
              </a:defRPr>
            </a:lvl5pPr>
            <a:lvl6pPr>
              <a:defRPr sz="1425" b="0">
                <a:solidFill>
                  <a:srgbClr val="CC79A7"/>
                </a:solidFill>
                <a:latin typeface="Arial"/>
                <a:ea typeface="Arial"/>
                <a:cs typeface="Arial"/>
              </a:defRPr>
            </a:lvl6pPr>
            <a:lvl7pPr>
              <a:defRPr sz="1425" b="0">
                <a:solidFill>
                  <a:srgbClr val="CC79A7"/>
                </a:solidFill>
                <a:latin typeface="Arial"/>
                <a:ea typeface="Arial"/>
                <a:cs typeface="Arial"/>
              </a:defRPr>
            </a:lvl7pPr>
            <a:lvl8pPr>
              <a:defRPr sz="1425" b="0">
                <a:solidFill>
                  <a:srgbClr val="CC79A7"/>
                </a:solidFill>
                <a:latin typeface="Arial"/>
                <a:ea typeface="Arial"/>
                <a:cs typeface="Arial"/>
              </a:defRPr>
            </a:lvl8pPr>
            <a:lvl9pPr>
              <a:defRPr sz="1425" b="0">
                <a:solidFill>
                  <a:srgbClr val="CC79A7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425" b="0">
                <a:solidFill>
                  <a:srgbClr val="CC79A7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CC79A7"/>
                </a:solidFill>
                <a:latin typeface="Arial"/>
                <a:ea typeface="Arial"/>
                <a:cs typeface="Arial"/>
              </a:rPr>
              <a:t>Morton</a:t>
            </a:r>
          </a:p>
        </p:txBody>
      </p:sp>
      <p:sp>
        <p:nvSpPr>
          <p:cNvPr id="17" name="Lower stress and higher">
            <a:extLst xmlns:a="http://schemas.openxmlformats.org/drawingml/2006/main">
              <a:ext uri="{FF2B5EF4-FFF2-40B4-BE49-F238E27FC236}">
                <a16:creationId xmlns:a16="http://schemas.microsoft.com/office/drawing/2014/main" id="{646A587B-A780-4C6B-B829-0D71C42B73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7750" y="3267075"/>
            <a:ext cx="4000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>
            <a:defPPr>
              <a:defRPr sz="1500" b="1">
                <a:solidFill>
                  <a:srgbClr val="263238"/>
                </a:solidFill>
                <a:latin typeface="Arial"/>
                <a:ea typeface="Arial"/>
                <a:cs typeface="Arial"/>
              </a:defRPr>
            </a:defPPr>
            <a:lvl1pPr>
              <a:defRPr sz="1500" b="1">
                <a:solidFill>
                  <a:srgbClr val="263238"/>
                </a:solidFill>
                <a:latin typeface="Arial"/>
                <a:ea typeface="Arial"/>
                <a:cs typeface="Arial"/>
              </a:defRPr>
            </a:lvl1pPr>
            <a:lvl2pPr>
              <a:defRPr sz="1500" b="1">
                <a:solidFill>
                  <a:srgbClr val="263238"/>
                </a:solidFill>
                <a:latin typeface="Arial"/>
                <a:ea typeface="Arial"/>
                <a:cs typeface="Arial"/>
              </a:defRPr>
            </a:lvl2pPr>
            <a:lvl3pPr>
              <a:defRPr sz="1500" b="1">
                <a:solidFill>
                  <a:srgbClr val="263238"/>
                </a:solidFill>
                <a:latin typeface="Arial"/>
                <a:ea typeface="Arial"/>
                <a:cs typeface="Arial"/>
              </a:defRPr>
            </a:lvl3pPr>
            <a:lvl4pPr>
              <a:defRPr sz="1500" b="1">
                <a:solidFill>
                  <a:srgbClr val="263238"/>
                </a:solidFill>
                <a:latin typeface="Arial"/>
                <a:ea typeface="Arial"/>
                <a:cs typeface="Arial"/>
              </a:defRPr>
            </a:lvl4pPr>
            <a:lvl5pPr>
              <a:defRPr sz="1500" b="1">
                <a:solidFill>
                  <a:srgbClr val="263238"/>
                </a:solidFill>
                <a:latin typeface="Arial"/>
                <a:ea typeface="Arial"/>
                <a:cs typeface="Arial"/>
              </a:defRPr>
            </a:lvl5pPr>
            <a:lvl6pPr>
              <a:defRPr sz="1500" b="1">
                <a:solidFill>
                  <a:srgbClr val="263238"/>
                </a:solidFill>
                <a:latin typeface="Arial"/>
                <a:ea typeface="Arial"/>
                <a:cs typeface="Arial"/>
              </a:defRPr>
            </a:lvl6pPr>
            <a:lvl7pPr>
              <a:defRPr sz="1500" b="1">
                <a:solidFill>
                  <a:srgbClr val="263238"/>
                </a:solidFill>
                <a:latin typeface="Arial"/>
                <a:ea typeface="Arial"/>
                <a:cs typeface="Arial"/>
              </a:defRPr>
            </a:lvl7pPr>
            <a:lvl8pPr>
              <a:defRPr sz="1500" b="1">
                <a:solidFill>
                  <a:srgbClr val="263238"/>
                </a:solidFill>
                <a:latin typeface="Arial"/>
                <a:ea typeface="Arial"/>
                <a:cs typeface="Arial"/>
              </a:defRPr>
            </a:lvl8pPr>
            <a:lvl9pPr>
              <a:defRPr sz="1500" b="1">
                <a:solidFill>
                  <a:srgbClr val="263238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500" b="1">
                <a:solidFill>
                  <a:srgbClr val="263238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263238"/>
                </a:solidFill>
                <a:latin typeface="Arial"/>
                <a:ea typeface="Arial"/>
                <a:cs typeface="Arial"/>
              </a:rPr>
              <a:t>Lower stress and higher</a:t>
            </a:r>
          </a:p>
        </p:txBody>
      </p:sp>
      <p:sp>
        <p:nvSpPr>
          <p:cNvPr id="18" name="NN preservation are preferable">
            <a:extLst xmlns:a="http://schemas.openxmlformats.org/drawingml/2006/main">
              <a:ext uri="{FF2B5EF4-FFF2-40B4-BE49-F238E27FC236}">
                <a16:creationId xmlns:a16="http://schemas.microsoft.com/office/drawing/2014/main" id="{12A99171-2A23-438A-B676-E7B548079B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7750" y="3524250"/>
            <a:ext cx="4000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>
            <a:defPPr>
              <a:defRPr sz="1500" b="1">
                <a:solidFill>
                  <a:srgbClr val="263238"/>
                </a:solidFill>
                <a:latin typeface="Arial"/>
                <a:ea typeface="Arial"/>
                <a:cs typeface="Arial"/>
              </a:defRPr>
            </a:defPPr>
            <a:lvl1pPr>
              <a:defRPr sz="1500" b="1">
                <a:solidFill>
                  <a:srgbClr val="263238"/>
                </a:solidFill>
                <a:latin typeface="Arial"/>
                <a:ea typeface="Arial"/>
                <a:cs typeface="Arial"/>
              </a:defRPr>
            </a:lvl1pPr>
            <a:lvl2pPr>
              <a:defRPr sz="1500" b="1">
                <a:solidFill>
                  <a:srgbClr val="263238"/>
                </a:solidFill>
                <a:latin typeface="Arial"/>
                <a:ea typeface="Arial"/>
                <a:cs typeface="Arial"/>
              </a:defRPr>
            </a:lvl2pPr>
            <a:lvl3pPr>
              <a:defRPr sz="1500" b="1">
                <a:solidFill>
                  <a:srgbClr val="263238"/>
                </a:solidFill>
                <a:latin typeface="Arial"/>
                <a:ea typeface="Arial"/>
                <a:cs typeface="Arial"/>
              </a:defRPr>
            </a:lvl3pPr>
            <a:lvl4pPr>
              <a:defRPr sz="1500" b="1">
                <a:solidFill>
                  <a:srgbClr val="263238"/>
                </a:solidFill>
                <a:latin typeface="Arial"/>
                <a:ea typeface="Arial"/>
                <a:cs typeface="Arial"/>
              </a:defRPr>
            </a:lvl4pPr>
            <a:lvl5pPr>
              <a:defRPr sz="1500" b="1">
                <a:solidFill>
                  <a:srgbClr val="263238"/>
                </a:solidFill>
                <a:latin typeface="Arial"/>
                <a:ea typeface="Arial"/>
                <a:cs typeface="Arial"/>
              </a:defRPr>
            </a:lvl5pPr>
            <a:lvl6pPr>
              <a:defRPr sz="1500" b="1">
                <a:solidFill>
                  <a:srgbClr val="263238"/>
                </a:solidFill>
                <a:latin typeface="Arial"/>
                <a:ea typeface="Arial"/>
                <a:cs typeface="Arial"/>
              </a:defRPr>
            </a:lvl6pPr>
            <a:lvl7pPr>
              <a:defRPr sz="1500" b="1">
                <a:solidFill>
                  <a:srgbClr val="263238"/>
                </a:solidFill>
                <a:latin typeface="Arial"/>
                <a:ea typeface="Arial"/>
                <a:cs typeface="Arial"/>
              </a:defRPr>
            </a:lvl7pPr>
            <a:lvl8pPr>
              <a:defRPr sz="1500" b="1">
                <a:solidFill>
                  <a:srgbClr val="263238"/>
                </a:solidFill>
                <a:latin typeface="Arial"/>
                <a:ea typeface="Arial"/>
                <a:cs typeface="Arial"/>
              </a:defRPr>
            </a:lvl8pPr>
            <a:lvl9pPr>
              <a:defRPr sz="1500" b="1">
                <a:solidFill>
                  <a:srgbClr val="263238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500" b="1">
                <a:solidFill>
                  <a:srgbClr val="263238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263238"/>
                </a:solidFill>
                <a:latin typeface="Arial"/>
                <a:ea typeface="Arial"/>
                <a:cs typeface="Arial"/>
              </a:rPr>
              <a:t>NN preservation are preferable</a:t>
            </a:r>
          </a:p>
        </p:txBody>
      </p:sp>
      <p:sp>
        <p:nvSpPr>
          <p:cNvPr id="19" name="Frame means use native anchor geometries. Frames with fewer than ">
            <a:extLst xmlns:a="http://schemas.openxmlformats.org/drawingml/2006/main">
              <a:ext uri="{FF2B5EF4-FFF2-40B4-BE49-F238E27FC236}">
                <a16:creationId xmlns:a16="http://schemas.microsoft.com/office/drawing/2014/main" id="{B893EBD7-AA6E-4031-80F9-FD435CB1AD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7650" y="6267450"/>
            <a:ext cx="1233487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>
            <a:defPPr>
              <a:defRPr sz="1275" b="0">
                <a:solidFill>
                  <a:srgbClr val="263238"/>
                </a:solidFill>
                <a:latin typeface="Arial"/>
                <a:ea typeface="Arial"/>
                <a:cs typeface="Arial"/>
              </a:defRPr>
            </a:defPPr>
            <a:lvl1pPr>
              <a:defRPr sz="1275" b="0">
                <a:solidFill>
                  <a:srgbClr val="263238"/>
                </a:solidFill>
                <a:latin typeface="Arial"/>
                <a:ea typeface="Arial"/>
                <a:cs typeface="Arial"/>
              </a:defRPr>
            </a:lvl1pPr>
            <a:lvl2pPr>
              <a:defRPr sz="1275" b="0">
                <a:solidFill>
                  <a:srgbClr val="263238"/>
                </a:solidFill>
                <a:latin typeface="Arial"/>
                <a:ea typeface="Arial"/>
                <a:cs typeface="Arial"/>
              </a:defRPr>
            </a:lvl2pPr>
            <a:lvl3pPr>
              <a:defRPr sz="1275" b="0">
                <a:solidFill>
                  <a:srgbClr val="263238"/>
                </a:solidFill>
                <a:latin typeface="Arial"/>
                <a:ea typeface="Arial"/>
                <a:cs typeface="Arial"/>
              </a:defRPr>
            </a:lvl3pPr>
            <a:lvl4pPr>
              <a:defRPr sz="1275" b="0">
                <a:solidFill>
                  <a:srgbClr val="263238"/>
                </a:solidFill>
                <a:latin typeface="Arial"/>
                <a:ea typeface="Arial"/>
                <a:cs typeface="Arial"/>
              </a:defRPr>
            </a:lvl4pPr>
            <a:lvl5pPr>
              <a:defRPr sz="1275" b="0">
                <a:solidFill>
                  <a:srgbClr val="263238"/>
                </a:solidFill>
                <a:latin typeface="Arial"/>
                <a:ea typeface="Arial"/>
                <a:cs typeface="Arial"/>
              </a:defRPr>
            </a:lvl5pPr>
            <a:lvl6pPr>
              <a:defRPr sz="1275" b="0">
                <a:solidFill>
                  <a:srgbClr val="263238"/>
                </a:solidFill>
                <a:latin typeface="Arial"/>
                <a:ea typeface="Arial"/>
                <a:cs typeface="Arial"/>
              </a:defRPr>
            </a:lvl6pPr>
            <a:lvl7pPr>
              <a:defRPr sz="1275" b="0">
                <a:solidFill>
                  <a:srgbClr val="263238"/>
                </a:solidFill>
                <a:latin typeface="Arial"/>
                <a:ea typeface="Arial"/>
                <a:cs typeface="Arial"/>
              </a:defRPr>
            </a:lvl7pPr>
            <a:lvl8pPr>
              <a:defRPr sz="1275" b="0">
                <a:solidFill>
                  <a:srgbClr val="263238"/>
                </a:solidFill>
                <a:latin typeface="Arial"/>
                <a:ea typeface="Arial"/>
                <a:cs typeface="Arial"/>
              </a:defRPr>
            </a:lvl8pPr>
            <a:lvl9pPr>
              <a:defRPr sz="1275" b="0">
                <a:solidFill>
                  <a:srgbClr val="263238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275" b="0">
                <a:solidFill>
                  <a:srgbClr val="263238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263238"/>
                </a:solidFill>
                <a:latin typeface="Arial"/>
                <a:ea typeface="Arial"/>
                <a:cs typeface="Arial"/>
              </a:rPr>
              <a:t>Frame means use native anchor geometries. Frames with fewer than three extrema are excluded.</a:t>
            </a:r>
          </a:p>
        </p:txBody>
      </p:sp>
    </p:spTree>
    <p:extLst>
      <p:ext uri="{BB962C8B-B14F-4D97-AF65-F5344CB8AC3E}">
        <p14:creationId xmlns:p14="http://schemas.microsoft.com/office/powerpoint/2010/main" val="481578920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2026-10-22T17:38:44.1640000Z</dcterms:created>
  <dcterms:modified xsi:type="dcterms:W3CDTF">2026-10-22T17:38:44.1640000Z</dcterms:modified>
</coreProperties>
</file>