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a9549f830b4f49" /><Relationship Type="http://schemas.openxmlformats.org/officeDocument/2006/relationships/extended-properties" Target="/docProps/app.xml" Id="Ree7368b0f566495d" /><Relationship Type="http://schemas.openxmlformats.org/officeDocument/2006/relationships/officeDocument" Target="/ppt/presentation.xml" Id="Rf4a8ca074680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939b77412f42a3"/>
  </p:sldMasterIdLst>
  <p:notesMasterIdLst>
    <p:notesMasterId xmlns:r="http://schemas.openxmlformats.org/officeDocument/2006/relationships" r:id="R0bd92e6f7ab3441e"/>
  </p:notesMasterIdLst>
  <p:sldIdLst>
    <p:sldId xmlns:r="http://schemas.openxmlformats.org/officeDocument/2006/relationships" id="256" r:id="Re86c878a4fe344c6"/>
  </p:sldIdLst>
  <p:sldSz cx="8572500" cy="5476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c575028e9437c" /><Relationship Type="http://schemas.openxmlformats.org/officeDocument/2006/relationships/slideMaster" Target="/ppt/slideMasters/slideMaster1.xml" Id="R88939b77412f42a3" /><Relationship Type="http://schemas.openxmlformats.org/officeDocument/2006/relationships/notesMaster" Target="/ppt/notesMasters/notesMaster1.xml" Id="R0bd92e6f7ab3441e" /><Relationship Type="http://schemas.openxmlformats.org/officeDocument/2006/relationships/presProps" Target="/ppt/presProps.xml" Id="R89111eab79394e96" /><Relationship Type="http://schemas.openxmlformats.org/officeDocument/2006/relationships/tableStyles" Target="/ppt/tableStyles.xml" Id="Red6f122541234333" /><Relationship Type="http://schemas.openxmlformats.org/officeDocument/2006/relationships/slide" Target="/ppt/slides/slide1.xml" Id="Re86c878a4fe3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de9a51e08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7cdaed6cb4f2f" /><Relationship Type="http://schemas.openxmlformats.org/officeDocument/2006/relationships/notesMaster" Target="/ppt/notesMasters/notesMaster1.xml" Id="R0691b7f97c5749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equal-valued minima with source hierarchy ((A,B),C). Source merge levels are s1 and s2. For relaxed order A,C,B, original-LCA barriers at s2 yield d_top = gamma = s2 - s1. Optimal barriers at (s1+s2)/2 yield gamma/2 when the fixed leaf values lie below that midpoint. The dashed grey curve in (c) repeats the hierarchy-preserving profile in (b). Curves are schematic. Source: author-supplied RG_MTM_Fig3_Fully_Editable.pptx.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76b8986ce4d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f45fdfc5f43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c5062939542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93333368046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230761c3a45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e4c98787a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B049EE-009B-4793-BD1E-999C23421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2194983"/>
            <a:ext cx="6858000" cy="83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380DA4-609E-4131-B2E3-39BE83A877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5875" y="3195638"/>
            <a:ext cx="6000750" cy="64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A6740C-0C66-41A8-8AC4-97B9DBB88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2420938"/>
            <a:ext cx="6858000" cy="96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62122C-4AC8-4C45-8E94-111EA9738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451908"/>
            <a:ext cx="7608094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4AE136-55A2-4615-893C-295ECC3A2B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1613958"/>
            <a:ext cx="7608094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1607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504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58935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80367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01798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23229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44660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166092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18752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884BB0-18F6-4341-BF9A-2DCB89B67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451908"/>
            <a:ext cx="7608094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3760E5-8A55-4773-AC6E-FFB2F717A8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1613958"/>
            <a:ext cx="3536156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1607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504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58935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80367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01798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23229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44660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166092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18752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8E1367-97DB-447D-9A5F-A16743019C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54141" y="1613958"/>
            <a:ext cx="3536156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1607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504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58935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80367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01798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23229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44660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166092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18752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47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B6E5A-8586-4B13-B0D1-1B7F61411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2203" y="451908"/>
            <a:ext cx="7608094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2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C2A26B-83BE-477E-9EB4-57E9955A69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203" y="1613958"/>
            <a:ext cx="3536156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1607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7504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58935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80367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01798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232297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446609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1660922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1875234" indent="-160734" algn="l">
              <a:lnSpc>
                <a:spcPct val="110000"/>
              </a:lnSpc>
              <a:spcBef>
                <a:spcPts val="0"/>
              </a:spcBef>
              <a:spcAft>
                <a:spcPts val="844"/>
              </a:spcAft>
              <a:buChar char="•"/>
              <a:defRPr sz="1582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7503e017f74e18" /><Relationship Type="http://schemas.openxmlformats.org/officeDocument/2006/relationships/slideLayout" Target="/ppt/slideLayouts/slideLayout1.xml" Id="R5071a9227a7b4c56" /><Relationship Type="http://schemas.openxmlformats.org/officeDocument/2006/relationships/slideLayout" Target="/ppt/slideLayouts/slideLayout2.xml" Id="R794f36db247b4624" /><Relationship Type="http://schemas.openxmlformats.org/officeDocument/2006/relationships/slideLayout" Target="/ppt/slideLayouts/slideLayout3.xml" Id="Rd62e0c67677448c4" /><Relationship Type="http://schemas.openxmlformats.org/officeDocument/2006/relationships/slideLayout" Target="/ppt/slideLayouts/slideLayout4.xml" Id="R70912ae899114495" /><Relationship Type="http://schemas.openxmlformats.org/officeDocument/2006/relationships/slideLayout" Target="/ppt/slideLayouts/slideLayout5.xml" Id="Rcd9835e2bf5a485f" /><Relationship Type="http://schemas.openxmlformats.org/officeDocument/2006/relationships/slideLayout" Target="/ppt/slideLayouts/slideLayout6.xml" Id="R9aeb0c772adb43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1a9227a7b4c56"/>
    <p:sldLayoutId xmlns:r="http://schemas.openxmlformats.org/officeDocument/2006/relationships" id="2147483650" r:id="R794f36db247b4624"/>
    <p:sldLayoutId xmlns:r="http://schemas.openxmlformats.org/officeDocument/2006/relationships" id="2147483651" r:id="Rd62e0c67677448c4"/>
    <p:sldLayoutId xmlns:r="http://schemas.openxmlformats.org/officeDocument/2006/relationships" id="2147483652" r:id="R70912ae899114495"/>
    <p:sldLayoutId xmlns:r="http://schemas.openxmlformats.org/officeDocument/2006/relationships" id="2147483653" r:id="Rcd9835e2bf5a485f"/>
    <p:sldLayoutId xmlns:r="http://schemas.openxmlformats.org/officeDocument/2006/relationships" id="2147483654" r:id="R9aeb0c772adb43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3aa16a2fb4fe5" /><Relationship Type="http://schemas.openxmlformats.org/officeDocument/2006/relationships/notesSlide" Target="/ppt/notesSlides/notesSlide1.xml" Id="R7ff86239627245c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A_title">
            <a:extLst xmlns:a="http://schemas.openxmlformats.org/drawingml/2006/main">
              <a:ext uri="{FF2B5EF4-FFF2-40B4-BE49-F238E27FC236}">
                <a16:creationId xmlns:a16="http://schemas.microsoft.com/office/drawing/2014/main" id="{26A3EFCE-F428-4C03-B6E6-A847A19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" y="66675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 Hierarchy–position conflict</a:t>
            </a:r>
          </a:p>
        </p:txBody>
      </p:sp>
      <p:sp>
        <p:nvSpPr>
          <p:cNvPr id="2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A259777D-C2DC-4141-ADCB-86DFF02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1123950" y="567585"/>
            <a:ext cx="95" cy="473773"/>
          </a:xfrm>
          <a:custGeom>
            <a:pathLst>
              <a:path w="95" h="473773">
                <a:moveTo>
                  <a:pt x="0" y="0"/>
                </a:moveTo>
                <a:lnTo>
                  <a:pt x="0" y="47377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3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93FA9582-EA9B-4AB8-8083-ED23EBDF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1123950" y="1041359"/>
            <a:ext cx="95" cy="525380"/>
          </a:xfrm>
          <a:custGeom>
            <a:pathLst>
              <a:path w="95" h="525380">
                <a:moveTo>
                  <a:pt x="0" y="0"/>
                </a:moveTo>
                <a:lnTo>
                  <a:pt x="0" y="52538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4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0B3520F8-81F0-48F8-8BF3-2517FB2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643490" y="1566739"/>
            <a:ext cx="480460" cy="356502"/>
          </a:xfrm>
          <a:custGeom>
            <a:pathLst>
              <a:path w="480460" h="356502">
                <a:moveTo>
                  <a:pt x="480460" y="0"/>
                </a:moveTo>
                <a:lnTo>
                  <a:pt x="0" y="3565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5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A339B99F-BA7C-41FE-BFC1-DA1A2093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1123950" y="1566739"/>
            <a:ext cx="481165" cy="356502"/>
          </a:xfrm>
          <a:custGeom>
            <a:pathLst>
              <a:path w="481165" h="356502">
                <a:moveTo>
                  <a:pt x="0" y="0"/>
                </a:moveTo>
                <a:lnTo>
                  <a:pt x="481165" y="3565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6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BE97096A-3345-4180-8076-93ACEF2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1123950" y="1041359"/>
            <a:ext cx="884587" cy="95"/>
          </a:xfrm>
          <a:custGeom>
            <a:pathLst>
              <a:path w="884587" h="95">
                <a:moveTo>
                  <a:pt x="0" y="0"/>
                </a:moveTo>
                <a:lnTo>
                  <a:pt x="8845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7" name="topology_edge">
            <a:extLst xmlns:a="http://schemas.openxmlformats.org/drawingml/2006/main">
              <a:ext uri="{FF2B5EF4-FFF2-40B4-BE49-F238E27FC236}">
                <a16:creationId xmlns:a16="http://schemas.microsoft.com/office/drawing/2014/main" id="{03DC3BB0-438D-4784-B742-601A914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rot="0" flipH="0" flipV="0">
            <a:off x="2008537" y="1041359"/>
            <a:ext cx="95" cy="881882"/>
          </a:xfrm>
          <a:custGeom>
            <a:pathLst>
              <a:path w="95" h="881882">
                <a:moveTo>
                  <a:pt x="0" y="0"/>
                </a:moveTo>
                <a:lnTo>
                  <a:pt x="0" y="88188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8" name="root_diamond">
            <a:extLst xmlns:a="http://schemas.openxmlformats.org/drawingml/2006/main">
              <a:ext uri="{FF2B5EF4-FFF2-40B4-BE49-F238E27FC236}">
                <a16:creationId xmlns:a16="http://schemas.microsoft.com/office/drawing/2014/main" id="{62B7AEEA-4966-4FBA-A0E3-5EB465E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097" y="466732"/>
            <a:ext cx="201707" cy="201707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9" name="s2_saddle">
            <a:extLst xmlns:a="http://schemas.openxmlformats.org/drawingml/2006/main">
              <a:ext uri="{FF2B5EF4-FFF2-40B4-BE49-F238E27FC236}">
                <a16:creationId xmlns:a16="http://schemas.microsoft.com/office/drawing/2014/main" id="{C34ACA23-036C-43CA-A7DB-7579251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988" y="919396"/>
            <a:ext cx="243925" cy="2439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0" name="s2_text">
            <a:extLst xmlns:a="http://schemas.openxmlformats.org/drawingml/2006/main">
              <a:ext uri="{FF2B5EF4-FFF2-40B4-BE49-F238E27FC236}">
                <a16:creationId xmlns:a16="http://schemas.microsoft.com/office/drawing/2014/main" id="{36AD0177-D0B4-42EF-9FEB-C8960FC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903172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188" b="1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1_relaxable_saddle">
            <a:extLst xmlns:a="http://schemas.openxmlformats.org/drawingml/2006/main">
              <a:ext uri="{FF2B5EF4-FFF2-40B4-BE49-F238E27FC236}">
                <a16:creationId xmlns:a16="http://schemas.microsoft.com/office/drawing/2014/main" id="{FACAD3D4-3560-4165-805B-1AC1DD9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297" y="1440085"/>
            <a:ext cx="253307" cy="253307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2" name="s1_text">
            <a:extLst xmlns:a="http://schemas.openxmlformats.org/drawingml/2006/main">
              <a:ext uri="{FF2B5EF4-FFF2-40B4-BE49-F238E27FC236}">
                <a16:creationId xmlns:a16="http://schemas.microsoft.com/office/drawing/2014/main" id="{3036D160-E78B-4528-B3B8-04838E3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450" y="1433241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188" b="1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gular_node_0">
            <a:extLst xmlns:a="http://schemas.openxmlformats.org/drawingml/2006/main">
              <a:ext uri="{FF2B5EF4-FFF2-40B4-BE49-F238E27FC236}">
                <a16:creationId xmlns:a16="http://schemas.microsoft.com/office/drawing/2014/main" id="{AD3265D5-A34A-4CAC-A89F-691A26F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387" y="734106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4" name="regular_node_1">
            <a:extLst xmlns:a="http://schemas.openxmlformats.org/drawingml/2006/main">
              <a:ext uri="{FF2B5EF4-FFF2-40B4-BE49-F238E27FC236}">
                <a16:creationId xmlns:a16="http://schemas.microsoft.com/office/drawing/2014/main" id="{9D7781E5-1DFC-43FA-8E27-241CAC29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9387" y="1259486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5" name="regular_node_2">
            <a:extLst xmlns:a="http://schemas.openxmlformats.org/drawingml/2006/main">
              <a:ext uri="{FF2B5EF4-FFF2-40B4-BE49-F238E27FC236}">
                <a16:creationId xmlns:a16="http://schemas.microsoft.com/office/drawing/2014/main" id="{CFE23D4B-BEC6-4965-8A72-3608173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525" y="1725382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6" name="regular_node_3">
            <a:extLst xmlns:a="http://schemas.openxmlformats.org/drawingml/2006/main">
              <a:ext uri="{FF2B5EF4-FFF2-40B4-BE49-F238E27FC236}">
                <a16:creationId xmlns:a16="http://schemas.microsoft.com/office/drawing/2014/main" id="{D65B9BCE-6461-47E3-857B-DB2A969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3651" y="1725382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7" name="regular_node_4">
            <a:extLst xmlns:a="http://schemas.openxmlformats.org/drawingml/2006/main">
              <a:ext uri="{FF2B5EF4-FFF2-40B4-BE49-F238E27FC236}">
                <a16:creationId xmlns:a16="http://schemas.microsoft.com/office/drawing/2014/main" id="{A96EB94F-7A65-4AB4-A449-3640B58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3974" y="1290756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8" name="regular_node_5">
            <a:extLst xmlns:a="http://schemas.openxmlformats.org/drawingml/2006/main">
              <a:ext uri="{FF2B5EF4-FFF2-40B4-BE49-F238E27FC236}">
                <a16:creationId xmlns:a16="http://schemas.microsoft.com/office/drawing/2014/main" id="{67C2622D-7355-4730-92D9-1D65A43B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3974" y="1584717"/>
            <a:ext cx="89126" cy="891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19" name="leaf_A">
            <a:extLst xmlns:a="http://schemas.openxmlformats.org/drawingml/2006/main">
              <a:ext uri="{FF2B5EF4-FFF2-40B4-BE49-F238E27FC236}">
                <a16:creationId xmlns:a16="http://schemas.microsoft.com/office/drawing/2014/main" id="{AD389F1B-B88E-44BC-B2DF-3C38685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1803623"/>
            <a:ext cx="239234" cy="23923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20" name="leaf_label_A">
            <a:extLst xmlns:a="http://schemas.openxmlformats.org/drawingml/2006/main">
              <a:ext uri="{FF2B5EF4-FFF2-40B4-BE49-F238E27FC236}">
                <a16:creationId xmlns:a16="http://schemas.microsoft.com/office/drawing/2014/main" id="{60CE970D-F9BD-4CEF-A624-BC34AF5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892" y="197034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" name="leaf_B">
            <a:extLst xmlns:a="http://schemas.openxmlformats.org/drawingml/2006/main">
              <a:ext uri="{FF2B5EF4-FFF2-40B4-BE49-F238E27FC236}">
                <a16:creationId xmlns:a16="http://schemas.microsoft.com/office/drawing/2014/main" id="{D83E1952-4D3E-4E5D-97FC-09C854EB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504" y="1803623"/>
            <a:ext cx="239234" cy="23923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22" name="leaf_label_B">
            <a:extLst xmlns:a="http://schemas.openxmlformats.org/drawingml/2006/main">
              <a:ext uri="{FF2B5EF4-FFF2-40B4-BE49-F238E27FC236}">
                <a16:creationId xmlns:a16="http://schemas.microsoft.com/office/drawing/2014/main" id="{66EFCB12-2778-4CFF-B2B8-68E9FEF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521" y="197034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" name="leaf_C">
            <a:extLst xmlns:a="http://schemas.openxmlformats.org/drawingml/2006/main">
              <a:ext uri="{FF2B5EF4-FFF2-40B4-BE49-F238E27FC236}">
                <a16:creationId xmlns:a16="http://schemas.microsoft.com/office/drawing/2014/main" id="{BCCDB565-4F99-4202-B2B0-64004894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8920" y="1803623"/>
            <a:ext cx="239234" cy="23923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4764">
            <a:solidFill>
              <a:srgbClr val="263238"/>
            </a:solidFill>
            <a:prstDash val="solid"/>
          </a:ln>
        </p:spPr>
      </p:sp>
      <p:sp>
        <p:nvSpPr>
          <p:cNvPr id="24" name="leaf_label_C">
            <a:extLst xmlns:a="http://schemas.openxmlformats.org/drawingml/2006/main">
              <a:ext uri="{FF2B5EF4-FFF2-40B4-BE49-F238E27FC236}">
                <a16:creationId xmlns:a16="http://schemas.microsoft.com/office/drawing/2014/main" id="{2D293BB5-60E2-4DC1-8CFD-B9FF3DE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9935" y="1970342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" name="relax_s1_dashed_ellipse">
            <a:extLst xmlns:a="http://schemas.openxmlformats.org/drawingml/2006/main">
              <a:ext uri="{FF2B5EF4-FFF2-40B4-BE49-F238E27FC236}">
                <a16:creationId xmlns:a16="http://schemas.microsoft.com/office/drawing/2014/main" id="{259B88DF-6CBC-4094-BCC2-12E7EFF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475" y="1369718"/>
            <a:ext cx="450323" cy="3940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7B8790"/>
            </a:solidFill>
            <a:prstDash val="dash"/>
          </a:ln>
        </p:spPr>
      </p:sp>
      <p:sp>
        <p:nvSpPr>
          <p:cNvPr id="26" name="relax_callout">
            <a:extLst xmlns:a="http://schemas.openxmlformats.org/drawingml/2006/main">
              <a:ext uri="{FF2B5EF4-FFF2-40B4-BE49-F238E27FC236}">
                <a16:creationId xmlns:a16="http://schemas.microsoft.com/office/drawing/2014/main" id="{395A4E1B-8BC9-419C-9FC6-C3DF6E9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466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relax</a:t>
            </a:r>
          </a:p>
        </p:txBody>
      </p:sp>
      <p:sp>
        <p:nvSpPr>
          <p:cNvPr id="27" name="label_Tree-consistent">
            <a:extLst xmlns:a="http://schemas.openxmlformats.org/drawingml/2006/main">
              <a:ext uri="{FF2B5EF4-FFF2-40B4-BE49-F238E27FC236}">
                <a16:creationId xmlns:a16="http://schemas.microsoft.com/office/drawing/2014/main" id="{63F4BA33-B5B2-4B8F-9E69-29FE69C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62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Tree-consistent</a:t>
            </a:r>
          </a:p>
        </p:txBody>
      </p:sp>
      <p:sp>
        <p:nvSpPr>
          <p:cNvPr id="28" name="order_Tree-consistent_A">
            <a:extLst xmlns:a="http://schemas.openxmlformats.org/drawingml/2006/main">
              <a:ext uri="{FF2B5EF4-FFF2-40B4-BE49-F238E27FC236}">
                <a16:creationId xmlns:a16="http://schemas.microsoft.com/office/drawing/2014/main" id="{74E3C419-8DEC-4F4C-AB90-A62948F2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981075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rder_label_Tree-consistent_A">
            <a:extLst xmlns:a="http://schemas.openxmlformats.org/drawingml/2006/main">
              <a:ext uri="{FF2B5EF4-FFF2-40B4-BE49-F238E27FC236}">
                <a16:creationId xmlns:a16="http://schemas.microsoft.com/office/drawing/2014/main" id="{4A6F8533-83C8-43F7-AFE4-34051477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989305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order_Tree-consistent_B">
            <a:extLst xmlns:a="http://schemas.openxmlformats.org/drawingml/2006/main">
              <a:ext uri="{FF2B5EF4-FFF2-40B4-BE49-F238E27FC236}">
                <a16:creationId xmlns:a16="http://schemas.microsoft.com/office/drawing/2014/main" id="{32EDEDED-F4F0-4625-B14E-18953F9A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6777" y="981075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rder_label_Tree-consistent_B">
            <a:extLst xmlns:a="http://schemas.openxmlformats.org/drawingml/2006/main">
              <a:ext uri="{FF2B5EF4-FFF2-40B4-BE49-F238E27FC236}">
                <a16:creationId xmlns:a16="http://schemas.microsoft.com/office/drawing/2014/main" id="{D51C4D04-3B16-48AD-9D73-C2892D4C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6777" y="989305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2" name="order_Tree-consistent_C">
            <a:extLst xmlns:a="http://schemas.openxmlformats.org/drawingml/2006/main">
              <a:ext uri="{FF2B5EF4-FFF2-40B4-BE49-F238E27FC236}">
                <a16:creationId xmlns:a16="http://schemas.microsoft.com/office/drawing/2014/main" id="{DDD1B84A-14EF-410E-AF6B-9B0B87FC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2680" y="981075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rder_label_Tree-consistent_C">
            <a:extLst xmlns:a="http://schemas.openxmlformats.org/drawingml/2006/main">
              <a:ext uri="{FF2B5EF4-FFF2-40B4-BE49-F238E27FC236}">
                <a16:creationId xmlns:a16="http://schemas.microsoft.com/office/drawing/2014/main" id="{690E451E-8B72-4679-8709-69718CF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2680" y="989305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label_Spatial_reference">
            <a:extLst xmlns:a="http://schemas.openxmlformats.org/drawingml/2006/main">
              <a:ext uri="{FF2B5EF4-FFF2-40B4-BE49-F238E27FC236}">
                <a16:creationId xmlns:a16="http://schemas.microsoft.com/office/drawing/2014/main" id="{73577A0A-0817-41A9-B2B7-8B989AA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1743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 reference</a:t>
            </a:r>
          </a:p>
        </p:txBody>
      </p:sp>
      <p:sp>
        <p:nvSpPr>
          <p:cNvPr id="35" name="order_Spatial reference_A">
            <a:extLst xmlns:a="http://schemas.openxmlformats.org/drawingml/2006/main">
              <a:ext uri="{FF2B5EF4-FFF2-40B4-BE49-F238E27FC236}">
                <a16:creationId xmlns:a16="http://schemas.microsoft.com/office/drawing/2014/main" id="{A57A6045-0D54-4C13-AA07-DC7A726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2038349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rder_label_Spatial reference_A">
            <a:extLst xmlns:a="http://schemas.openxmlformats.org/drawingml/2006/main">
              <a:ext uri="{FF2B5EF4-FFF2-40B4-BE49-F238E27FC236}">
                <a16:creationId xmlns:a16="http://schemas.microsoft.com/office/drawing/2014/main" id="{139B4882-5CC4-449A-A677-FDF946E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0875" y="2046579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7" name="order_Spatial reference_C">
            <a:extLst xmlns:a="http://schemas.openxmlformats.org/drawingml/2006/main">
              <a:ext uri="{FF2B5EF4-FFF2-40B4-BE49-F238E27FC236}">
                <a16:creationId xmlns:a16="http://schemas.microsoft.com/office/drawing/2014/main" id="{81912E2A-C28B-4704-884B-04DA6786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6777" y="2038349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rder_label_Spatial reference_C">
            <a:extLst xmlns:a="http://schemas.openxmlformats.org/drawingml/2006/main">
              <a:ext uri="{FF2B5EF4-FFF2-40B4-BE49-F238E27FC236}">
                <a16:creationId xmlns:a16="http://schemas.microsoft.com/office/drawing/2014/main" id="{BFDBE585-E9F0-41B5-9A04-AB76B8D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6777" y="2046579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" name="order_Spatial reference_B">
            <a:extLst xmlns:a="http://schemas.openxmlformats.org/drawingml/2006/main">
              <a:ext uri="{FF2B5EF4-FFF2-40B4-BE49-F238E27FC236}">
                <a16:creationId xmlns:a16="http://schemas.microsoft.com/office/drawing/2014/main" id="{938CF045-8CFC-46BE-85B5-4FEA9E3A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2680" y="2038349"/>
            <a:ext cx="1326611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rder_label_Spatial reference_B">
            <a:extLst xmlns:a="http://schemas.openxmlformats.org/drawingml/2006/main">
              <a:ext uri="{FF2B5EF4-FFF2-40B4-BE49-F238E27FC236}">
                <a16:creationId xmlns:a16="http://schemas.microsoft.com/office/drawing/2014/main" id="{9BB4922F-2C06-4F7A-9413-F1257C0A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2680" y="2046579"/>
            <a:ext cx="132661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41" name="exchange_B_correspondence">
            <a:extLst xmlns:a="http://schemas.openxmlformats.org/drawingml/2006/main">
              <a:ext uri="{FF2B5EF4-FFF2-40B4-BE49-F238E27FC236}">
                <a16:creationId xmlns:a16="http://schemas.microsoft.com/office/drawing/2014/main" id="{C5EC7AB6-37EC-4D96-AF7F-AADA35519300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5270083" y="1269111"/>
            <a:ext cx="1415903" cy="7692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5E00"/>
            </a:solidFill>
            <a:tailEnd type="triangle" w="sm" len="sm"/>
          </a:ln>
        </p:spPr>
      </p:cxnSp>
      <p:cxnSp>
        <p:nvCxnSpPr>
          <p:cNvPr id="42" name="exchange_C_correspondence">
            <a:extLst xmlns:a="http://schemas.openxmlformats.org/drawingml/2006/main">
              <a:ext uri="{FF2B5EF4-FFF2-40B4-BE49-F238E27FC236}">
                <a16:creationId xmlns:a16="http://schemas.microsoft.com/office/drawing/2014/main" id="{0F4146E7-DF19-416E-B583-C32C0EE37513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5270083" y="1269111"/>
            <a:ext cx="1415903" cy="7692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9E73"/>
            </a:solidFill>
            <a:tailEnd type="triangle" w="sm" len="sm"/>
          </a:ln>
        </p:spPr>
      </p:cxnSp>
      <p:sp>
        <p:nvSpPr>
          <p:cNvPr id="43" name="a_b_separator">
            <a:extLst xmlns:a="http://schemas.openxmlformats.org/drawingml/2006/main">
              <a:ext uri="{FF2B5EF4-FFF2-40B4-BE49-F238E27FC236}">
                <a16:creationId xmlns:a16="http://schemas.microsoft.com/office/drawing/2014/main" id="{9EFDEB0C-EA06-439A-B4FC-0AE8A26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" y="2495550"/>
            <a:ext cx="8229600" cy="953"/>
          </a:xfrm>
          <a:custGeom xmlns:a="http://schemas.openxmlformats.org/drawingml/2006/main">
            <a:pathLst>
              <a:path w="8229600" h="953">
                <a:moveTo>
                  <a:pt x="0" y="0"/>
                </a:moveTo>
                <a:lnTo>
                  <a:pt x="82296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DAE3E8"/>
            </a:solidFill>
            <a:prstDash val="solid"/>
          </a:ln>
        </p:spPr>
      </p:sp>
      <p:sp>
        <p:nvSpPr>
          <p:cNvPr id="44" name="B_title">
            <a:extLst xmlns:a="http://schemas.openxmlformats.org/drawingml/2006/main">
              <a:ext uri="{FF2B5EF4-FFF2-40B4-BE49-F238E27FC236}">
                <a16:creationId xmlns:a16="http://schemas.microsoft.com/office/drawing/2014/main" id="{C24CCF3B-79B0-49D4-A7ED-D815071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" y="262890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LCA filling</a:t>
            </a:r>
          </a:p>
        </p:txBody>
      </p:sp>
      <p:sp>
        <p:nvSpPr>
          <p:cNvPr id="45" name="B_topology_label">
            <a:extLst xmlns:a="http://schemas.openxmlformats.org/drawingml/2006/main">
              <a:ext uri="{FF2B5EF4-FFF2-40B4-BE49-F238E27FC236}">
                <a16:creationId xmlns:a16="http://schemas.microsoft.com/office/drawing/2014/main" id="{0003E3F6-179B-451C-8539-E400B98F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3286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A–C–B</a:t>
            </a:r>
          </a:p>
        </p:txBody>
      </p:sp>
      <p:sp>
        <p:nvSpPr>
          <p:cNvPr id="46" name="B_s₁_level">
            <a:extLst xmlns:a="http://schemas.openxmlformats.org/drawingml/2006/main">
              <a:ext uri="{FF2B5EF4-FFF2-40B4-BE49-F238E27FC236}">
                <a16:creationId xmlns:a16="http://schemas.microsoft.com/office/drawing/2014/main" id="{ADEB72BE-275A-4C9B-AAB9-5B12F3A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4319732"/>
            <a:ext cx="3454210" cy="95"/>
          </a:xfrm>
          <a:custGeom xmlns:a="http://schemas.openxmlformats.org/drawingml/2006/main">
            <a:pathLst>
              <a:path w="3454210" h="95">
                <a:moveTo>
                  <a:pt x="0" y="0"/>
                </a:moveTo>
                <a:lnTo>
                  <a:pt x="3454210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7B8790"/>
            </a:solidFill>
            <a:prstDash val="dash"/>
          </a:ln>
        </p:spPr>
      </p:sp>
      <p:sp>
        <p:nvSpPr>
          <p:cNvPr id="47" name="B_s₁_label">
            <a:extLst xmlns:a="http://schemas.openxmlformats.org/drawingml/2006/main">
              <a:ext uri="{FF2B5EF4-FFF2-40B4-BE49-F238E27FC236}">
                <a16:creationId xmlns:a16="http://schemas.microsoft.com/office/drawing/2014/main" id="{7FD3BE84-9936-4532-8448-38F9A65A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0025" y="4206846"/>
            <a:ext cx="30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296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B_s₂_level">
            <a:extLst xmlns:a="http://schemas.openxmlformats.org/drawingml/2006/main">
              <a:ext uri="{FF2B5EF4-FFF2-40B4-BE49-F238E27FC236}">
                <a16:creationId xmlns:a16="http://schemas.microsoft.com/office/drawing/2014/main" id="{D67679C6-62B5-4FBF-83F9-4F1ABE29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3872947"/>
            <a:ext cx="3454210" cy="95"/>
          </a:xfrm>
          <a:custGeom xmlns:a="http://schemas.openxmlformats.org/drawingml/2006/main">
            <a:pathLst>
              <a:path w="3454210" h="95">
                <a:moveTo>
                  <a:pt x="0" y="0"/>
                </a:moveTo>
                <a:lnTo>
                  <a:pt x="3454210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7B8790"/>
            </a:solidFill>
            <a:prstDash val="dash"/>
          </a:ln>
        </p:spPr>
      </p:sp>
      <p:sp>
        <p:nvSpPr>
          <p:cNvPr id="49" name="B_s₂_label">
            <a:extLst xmlns:a="http://schemas.openxmlformats.org/drawingml/2006/main">
              <a:ext uri="{FF2B5EF4-FFF2-40B4-BE49-F238E27FC236}">
                <a16:creationId xmlns:a16="http://schemas.microsoft.com/office/drawing/2014/main" id="{1DDD2B55-09D1-4BBF-BE52-A40EA8B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0025" y="3760061"/>
            <a:ext cx="30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296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B_y_axis">
            <a:extLst xmlns:a="http://schemas.openxmlformats.org/drawingml/2006/main">
              <a:ext uri="{FF2B5EF4-FFF2-40B4-BE49-F238E27FC236}">
                <a16:creationId xmlns:a16="http://schemas.microsoft.com/office/drawing/2014/main" id="{EFE46021-191C-4596-B149-DA400AA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3667125"/>
            <a:ext cx="95" cy="1104412"/>
          </a:xfrm>
          <a:custGeom xmlns:a="http://schemas.openxmlformats.org/drawingml/2006/main">
            <a:pathLst>
              <a:path w="95" h="1104412">
                <a:moveTo>
                  <a:pt x="0" y="0"/>
                </a:moveTo>
                <a:lnTo>
                  <a:pt x="95" y="1104412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63238"/>
            </a:solidFill>
            <a:prstDash val="solid"/>
          </a:ln>
        </p:spPr>
      </p:sp>
      <p:sp>
        <p:nvSpPr>
          <p:cNvPr id="51" name="B_x_axis">
            <a:extLst xmlns:a="http://schemas.openxmlformats.org/drawingml/2006/main">
              <a:ext uri="{FF2B5EF4-FFF2-40B4-BE49-F238E27FC236}">
                <a16:creationId xmlns:a16="http://schemas.microsoft.com/office/drawing/2014/main" id="{29379651-AE8F-4E49-9730-3F9DC5F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4766517"/>
            <a:ext cx="3458407" cy="95"/>
          </a:xfrm>
          <a:custGeom xmlns:a="http://schemas.openxmlformats.org/drawingml/2006/main">
            <a:pathLst>
              <a:path w="3458407" h="95">
                <a:moveTo>
                  <a:pt x="0" y="0"/>
                </a:moveTo>
                <a:lnTo>
                  <a:pt x="345840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63238"/>
            </a:solidFill>
            <a:prstDash val="solid"/>
          </a:ln>
        </p:spPr>
      </p:sp>
      <p:sp>
        <p:nvSpPr>
          <p:cNvPr id="52" name="B_f">
            <a:extLst xmlns:a="http://schemas.openxmlformats.org/drawingml/2006/main">
              <a:ext uri="{FF2B5EF4-FFF2-40B4-BE49-F238E27FC236}">
                <a16:creationId xmlns:a16="http://schemas.microsoft.com/office/drawing/2014/main" id="{5695CB72-F748-466D-80AF-7C5263F8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3850" y="3543300"/>
            <a:ext cx="23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3" name="B_u">
            <a:extLst xmlns:a="http://schemas.openxmlformats.org/drawingml/2006/main">
              <a:ext uri="{FF2B5EF4-FFF2-40B4-BE49-F238E27FC236}">
                <a16:creationId xmlns:a16="http://schemas.microsoft.com/office/drawing/2014/main" id="{943429F1-3F34-4F26-AD5B-A346C84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8125" y="4657725"/>
            <a:ext cx="23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54" name="B_P_res_true_profile">
            <a:extLst xmlns:a="http://schemas.openxmlformats.org/drawingml/2006/main">
              <a:ext uri="{FF2B5EF4-FFF2-40B4-BE49-F238E27FC236}">
                <a16:creationId xmlns:a16="http://schemas.microsoft.com/office/drawing/2014/main" id="{FE4842DF-9938-4CD5-B8E0-529A1D4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3716572"/>
            <a:ext cx="3454210" cy="1049945"/>
          </a:xfrm>
          <a:custGeom xmlns:a="http://schemas.openxmlformats.org/drawingml/2006/main">
            <a:pathLst>
              <a:path w="6772960" h="1721221">
                <a:moveTo>
                  <a:pt x="0" y="0"/>
                </a:moveTo>
                <a:lnTo>
                  <a:pt x="52597" y="8016"/>
                </a:lnTo>
                <a:lnTo>
                  <a:pt x="105195" y="31914"/>
                </a:lnTo>
                <a:lnTo>
                  <a:pt x="157793" y="71249"/>
                </a:lnTo>
                <a:lnTo>
                  <a:pt x="210391" y="125289"/>
                </a:lnTo>
                <a:lnTo>
                  <a:pt x="262989" y="193026"/>
                </a:lnTo>
                <a:lnTo>
                  <a:pt x="315587" y="273198"/>
                </a:lnTo>
                <a:lnTo>
                  <a:pt x="368185" y="364314"/>
                </a:lnTo>
                <a:lnTo>
                  <a:pt x="420783" y="464674"/>
                </a:lnTo>
                <a:lnTo>
                  <a:pt x="473381" y="572410"/>
                </a:lnTo>
                <a:lnTo>
                  <a:pt x="525978" y="685514"/>
                </a:lnTo>
                <a:lnTo>
                  <a:pt x="578576" y="801881"/>
                </a:lnTo>
                <a:lnTo>
                  <a:pt x="631174" y="919341"/>
                </a:lnTo>
                <a:lnTo>
                  <a:pt x="683772" y="1035707"/>
                </a:lnTo>
                <a:lnTo>
                  <a:pt x="736370" y="1148812"/>
                </a:lnTo>
                <a:lnTo>
                  <a:pt x="788968" y="1256548"/>
                </a:lnTo>
                <a:lnTo>
                  <a:pt x="841566" y="1356908"/>
                </a:lnTo>
                <a:lnTo>
                  <a:pt x="894164" y="1448023"/>
                </a:lnTo>
                <a:lnTo>
                  <a:pt x="946761" y="1528196"/>
                </a:lnTo>
                <a:lnTo>
                  <a:pt x="999359" y="1595933"/>
                </a:lnTo>
                <a:lnTo>
                  <a:pt x="1051957" y="1649972"/>
                </a:lnTo>
                <a:lnTo>
                  <a:pt x="1104555" y="1689307"/>
                </a:lnTo>
                <a:lnTo>
                  <a:pt x="1157153" y="1713205"/>
                </a:lnTo>
                <a:lnTo>
                  <a:pt x="1209751" y="1721221"/>
                </a:lnTo>
                <a:lnTo>
                  <a:pt x="1260560" y="1717810"/>
                </a:lnTo>
                <a:lnTo>
                  <a:pt x="1311368" y="1707641"/>
                </a:lnTo>
                <a:lnTo>
                  <a:pt x="1362177" y="1690903"/>
                </a:lnTo>
                <a:lnTo>
                  <a:pt x="1412986" y="1667907"/>
                </a:lnTo>
                <a:lnTo>
                  <a:pt x="1463795" y="1639083"/>
                </a:lnTo>
                <a:lnTo>
                  <a:pt x="1514604" y="1604967"/>
                </a:lnTo>
                <a:lnTo>
                  <a:pt x="1565413" y="1566194"/>
                </a:lnTo>
                <a:lnTo>
                  <a:pt x="1616221" y="1523488"/>
                </a:lnTo>
                <a:lnTo>
                  <a:pt x="1667030" y="1477643"/>
                </a:lnTo>
                <a:lnTo>
                  <a:pt x="1717839" y="1429513"/>
                </a:lnTo>
                <a:lnTo>
                  <a:pt x="1768648" y="1379996"/>
                </a:lnTo>
                <a:lnTo>
                  <a:pt x="1819457" y="1330012"/>
                </a:lnTo>
                <a:lnTo>
                  <a:pt x="1870266" y="1280495"/>
                </a:lnTo>
                <a:lnTo>
                  <a:pt x="1921074" y="1232365"/>
                </a:lnTo>
                <a:lnTo>
                  <a:pt x="1971883" y="1186520"/>
                </a:lnTo>
                <a:lnTo>
                  <a:pt x="2022692" y="1143814"/>
                </a:lnTo>
                <a:lnTo>
                  <a:pt x="2073501" y="1105041"/>
                </a:lnTo>
                <a:lnTo>
                  <a:pt x="2124310" y="1070925"/>
                </a:lnTo>
                <a:lnTo>
                  <a:pt x="2175119" y="1042101"/>
                </a:lnTo>
                <a:lnTo>
                  <a:pt x="2225927" y="1019105"/>
                </a:lnTo>
                <a:lnTo>
                  <a:pt x="2276736" y="1002367"/>
                </a:lnTo>
                <a:lnTo>
                  <a:pt x="2327545" y="992198"/>
                </a:lnTo>
                <a:lnTo>
                  <a:pt x="2378354" y="988787"/>
                </a:lnTo>
                <a:lnTo>
                  <a:pt x="2428805" y="992198"/>
                </a:lnTo>
                <a:lnTo>
                  <a:pt x="2479256" y="1002367"/>
                </a:lnTo>
                <a:lnTo>
                  <a:pt x="2529707" y="1019105"/>
                </a:lnTo>
                <a:lnTo>
                  <a:pt x="2580158" y="1042101"/>
                </a:lnTo>
                <a:lnTo>
                  <a:pt x="2630609" y="1070925"/>
                </a:lnTo>
                <a:lnTo>
                  <a:pt x="2681060" y="1105041"/>
                </a:lnTo>
                <a:lnTo>
                  <a:pt x="2731511" y="1143814"/>
                </a:lnTo>
                <a:lnTo>
                  <a:pt x="2781962" y="1186520"/>
                </a:lnTo>
                <a:lnTo>
                  <a:pt x="2832413" y="1232365"/>
                </a:lnTo>
                <a:lnTo>
                  <a:pt x="2882864" y="1280495"/>
                </a:lnTo>
                <a:lnTo>
                  <a:pt x="2933315" y="1330012"/>
                </a:lnTo>
                <a:lnTo>
                  <a:pt x="2983766" y="1379996"/>
                </a:lnTo>
                <a:lnTo>
                  <a:pt x="3034217" y="1429513"/>
                </a:lnTo>
                <a:lnTo>
                  <a:pt x="3084668" y="1477643"/>
                </a:lnTo>
                <a:lnTo>
                  <a:pt x="3135119" y="1523488"/>
                </a:lnTo>
                <a:lnTo>
                  <a:pt x="3185570" y="1566194"/>
                </a:lnTo>
                <a:lnTo>
                  <a:pt x="3236021" y="1604967"/>
                </a:lnTo>
                <a:lnTo>
                  <a:pt x="3286472" y="1639083"/>
                </a:lnTo>
                <a:lnTo>
                  <a:pt x="3336923" y="1667907"/>
                </a:lnTo>
                <a:lnTo>
                  <a:pt x="3387375" y="1690903"/>
                </a:lnTo>
                <a:lnTo>
                  <a:pt x="3437826" y="1707641"/>
                </a:lnTo>
                <a:lnTo>
                  <a:pt x="3488277" y="1717810"/>
                </a:lnTo>
                <a:lnTo>
                  <a:pt x="3538728" y="1721221"/>
                </a:lnTo>
                <a:lnTo>
                  <a:pt x="3589179" y="1714399"/>
                </a:lnTo>
                <a:lnTo>
                  <a:pt x="3639630" y="1694061"/>
                </a:lnTo>
                <a:lnTo>
                  <a:pt x="3690081" y="1660584"/>
                </a:lnTo>
                <a:lnTo>
                  <a:pt x="3740532" y="1614593"/>
                </a:lnTo>
                <a:lnTo>
                  <a:pt x="3790983" y="1556944"/>
                </a:lnTo>
                <a:lnTo>
                  <a:pt x="3841434" y="1488712"/>
                </a:lnTo>
                <a:lnTo>
                  <a:pt x="3891885" y="1411167"/>
                </a:lnTo>
                <a:lnTo>
                  <a:pt x="3942336" y="1325754"/>
                </a:lnTo>
                <a:lnTo>
                  <a:pt x="3992787" y="1234064"/>
                </a:lnTo>
                <a:lnTo>
                  <a:pt x="4043238" y="1137805"/>
                </a:lnTo>
                <a:lnTo>
                  <a:pt x="4093689" y="1038770"/>
                </a:lnTo>
                <a:lnTo>
                  <a:pt x="4144140" y="938804"/>
                </a:lnTo>
                <a:lnTo>
                  <a:pt x="4194591" y="839769"/>
                </a:lnTo>
                <a:lnTo>
                  <a:pt x="4245042" y="743509"/>
                </a:lnTo>
                <a:lnTo>
                  <a:pt x="4295493" y="651819"/>
                </a:lnTo>
                <a:lnTo>
                  <a:pt x="4345944" y="566406"/>
                </a:lnTo>
                <a:lnTo>
                  <a:pt x="4396395" y="488861"/>
                </a:lnTo>
                <a:lnTo>
                  <a:pt x="4446846" y="420629"/>
                </a:lnTo>
                <a:lnTo>
                  <a:pt x="4497297" y="362981"/>
                </a:lnTo>
                <a:lnTo>
                  <a:pt x="4547748" y="316990"/>
                </a:lnTo>
                <a:lnTo>
                  <a:pt x="4598199" y="283513"/>
                </a:lnTo>
                <a:lnTo>
                  <a:pt x="4648650" y="263174"/>
                </a:lnTo>
                <a:lnTo>
                  <a:pt x="4699101" y="256352"/>
                </a:lnTo>
                <a:lnTo>
                  <a:pt x="4750626" y="263174"/>
                </a:lnTo>
                <a:lnTo>
                  <a:pt x="4802150" y="283513"/>
                </a:lnTo>
                <a:lnTo>
                  <a:pt x="4853675" y="316990"/>
                </a:lnTo>
                <a:lnTo>
                  <a:pt x="4905199" y="362981"/>
                </a:lnTo>
                <a:lnTo>
                  <a:pt x="4956723" y="420629"/>
                </a:lnTo>
                <a:lnTo>
                  <a:pt x="5008248" y="488861"/>
                </a:lnTo>
                <a:lnTo>
                  <a:pt x="5059772" y="566406"/>
                </a:lnTo>
                <a:lnTo>
                  <a:pt x="5111297" y="651819"/>
                </a:lnTo>
                <a:lnTo>
                  <a:pt x="5162821" y="743509"/>
                </a:lnTo>
                <a:lnTo>
                  <a:pt x="5214346" y="839769"/>
                </a:lnTo>
                <a:lnTo>
                  <a:pt x="5265870" y="938804"/>
                </a:lnTo>
                <a:lnTo>
                  <a:pt x="5317395" y="1038770"/>
                </a:lnTo>
                <a:lnTo>
                  <a:pt x="5368919" y="1137805"/>
                </a:lnTo>
                <a:lnTo>
                  <a:pt x="5420444" y="1234064"/>
                </a:lnTo>
                <a:lnTo>
                  <a:pt x="5471968" y="1325754"/>
                </a:lnTo>
                <a:lnTo>
                  <a:pt x="5523492" y="1411167"/>
                </a:lnTo>
                <a:lnTo>
                  <a:pt x="5575017" y="1488712"/>
                </a:lnTo>
                <a:lnTo>
                  <a:pt x="5626541" y="1556944"/>
                </a:lnTo>
                <a:lnTo>
                  <a:pt x="5678066" y="1614593"/>
                </a:lnTo>
                <a:lnTo>
                  <a:pt x="5729590" y="1660584"/>
                </a:lnTo>
                <a:lnTo>
                  <a:pt x="5781115" y="1694061"/>
                </a:lnTo>
                <a:lnTo>
                  <a:pt x="5832639" y="1714399"/>
                </a:lnTo>
                <a:lnTo>
                  <a:pt x="5884164" y="1721221"/>
                </a:lnTo>
                <a:lnTo>
                  <a:pt x="5922807" y="1713205"/>
                </a:lnTo>
                <a:lnTo>
                  <a:pt x="5961450" y="1689307"/>
                </a:lnTo>
                <a:lnTo>
                  <a:pt x="6000094" y="1649972"/>
                </a:lnTo>
                <a:lnTo>
                  <a:pt x="6038737" y="1595933"/>
                </a:lnTo>
                <a:lnTo>
                  <a:pt x="6077380" y="1528196"/>
                </a:lnTo>
                <a:lnTo>
                  <a:pt x="6116024" y="1448023"/>
                </a:lnTo>
                <a:lnTo>
                  <a:pt x="6154667" y="1356908"/>
                </a:lnTo>
                <a:lnTo>
                  <a:pt x="6193310" y="1256548"/>
                </a:lnTo>
                <a:lnTo>
                  <a:pt x="6231954" y="1148812"/>
                </a:lnTo>
                <a:lnTo>
                  <a:pt x="6270597" y="1035707"/>
                </a:lnTo>
                <a:lnTo>
                  <a:pt x="6309240" y="919341"/>
                </a:lnTo>
                <a:lnTo>
                  <a:pt x="6347884" y="801881"/>
                </a:lnTo>
                <a:lnTo>
                  <a:pt x="6386527" y="685514"/>
                </a:lnTo>
                <a:lnTo>
                  <a:pt x="6425170" y="572410"/>
                </a:lnTo>
                <a:lnTo>
                  <a:pt x="6463814" y="464674"/>
                </a:lnTo>
                <a:lnTo>
                  <a:pt x="6502457" y="364314"/>
                </a:lnTo>
                <a:lnTo>
                  <a:pt x="6541100" y="273198"/>
                </a:lnTo>
                <a:lnTo>
                  <a:pt x="6579744" y="193026"/>
                </a:lnTo>
                <a:lnTo>
                  <a:pt x="6618387" y="125289"/>
                </a:lnTo>
                <a:lnTo>
                  <a:pt x="6657030" y="71249"/>
                </a:lnTo>
                <a:lnTo>
                  <a:pt x="6695674" y="31914"/>
                </a:lnTo>
                <a:lnTo>
                  <a:pt x="6734317" y="8016"/>
                </a:lnTo>
                <a:lnTo>
                  <a:pt x="6772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86">
            <a:solidFill>
              <a:srgbClr val="92A5B1"/>
            </a:solidFill>
            <a:prstDash val="dash"/>
          </a:ln>
        </p:spPr>
      </p:sp>
      <p:sp>
        <p:nvSpPr>
          <p:cNvPr id="77" name="B_LCA_realized_profile">
            <a:extLst xmlns:a="http://schemas.openxmlformats.org/drawingml/2006/main">
              <a:ext uri="{FF2B5EF4-FFF2-40B4-BE49-F238E27FC236}">
                <a16:creationId xmlns:a16="http://schemas.microsoft.com/office/drawing/2014/main" id="{0EC27BB6-13DF-4A62-94AC-71ECBA8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" y="3716573"/>
            <a:ext cx="3454210" cy="1049945"/>
          </a:xfrm>
          <a:custGeom xmlns:a="http://schemas.openxmlformats.org/drawingml/2006/main">
            <a:pathLst>
              <a:path w="6772960" h="1721221">
                <a:moveTo>
                  <a:pt x="0" y="0"/>
                </a:moveTo>
                <a:lnTo>
                  <a:pt x="52597" y="8016"/>
                </a:lnTo>
                <a:lnTo>
                  <a:pt x="105195" y="31914"/>
                </a:lnTo>
                <a:lnTo>
                  <a:pt x="157793" y="71249"/>
                </a:lnTo>
                <a:lnTo>
                  <a:pt x="210391" y="125288"/>
                </a:lnTo>
                <a:lnTo>
                  <a:pt x="262989" y="193025"/>
                </a:lnTo>
                <a:lnTo>
                  <a:pt x="315587" y="273198"/>
                </a:lnTo>
                <a:lnTo>
                  <a:pt x="368185" y="364313"/>
                </a:lnTo>
                <a:lnTo>
                  <a:pt x="420783" y="464674"/>
                </a:lnTo>
                <a:lnTo>
                  <a:pt x="473381" y="572409"/>
                </a:lnTo>
                <a:lnTo>
                  <a:pt x="525978" y="685514"/>
                </a:lnTo>
                <a:lnTo>
                  <a:pt x="578576" y="801880"/>
                </a:lnTo>
                <a:lnTo>
                  <a:pt x="631174" y="919341"/>
                </a:lnTo>
                <a:lnTo>
                  <a:pt x="683772" y="1035707"/>
                </a:lnTo>
                <a:lnTo>
                  <a:pt x="736370" y="1148811"/>
                </a:lnTo>
                <a:lnTo>
                  <a:pt x="788968" y="1256547"/>
                </a:lnTo>
                <a:lnTo>
                  <a:pt x="841566" y="1356907"/>
                </a:lnTo>
                <a:lnTo>
                  <a:pt x="894164" y="1448023"/>
                </a:lnTo>
                <a:lnTo>
                  <a:pt x="946761" y="1528196"/>
                </a:lnTo>
                <a:lnTo>
                  <a:pt x="999359" y="1595933"/>
                </a:lnTo>
                <a:lnTo>
                  <a:pt x="1051957" y="1649972"/>
                </a:lnTo>
                <a:lnTo>
                  <a:pt x="1104555" y="1689307"/>
                </a:lnTo>
                <a:lnTo>
                  <a:pt x="1157153" y="1713205"/>
                </a:lnTo>
                <a:lnTo>
                  <a:pt x="1209751" y="1721221"/>
                </a:lnTo>
                <a:lnTo>
                  <a:pt x="1260560" y="1714399"/>
                </a:lnTo>
                <a:lnTo>
                  <a:pt x="1311368" y="1694060"/>
                </a:lnTo>
                <a:lnTo>
                  <a:pt x="1362177" y="1660584"/>
                </a:lnTo>
                <a:lnTo>
                  <a:pt x="1412986" y="1614593"/>
                </a:lnTo>
                <a:lnTo>
                  <a:pt x="1463795" y="1556944"/>
                </a:lnTo>
                <a:lnTo>
                  <a:pt x="1514604" y="1488712"/>
                </a:lnTo>
                <a:lnTo>
                  <a:pt x="1565413" y="1411167"/>
                </a:lnTo>
                <a:lnTo>
                  <a:pt x="1616221" y="1325754"/>
                </a:lnTo>
                <a:lnTo>
                  <a:pt x="1667030" y="1234064"/>
                </a:lnTo>
                <a:lnTo>
                  <a:pt x="1717839" y="1137805"/>
                </a:lnTo>
                <a:lnTo>
                  <a:pt x="1768648" y="1038769"/>
                </a:lnTo>
                <a:lnTo>
                  <a:pt x="1819457" y="938803"/>
                </a:lnTo>
                <a:lnTo>
                  <a:pt x="1870266" y="839768"/>
                </a:lnTo>
                <a:lnTo>
                  <a:pt x="1921074" y="743509"/>
                </a:lnTo>
                <a:lnTo>
                  <a:pt x="1971883" y="651819"/>
                </a:lnTo>
                <a:lnTo>
                  <a:pt x="2022692" y="566406"/>
                </a:lnTo>
                <a:lnTo>
                  <a:pt x="2073501" y="488861"/>
                </a:lnTo>
                <a:lnTo>
                  <a:pt x="2124310" y="420629"/>
                </a:lnTo>
                <a:lnTo>
                  <a:pt x="2175119" y="362980"/>
                </a:lnTo>
                <a:lnTo>
                  <a:pt x="2225927" y="316989"/>
                </a:lnTo>
                <a:lnTo>
                  <a:pt x="2276736" y="283513"/>
                </a:lnTo>
                <a:lnTo>
                  <a:pt x="2327545" y="263174"/>
                </a:lnTo>
                <a:lnTo>
                  <a:pt x="2378354" y="256352"/>
                </a:lnTo>
                <a:lnTo>
                  <a:pt x="2428805" y="263174"/>
                </a:lnTo>
                <a:lnTo>
                  <a:pt x="2479256" y="283513"/>
                </a:lnTo>
                <a:lnTo>
                  <a:pt x="2529707" y="316989"/>
                </a:lnTo>
                <a:lnTo>
                  <a:pt x="2580158" y="362980"/>
                </a:lnTo>
                <a:lnTo>
                  <a:pt x="2630609" y="420629"/>
                </a:lnTo>
                <a:lnTo>
                  <a:pt x="2681060" y="488861"/>
                </a:lnTo>
                <a:lnTo>
                  <a:pt x="2731511" y="566406"/>
                </a:lnTo>
                <a:lnTo>
                  <a:pt x="2781962" y="651819"/>
                </a:lnTo>
                <a:lnTo>
                  <a:pt x="2832413" y="743509"/>
                </a:lnTo>
                <a:lnTo>
                  <a:pt x="2882864" y="839768"/>
                </a:lnTo>
                <a:lnTo>
                  <a:pt x="2933315" y="938803"/>
                </a:lnTo>
                <a:lnTo>
                  <a:pt x="2983766" y="1038769"/>
                </a:lnTo>
                <a:lnTo>
                  <a:pt x="3034217" y="1137805"/>
                </a:lnTo>
                <a:lnTo>
                  <a:pt x="3084668" y="1234064"/>
                </a:lnTo>
                <a:lnTo>
                  <a:pt x="3135119" y="1325754"/>
                </a:lnTo>
                <a:lnTo>
                  <a:pt x="3185570" y="1411167"/>
                </a:lnTo>
                <a:lnTo>
                  <a:pt x="3236021" y="1488712"/>
                </a:lnTo>
                <a:lnTo>
                  <a:pt x="3286472" y="1556944"/>
                </a:lnTo>
                <a:lnTo>
                  <a:pt x="3336923" y="1614593"/>
                </a:lnTo>
                <a:lnTo>
                  <a:pt x="3387375" y="1660584"/>
                </a:lnTo>
                <a:lnTo>
                  <a:pt x="3437826" y="1694060"/>
                </a:lnTo>
                <a:lnTo>
                  <a:pt x="3488277" y="1714399"/>
                </a:lnTo>
                <a:lnTo>
                  <a:pt x="3538728" y="1721221"/>
                </a:lnTo>
                <a:lnTo>
                  <a:pt x="3589179" y="1714399"/>
                </a:lnTo>
                <a:lnTo>
                  <a:pt x="3639630" y="1694060"/>
                </a:lnTo>
                <a:lnTo>
                  <a:pt x="3690081" y="1660584"/>
                </a:lnTo>
                <a:lnTo>
                  <a:pt x="3740532" y="1614593"/>
                </a:lnTo>
                <a:lnTo>
                  <a:pt x="3790983" y="1556944"/>
                </a:lnTo>
                <a:lnTo>
                  <a:pt x="3841434" y="1488712"/>
                </a:lnTo>
                <a:lnTo>
                  <a:pt x="3891885" y="1411167"/>
                </a:lnTo>
                <a:lnTo>
                  <a:pt x="3942336" y="1325754"/>
                </a:lnTo>
                <a:lnTo>
                  <a:pt x="3992787" y="1234064"/>
                </a:lnTo>
                <a:lnTo>
                  <a:pt x="4043238" y="1137805"/>
                </a:lnTo>
                <a:lnTo>
                  <a:pt x="4093689" y="1038769"/>
                </a:lnTo>
                <a:lnTo>
                  <a:pt x="4144140" y="938803"/>
                </a:lnTo>
                <a:lnTo>
                  <a:pt x="4194591" y="839768"/>
                </a:lnTo>
                <a:lnTo>
                  <a:pt x="4245042" y="743509"/>
                </a:lnTo>
                <a:lnTo>
                  <a:pt x="4295493" y="651819"/>
                </a:lnTo>
                <a:lnTo>
                  <a:pt x="4345944" y="566406"/>
                </a:lnTo>
                <a:lnTo>
                  <a:pt x="4396395" y="488861"/>
                </a:lnTo>
                <a:lnTo>
                  <a:pt x="4446846" y="420629"/>
                </a:lnTo>
                <a:lnTo>
                  <a:pt x="4497297" y="362980"/>
                </a:lnTo>
                <a:lnTo>
                  <a:pt x="4547748" y="316989"/>
                </a:lnTo>
                <a:lnTo>
                  <a:pt x="4598199" y="283513"/>
                </a:lnTo>
                <a:lnTo>
                  <a:pt x="4648650" y="263174"/>
                </a:lnTo>
                <a:lnTo>
                  <a:pt x="4699101" y="256352"/>
                </a:lnTo>
                <a:lnTo>
                  <a:pt x="4750626" y="263174"/>
                </a:lnTo>
                <a:lnTo>
                  <a:pt x="4802150" y="283513"/>
                </a:lnTo>
                <a:lnTo>
                  <a:pt x="4853675" y="316989"/>
                </a:lnTo>
                <a:lnTo>
                  <a:pt x="4905199" y="362980"/>
                </a:lnTo>
                <a:lnTo>
                  <a:pt x="4956723" y="420629"/>
                </a:lnTo>
                <a:lnTo>
                  <a:pt x="5008248" y="488861"/>
                </a:lnTo>
                <a:lnTo>
                  <a:pt x="5059772" y="566406"/>
                </a:lnTo>
                <a:lnTo>
                  <a:pt x="5111297" y="651819"/>
                </a:lnTo>
                <a:lnTo>
                  <a:pt x="5162821" y="743509"/>
                </a:lnTo>
                <a:lnTo>
                  <a:pt x="5214346" y="839768"/>
                </a:lnTo>
                <a:lnTo>
                  <a:pt x="5265870" y="938803"/>
                </a:lnTo>
                <a:lnTo>
                  <a:pt x="5317395" y="1038769"/>
                </a:lnTo>
                <a:lnTo>
                  <a:pt x="5368919" y="1137805"/>
                </a:lnTo>
                <a:lnTo>
                  <a:pt x="5420444" y="1234064"/>
                </a:lnTo>
                <a:lnTo>
                  <a:pt x="5471968" y="1325754"/>
                </a:lnTo>
                <a:lnTo>
                  <a:pt x="5523492" y="1411167"/>
                </a:lnTo>
                <a:lnTo>
                  <a:pt x="5575017" y="1488712"/>
                </a:lnTo>
                <a:lnTo>
                  <a:pt x="5626541" y="1556944"/>
                </a:lnTo>
                <a:lnTo>
                  <a:pt x="5678066" y="1614593"/>
                </a:lnTo>
                <a:lnTo>
                  <a:pt x="5729590" y="1660584"/>
                </a:lnTo>
                <a:lnTo>
                  <a:pt x="5781115" y="1694060"/>
                </a:lnTo>
                <a:lnTo>
                  <a:pt x="5832639" y="1714399"/>
                </a:lnTo>
                <a:lnTo>
                  <a:pt x="5884164" y="1721221"/>
                </a:lnTo>
                <a:lnTo>
                  <a:pt x="5922807" y="1713205"/>
                </a:lnTo>
                <a:lnTo>
                  <a:pt x="5961450" y="1689307"/>
                </a:lnTo>
                <a:lnTo>
                  <a:pt x="6000094" y="1649972"/>
                </a:lnTo>
                <a:lnTo>
                  <a:pt x="6038737" y="1595933"/>
                </a:lnTo>
                <a:lnTo>
                  <a:pt x="6077380" y="1528196"/>
                </a:lnTo>
                <a:lnTo>
                  <a:pt x="6116024" y="1448023"/>
                </a:lnTo>
                <a:lnTo>
                  <a:pt x="6154667" y="1356907"/>
                </a:lnTo>
                <a:lnTo>
                  <a:pt x="6193310" y="1256547"/>
                </a:lnTo>
                <a:lnTo>
                  <a:pt x="6231954" y="1148811"/>
                </a:lnTo>
                <a:lnTo>
                  <a:pt x="6270597" y="1035707"/>
                </a:lnTo>
                <a:lnTo>
                  <a:pt x="6309240" y="919341"/>
                </a:lnTo>
                <a:lnTo>
                  <a:pt x="6347884" y="801880"/>
                </a:lnTo>
                <a:lnTo>
                  <a:pt x="6386527" y="685514"/>
                </a:lnTo>
                <a:lnTo>
                  <a:pt x="6425170" y="572409"/>
                </a:lnTo>
                <a:lnTo>
                  <a:pt x="6463814" y="464674"/>
                </a:lnTo>
                <a:lnTo>
                  <a:pt x="6502457" y="364313"/>
                </a:lnTo>
                <a:lnTo>
                  <a:pt x="6541100" y="273198"/>
                </a:lnTo>
                <a:lnTo>
                  <a:pt x="6579744" y="193025"/>
                </a:lnTo>
                <a:lnTo>
                  <a:pt x="6618387" y="125288"/>
                </a:lnTo>
                <a:lnTo>
                  <a:pt x="6657030" y="71249"/>
                </a:lnTo>
                <a:lnTo>
                  <a:pt x="6695674" y="31914"/>
                </a:lnTo>
                <a:lnTo>
                  <a:pt x="6734317" y="8016"/>
                </a:lnTo>
                <a:lnTo>
                  <a:pt x="6772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130">
            <a:solidFill>
              <a:srgbClr val="CC79A7"/>
            </a:solidFill>
            <a:prstDash val="solid"/>
          </a:ln>
        </p:spPr>
      </p:sp>
      <p:sp>
        <p:nvSpPr>
          <p:cNvPr id="55" name="B_actual_anchor_A">
            <a:extLst xmlns:a="http://schemas.openxmlformats.org/drawingml/2006/main">
              <a:ext uri="{FF2B5EF4-FFF2-40B4-BE49-F238E27FC236}">
                <a16:creationId xmlns:a16="http://schemas.microsoft.com/office/drawing/2014/main" id="{C4B604A9-EF4B-4552-B1DF-9C39D4A7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173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56" name="B_anchor_label_A">
            <a:extLst xmlns:a="http://schemas.openxmlformats.org/drawingml/2006/main">
              <a:ext uri="{FF2B5EF4-FFF2-40B4-BE49-F238E27FC236}">
                <a16:creationId xmlns:a16="http://schemas.microsoft.com/office/drawing/2014/main" id="{94D7D6F1-56CD-41D2-9C40-1A45E5B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248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7" name="B_actual_anchor_C">
            <a:extLst xmlns:a="http://schemas.openxmlformats.org/drawingml/2006/main">
              <a:ext uri="{FF2B5EF4-FFF2-40B4-BE49-F238E27FC236}">
                <a16:creationId xmlns:a16="http://schemas.microsoft.com/office/drawing/2014/main" id="{20603102-4B3E-4CF1-9E5E-20DCAA83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1951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58" name="B_anchor_label_C">
            <a:extLst xmlns:a="http://schemas.openxmlformats.org/drawingml/2006/main">
              <a:ext uri="{FF2B5EF4-FFF2-40B4-BE49-F238E27FC236}">
                <a16:creationId xmlns:a16="http://schemas.microsoft.com/office/drawing/2014/main" id="{124EA49E-752C-40FF-A4B8-B4A36C6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0026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9" name="B_actual_anchor_B">
            <a:extLst xmlns:a="http://schemas.openxmlformats.org/drawingml/2006/main">
              <a:ext uri="{FF2B5EF4-FFF2-40B4-BE49-F238E27FC236}">
                <a16:creationId xmlns:a16="http://schemas.microsoft.com/office/drawing/2014/main" id="{38920DCD-16CA-43F5-A0C0-02353645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8123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60" name="B_anchor_label_B">
            <a:extLst xmlns:a="http://schemas.openxmlformats.org/drawingml/2006/main">
              <a:ext uri="{FF2B5EF4-FFF2-40B4-BE49-F238E27FC236}">
                <a16:creationId xmlns:a16="http://schemas.microsoft.com/office/drawing/2014/main" id="{6390E627-A8B5-43A2-AE2D-4871DAE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6198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1" name="B_fixed_ref_A">
            <a:extLst xmlns:a="http://schemas.openxmlformats.org/drawingml/2006/main">
              <a:ext uri="{FF2B5EF4-FFF2-40B4-BE49-F238E27FC236}">
                <a16:creationId xmlns:a16="http://schemas.microsoft.com/office/drawing/2014/main" id="{F0039DEA-2090-456C-94FD-C026F0D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885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_fixed_ref_C">
            <a:extLst xmlns:a="http://schemas.openxmlformats.org/drawingml/2006/main">
              <a:ext uri="{FF2B5EF4-FFF2-40B4-BE49-F238E27FC236}">
                <a16:creationId xmlns:a16="http://schemas.microsoft.com/office/drawing/2014/main" id="{13FE859C-BA87-4E59-8681-E644047B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7663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_fixed_ref_B">
            <a:extLst xmlns:a="http://schemas.openxmlformats.org/drawingml/2006/main">
              <a:ext uri="{FF2B5EF4-FFF2-40B4-BE49-F238E27FC236}">
                <a16:creationId xmlns:a16="http://schemas.microsoft.com/office/drawing/2014/main" id="{9ED53449-D008-4AD5-AE66-D871B3E2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3836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_c_separator">
            <a:extLst xmlns:a="http://schemas.openxmlformats.org/drawingml/2006/main">
              <a:ext uri="{FF2B5EF4-FFF2-40B4-BE49-F238E27FC236}">
                <a16:creationId xmlns:a16="http://schemas.microsoft.com/office/drawing/2014/main" id="{99F3808D-FE16-46B0-AAA4-B8ECDAF8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2925" y="2619375"/>
            <a:ext cx="953" cy="2676525"/>
          </a:xfrm>
          <a:custGeom xmlns:a="http://schemas.openxmlformats.org/drawingml/2006/main">
            <a:pathLst>
              <a:path w="953" h="2676525">
                <a:moveTo>
                  <a:pt x="0" y="0"/>
                </a:moveTo>
                <a:lnTo>
                  <a:pt x="953" y="2676525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DAE3E8"/>
            </a:solidFill>
            <a:prstDash val="solid"/>
          </a:ln>
        </p:spPr>
      </p:sp>
      <p:sp>
        <p:nvSpPr>
          <p:cNvPr id="66" name="C_title">
            <a:extLst xmlns:a="http://schemas.openxmlformats.org/drawingml/2006/main">
              <a:ext uri="{FF2B5EF4-FFF2-40B4-BE49-F238E27FC236}">
                <a16:creationId xmlns:a16="http://schemas.microsoft.com/office/drawing/2014/main" id="{B40A7588-D5C1-4098-B26A-DD6CAD0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5325" y="26289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Optimal filling</a:t>
            </a:r>
          </a:p>
        </p:txBody>
      </p:sp>
      <p:sp>
        <p:nvSpPr>
          <p:cNvPr id="67" name="C_target_order">
            <a:extLst xmlns:a="http://schemas.openxmlformats.org/drawingml/2006/main">
              <a:ext uri="{FF2B5EF4-FFF2-40B4-BE49-F238E27FC236}">
                <a16:creationId xmlns:a16="http://schemas.microsoft.com/office/drawing/2014/main" id="{0643E333-BAB4-4F01-8461-3D4D168C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3286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A–C–B</a:t>
            </a:r>
          </a:p>
        </p:txBody>
      </p:sp>
      <p:sp>
        <p:nvSpPr>
          <p:cNvPr id="68" name="C_s₁_level">
            <a:extLst xmlns:a="http://schemas.openxmlformats.org/drawingml/2006/main">
              <a:ext uri="{FF2B5EF4-FFF2-40B4-BE49-F238E27FC236}">
                <a16:creationId xmlns:a16="http://schemas.microsoft.com/office/drawing/2014/main" id="{03D72B0A-4311-41D1-B4D0-E741824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4319732"/>
            <a:ext cx="3454210" cy="95"/>
          </a:xfrm>
          <a:custGeom xmlns:a="http://schemas.openxmlformats.org/drawingml/2006/main">
            <a:pathLst>
              <a:path w="3454210" h="95">
                <a:moveTo>
                  <a:pt x="0" y="0"/>
                </a:moveTo>
                <a:lnTo>
                  <a:pt x="3454210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7B8790"/>
            </a:solidFill>
            <a:prstDash val="dash"/>
          </a:ln>
        </p:spPr>
      </p:sp>
      <p:sp>
        <p:nvSpPr>
          <p:cNvPr id="69" name="C_s₁_label">
            <a:extLst xmlns:a="http://schemas.openxmlformats.org/drawingml/2006/main">
              <a:ext uri="{FF2B5EF4-FFF2-40B4-BE49-F238E27FC236}">
                <a16:creationId xmlns:a16="http://schemas.microsoft.com/office/drawing/2014/main" id="{76F8E238-1171-401F-AD3C-76D3B042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4206846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296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0" name="C_s₂_level">
            <a:extLst xmlns:a="http://schemas.openxmlformats.org/drawingml/2006/main">
              <a:ext uri="{FF2B5EF4-FFF2-40B4-BE49-F238E27FC236}">
                <a16:creationId xmlns:a16="http://schemas.microsoft.com/office/drawing/2014/main" id="{8572C153-FADC-475D-A157-DB01AB17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3872947"/>
            <a:ext cx="3454210" cy="95"/>
          </a:xfrm>
          <a:custGeom xmlns:a="http://schemas.openxmlformats.org/drawingml/2006/main">
            <a:pathLst>
              <a:path w="3454210" h="95">
                <a:moveTo>
                  <a:pt x="0" y="0"/>
                </a:moveTo>
                <a:lnTo>
                  <a:pt x="3454210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7B8790"/>
            </a:solidFill>
            <a:prstDash val="dash"/>
          </a:ln>
        </p:spPr>
      </p:sp>
      <p:sp>
        <p:nvSpPr>
          <p:cNvPr id="71" name="C_s₂_label">
            <a:extLst xmlns:a="http://schemas.openxmlformats.org/drawingml/2006/main">
              <a:ext uri="{FF2B5EF4-FFF2-40B4-BE49-F238E27FC236}">
                <a16:creationId xmlns:a16="http://schemas.microsoft.com/office/drawing/2014/main" id="{2E0AF7BA-909D-4C9D-B7E6-F0B2B97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3760061"/>
            <a:ext cx="22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sz="1296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2" name="C_y_axis">
            <a:extLst xmlns:a="http://schemas.openxmlformats.org/drawingml/2006/main">
              <a:ext uri="{FF2B5EF4-FFF2-40B4-BE49-F238E27FC236}">
                <a16:creationId xmlns:a16="http://schemas.microsoft.com/office/drawing/2014/main" id="{022C6869-0DED-4AE0-95B2-150F3DCD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3667125"/>
            <a:ext cx="95" cy="1104412"/>
          </a:xfrm>
          <a:custGeom xmlns:a="http://schemas.openxmlformats.org/drawingml/2006/main">
            <a:pathLst>
              <a:path w="95" h="1104412">
                <a:moveTo>
                  <a:pt x="0" y="0"/>
                </a:moveTo>
                <a:lnTo>
                  <a:pt x="95" y="1104412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63238"/>
            </a:solidFill>
            <a:prstDash val="solid"/>
          </a:ln>
        </p:spPr>
      </p:sp>
      <p:sp>
        <p:nvSpPr>
          <p:cNvPr id="73" name="C_x_axis">
            <a:extLst xmlns:a="http://schemas.openxmlformats.org/drawingml/2006/main">
              <a:ext uri="{FF2B5EF4-FFF2-40B4-BE49-F238E27FC236}">
                <a16:creationId xmlns:a16="http://schemas.microsoft.com/office/drawing/2014/main" id="{84FD4B72-43A1-4E3F-9B66-96FE47BC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4766517"/>
            <a:ext cx="3458407" cy="95"/>
          </a:xfrm>
          <a:custGeom xmlns:a="http://schemas.openxmlformats.org/drawingml/2006/main">
            <a:pathLst>
              <a:path w="3458407" h="95">
                <a:moveTo>
                  <a:pt x="0" y="0"/>
                </a:moveTo>
                <a:lnTo>
                  <a:pt x="3458407" y="9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263238"/>
            </a:solidFill>
            <a:prstDash val="solid"/>
          </a:ln>
        </p:spPr>
      </p:sp>
      <p:sp>
        <p:nvSpPr>
          <p:cNvPr id="74" name="C_f">
            <a:extLst xmlns:a="http://schemas.openxmlformats.org/drawingml/2006/main">
              <a:ext uri="{FF2B5EF4-FFF2-40B4-BE49-F238E27FC236}">
                <a16:creationId xmlns:a16="http://schemas.microsoft.com/office/drawing/2014/main" id="{25A73AE6-DE5A-4BE7-959E-5300C17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7725" y="3543300"/>
            <a:ext cx="23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5" name="C_u">
            <a:extLst xmlns:a="http://schemas.openxmlformats.org/drawingml/2006/main">
              <a:ext uri="{FF2B5EF4-FFF2-40B4-BE49-F238E27FC236}">
                <a16:creationId xmlns:a16="http://schemas.microsoft.com/office/drawing/2014/main" id="{A31095F8-C43A-42E4-9424-80CC7E2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3900" y="4657725"/>
            <a:ext cx="19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76" name="C_same_baseline_exact_copy_of_B">
            <a:extLst xmlns:a="http://schemas.openxmlformats.org/drawingml/2006/main">
              <a:ext uri="{FF2B5EF4-FFF2-40B4-BE49-F238E27FC236}">
                <a16:creationId xmlns:a16="http://schemas.microsoft.com/office/drawing/2014/main" id="{429CA7D3-191A-476D-BB6F-29CE399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3716573"/>
            <a:ext cx="3454210" cy="1049945"/>
          </a:xfrm>
          <a:custGeom xmlns:a="http://schemas.openxmlformats.org/drawingml/2006/main">
            <a:pathLst>
              <a:path w="6772960" h="1721221">
                <a:moveTo>
                  <a:pt x="0" y="0"/>
                </a:moveTo>
                <a:lnTo>
                  <a:pt x="52597" y="8016"/>
                </a:lnTo>
                <a:lnTo>
                  <a:pt x="105195" y="31914"/>
                </a:lnTo>
                <a:lnTo>
                  <a:pt x="157793" y="71249"/>
                </a:lnTo>
                <a:lnTo>
                  <a:pt x="210391" y="125288"/>
                </a:lnTo>
                <a:lnTo>
                  <a:pt x="262989" y="193025"/>
                </a:lnTo>
                <a:lnTo>
                  <a:pt x="315587" y="273198"/>
                </a:lnTo>
                <a:lnTo>
                  <a:pt x="368185" y="364313"/>
                </a:lnTo>
                <a:lnTo>
                  <a:pt x="420783" y="464674"/>
                </a:lnTo>
                <a:lnTo>
                  <a:pt x="473381" y="572409"/>
                </a:lnTo>
                <a:lnTo>
                  <a:pt x="525978" y="685514"/>
                </a:lnTo>
                <a:lnTo>
                  <a:pt x="578576" y="801880"/>
                </a:lnTo>
                <a:lnTo>
                  <a:pt x="631174" y="919341"/>
                </a:lnTo>
                <a:lnTo>
                  <a:pt x="683772" y="1035707"/>
                </a:lnTo>
                <a:lnTo>
                  <a:pt x="736370" y="1148811"/>
                </a:lnTo>
                <a:lnTo>
                  <a:pt x="788968" y="1256547"/>
                </a:lnTo>
                <a:lnTo>
                  <a:pt x="841566" y="1356907"/>
                </a:lnTo>
                <a:lnTo>
                  <a:pt x="894164" y="1448023"/>
                </a:lnTo>
                <a:lnTo>
                  <a:pt x="946761" y="1528196"/>
                </a:lnTo>
                <a:lnTo>
                  <a:pt x="999359" y="1595933"/>
                </a:lnTo>
                <a:lnTo>
                  <a:pt x="1051957" y="1649972"/>
                </a:lnTo>
                <a:lnTo>
                  <a:pt x="1104555" y="1689307"/>
                </a:lnTo>
                <a:lnTo>
                  <a:pt x="1157153" y="1713205"/>
                </a:lnTo>
                <a:lnTo>
                  <a:pt x="1209751" y="1721221"/>
                </a:lnTo>
                <a:lnTo>
                  <a:pt x="1260560" y="1717810"/>
                </a:lnTo>
                <a:lnTo>
                  <a:pt x="1311368" y="1707640"/>
                </a:lnTo>
                <a:lnTo>
                  <a:pt x="1362177" y="1690902"/>
                </a:lnTo>
                <a:lnTo>
                  <a:pt x="1412986" y="1667907"/>
                </a:lnTo>
                <a:lnTo>
                  <a:pt x="1463795" y="1639082"/>
                </a:lnTo>
                <a:lnTo>
                  <a:pt x="1514604" y="1604966"/>
                </a:lnTo>
                <a:lnTo>
                  <a:pt x="1565413" y="1566194"/>
                </a:lnTo>
                <a:lnTo>
                  <a:pt x="1616221" y="1523487"/>
                </a:lnTo>
                <a:lnTo>
                  <a:pt x="1667030" y="1477642"/>
                </a:lnTo>
                <a:lnTo>
                  <a:pt x="1717839" y="1429513"/>
                </a:lnTo>
                <a:lnTo>
                  <a:pt x="1768648" y="1379995"/>
                </a:lnTo>
                <a:lnTo>
                  <a:pt x="1819457" y="1330012"/>
                </a:lnTo>
                <a:lnTo>
                  <a:pt x="1870266" y="1280495"/>
                </a:lnTo>
                <a:lnTo>
                  <a:pt x="1921074" y="1232365"/>
                </a:lnTo>
                <a:lnTo>
                  <a:pt x="1971883" y="1186520"/>
                </a:lnTo>
                <a:lnTo>
                  <a:pt x="2022692" y="1143813"/>
                </a:lnTo>
                <a:lnTo>
                  <a:pt x="2073501" y="1105041"/>
                </a:lnTo>
                <a:lnTo>
                  <a:pt x="2124310" y="1070925"/>
                </a:lnTo>
                <a:lnTo>
                  <a:pt x="2175119" y="1042101"/>
                </a:lnTo>
                <a:lnTo>
                  <a:pt x="2225927" y="1019105"/>
                </a:lnTo>
                <a:lnTo>
                  <a:pt x="2276736" y="1002367"/>
                </a:lnTo>
                <a:lnTo>
                  <a:pt x="2327545" y="992197"/>
                </a:lnTo>
                <a:lnTo>
                  <a:pt x="2378354" y="988786"/>
                </a:lnTo>
                <a:lnTo>
                  <a:pt x="2428805" y="992197"/>
                </a:lnTo>
                <a:lnTo>
                  <a:pt x="2479256" y="1002367"/>
                </a:lnTo>
                <a:lnTo>
                  <a:pt x="2529707" y="1019105"/>
                </a:lnTo>
                <a:lnTo>
                  <a:pt x="2580158" y="1042101"/>
                </a:lnTo>
                <a:lnTo>
                  <a:pt x="2630609" y="1070925"/>
                </a:lnTo>
                <a:lnTo>
                  <a:pt x="2681060" y="1105041"/>
                </a:lnTo>
                <a:lnTo>
                  <a:pt x="2731511" y="1143813"/>
                </a:lnTo>
                <a:lnTo>
                  <a:pt x="2781962" y="1186520"/>
                </a:lnTo>
                <a:lnTo>
                  <a:pt x="2832413" y="1232365"/>
                </a:lnTo>
                <a:lnTo>
                  <a:pt x="2882864" y="1280495"/>
                </a:lnTo>
                <a:lnTo>
                  <a:pt x="2933315" y="1330012"/>
                </a:lnTo>
                <a:lnTo>
                  <a:pt x="2983766" y="1379995"/>
                </a:lnTo>
                <a:lnTo>
                  <a:pt x="3034217" y="1429513"/>
                </a:lnTo>
                <a:lnTo>
                  <a:pt x="3084668" y="1477642"/>
                </a:lnTo>
                <a:lnTo>
                  <a:pt x="3135119" y="1523487"/>
                </a:lnTo>
                <a:lnTo>
                  <a:pt x="3185570" y="1566194"/>
                </a:lnTo>
                <a:lnTo>
                  <a:pt x="3236021" y="1604966"/>
                </a:lnTo>
                <a:lnTo>
                  <a:pt x="3286472" y="1639082"/>
                </a:lnTo>
                <a:lnTo>
                  <a:pt x="3336923" y="1667907"/>
                </a:lnTo>
                <a:lnTo>
                  <a:pt x="3387375" y="1690902"/>
                </a:lnTo>
                <a:lnTo>
                  <a:pt x="3437826" y="1707640"/>
                </a:lnTo>
                <a:lnTo>
                  <a:pt x="3488277" y="1717810"/>
                </a:lnTo>
                <a:lnTo>
                  <a:pt x="3538728" y="1721221"/>
                </a:lnTo>
                <a:lnTo>
                  <a:pt x="3589179" y="1714399"/>
                </a:lnTo>
                <a:lnTo>
                  <a:pt x="3639630" y="1694060"/>
                </a:lnTo>
                <a:lnTo>
                  <a:pt x="3690081" y="1660584"/>
                </a:lnTo>
                <a:lnTo>
                  <a:pt x="3740532" y="1614593"/>
                </a:lnTo>
                <a:lnTo>
                  <a:pt x="3790983" y="1556944"/>
                </a:lnTo>
                <a:lnTo>
                  <a:pt x="3841434" y="1488712"/>
                </a:lnTo>
                <a:lnTo>
                  <a:pt x="3891885" y="1411167"/>
                </a:lnTo>
                <a:lnTo>
                  <a:pt x="3942336" y="1325754"/>
                </a:lnTo>
                <a:lnTo>
                  <a:pt x="3992787" y="1234064"/>
                </a:lnTo>
                <a:lnTo>
                  <a:pt x="4043238" y="1137805"/>
                </a:lnTo>
                <a:lnTo>
                  <a:pt x="4093689" y="1038769"/>
                </a:lnTo>
                <a:lnTo>
                  <a:pt x="4144140" y="938803"/>
                </a:lnTo>
                <a:lnTo>
                  <a:pt x="4194591" y="839768"/>
                </a:lnTo>
                <a:lnTo>
                  <a:pt x="4245042" y="743509"/>
                </a:lnTo>
                <a:lnTo>
                  <a:pt x="4295493" y="651819"/>
                </a:lnTo>
                <a:lnTo>
                  <a:pt x="4345944" y="566406"/>
                </a:lnTo>
                <a:lnTo>
                  <a:pt x="4396395" y="488861"/>
                </a:lnTo>
                <a:lnTo>
                  <a:pt x="4446846" y="420629"/>
                </a:lnTo>
                <a:lnTo>
                  <a:pt x="4497297" y="362980"/>
                </a:lnTo>
                <a:lnTo>
                  <a:pt x="4547748" y="316989"/>
                </a:lnTo>
                <a:lnTo>
                  <a:pt x="4598199" y="283513"/>
                </a:lnTo>
                <a:lnTo>
                  <a:pt x="4648650" y="263174"/>
                </a:lnTo>
                <a:lnTo>
                  <a:pt x="4699101" y="256352"/>
                </a:lnTo>
                <a:lnTo>
                  <a:pt x="4750626" y="263174"/>
                </a:lnTo>
                <a:lnTo>
                  <a:pt x="4802150" y="283513"/>
                </a:lnTo>
                <a:lnTo>
                  <a:pt x="4853675" y="316989"/>
                </a:lnTo>
                <a:lnTo>
                  <a:pt x="4905199" y="362980"/>
                </a:lnTo>
                <a:lnTo>
                  <a:pt x="4956723" y="420629"/>
                </a:lnTo>
                <a:lnTo>
                  <a:pt x="5008248" y="488861"/>
                </a:lnTo>
                <a:lnTo>
                  <a:pt x="5059772" y="566406"/>
                </a:lnTo>
                <a:lnTo>
                  <a:pt x="5111297" y="651819"/>
                </a:lnTo>
                <a:lnTo>
                  <a:pt x="5162821" y="743509"/>
                </a:lnTo>
                <a:lnTo>
                  <a:pt x="5214346" y="839768"/>
                </a:lnTo>
                <a:lnTo>
                  <a:pt x="5265870" y="938803"/>
                </a:lnTo>
                <a:lnTo>
                  <a:pt x="5317395" y="1038769"/>
                </a:lnTo>
                <a:lnTo>
                  <a:pt x="5368919" y="1137805"/>
                </a:lnTo>
                <a:lnTo>
                  <a:pt x="5420444" y="1234064"/>
                </a:lnTo>
                <a:lnTo>
                  <a:pt x="5471968" y="1325754"/>
                </a:lnTo>
                <a:lnTo>
                  <a:pt x="5523492" y="1411167"/>
                </a:lnTo>
                <a:lnTo>
                  <a:pt x="5575017" y="1488712"/>
                </a:lnTo>
                <a:lnTo>
                  <a:pt x="5626541" y="1556944"/>
                </a:lnTo>
                <a:lnTo>
                  <a:pt x="5678066" y="1614593"/>
                </a:lnTo>
                <a:lnTo>
                  <a:pt x="5729590" y="1660584"/>
                </a:lnTo>
                <a:lnTo>
                  <a:pt x="5781115" y="1694060"/>
                </a:lnTo>
                <a:lnTo>
                  <a:pt x="5832639" y="1714399"/>
                </a:lnTo>
                <a:lnTo>
                  <a:pt x="5884164" y="1721221"/>
                </a:lnTo>
                <a:lnTo>
                  <a:pt x="5922807" y="1713205"/>
                </a:lnTo>
                <a:lnTo>
                  <a:pt x="5961450" y="1689307"/>
                </a:lnTo>
                <a:lnTo>
                  <a:pt x="6000094" y="1649972"/>
                </a:lnTo>
                <a:lnTo>
                  <a:pt x="6038737" y="1595933"/>
                </a:lnTo>
                <a:lnTo>
                  <a:pt x="6077380" y="1528196"/>
                </a:lnTo>
                <a:lnTo>
                  <a:pt x="6116024" y="1448023"/>
                </a:lnTo>
                <a:lnTo>
                  <a:pt x="6154667" y="1356907"/>
                </a:lnTo>
                <a:lnTo>
                  <a:pt x="6193310" y="1256547"/>
                </a:lnTo>
                <a:lnTo>
                  <a:pt x="6231954" y="1148811"/>
                </a:lnTo>
                <a:lnTo>
                  <a:pt x="6270597" y="1035707"/>
                </a:lnTo>
                <a:lnTo>
                  <a:pt x="6309240" y="919341"/>
                </a:lnTo>
                <a:lnTo>
                  <a:pt x="6347884" y="801880"/>
                </a:lnTo>
                <a:lnTo>
                  <a:pt x="6386527" y="685514"/>
                </a:lnTo>
                <a:lnTo>
                  <a:pt x="6425170" y="572409"/>
                </a:lnTo>
                <a:lnTo>
                  <a:pt x="6463814" y="464674"/>
                </a:lnTo>
                <a:lnTo>
                  <a:pt x="6502457" y="364313"/>
                </a:lnTo>
                <a:lnTo>
                  <a:pt x="6541100" y="273198"/>
                </a:lnTo>
                <a:lnTo>
                  <a:pt x="6579744" y="193025"/>
                </a:lnTo>
                <a:lnTo>
                  <a:pt x="6618387" y="125288"/>
                </a:lnTo>
                <a:lnTo>
                  <a:pt x="6657030" y="71249"/>
                </a:lnTo>
                <a:lnTo>
                  <a:pt x="6695674" y="31914"/>
                </a:lnTo>
                <a:lnTo>
                  <a:pt x="6734317" y="8016"/>
                </a:lnTo>
                <a:lnTo>
                  <a:pt x="6772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786">
            <a:solidFill>
              <a:srgbClr val="92A5B1"/>
            </a:solidFill>
            <a:prstDash val="dash"/>
          </a:ln>
        </p:spPr>
      </p:sp>
      <p:sp>
        <p:nvSpPr>
          <p:cNvPr id="78" name="C_optimal_realized_profile">
            <a:extLst xmlns:a="http://schemas.openxmlformats.org/drawingml/2006/main">
              <a:ext uri="{FF2B5EF4-FFF2-40B4-BE49-F238E27FC236}">
                <a16:creationId xmlns:a16="http://schemas.microsoft.com/office/drawing/2014/main" id="{771AC855-12F2-4022-A376-AE8A85F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7750" y="3716573"/>
            <a:ext cx="3454210" cy="1049945"/>
          </a:xfrm>
          <a:custGeom xmlns:a="http://schemas.openxmlformats.org/drawingml/2006/main">
            <a:pathLst>
              <a:path w="6772960" h="1721221">
                <a:moveTo>
                  <a:pt x="0" y="0"/>
                </a:moveTo>
                <a:lnTo>
                  <a:pt x="52597" y="8016"/>
                </a:lnTo>
                <a:lnTo>
                  <a:pt x="105195" y="31914"/>
                </a:lnTo>
                <a:lnTo>
                  <a:pt x="157793" y="71249"/>
                </a:lnTo>
                <a:lnTo>
                  <a:pt x="210391" y="125288"/>
                </a:lnTo>
                <a:lnTo>
                  <a:pt x="262989" y="193025"/>
                </a:lnTo>
                <a:lnTo>
                  <a:pt x="315587" y="273198"/>
                </a:lnTo>
                <a:lnTo>
                  <a:pt x="368185" y="364313"/>
                </a:lnTo>
                <a:lnTo>
                  <a:pt x="420783" y="464674"/>
                </a:lnTo>
                <a:lnTo>
                  <a:pt x="473381" y="572409"/>
                </a:lnTo>
                <a:lnTo>
                  <a:pt x="525978" y="685514"/>
                </a:lnTo>
                <a:lnTo>
                  <a:pt x="578576" y="801880"/>
                </a:lnTo>
                <a:lnTo>
                  <a:pt x="631174" y="919341"/>
                </a:lnTo>
                <a:lnTo>
                  <a:pt x="683772" y="1035707"/>
                </a:lnTo>
                <a:lnTo>
                  <a:pt x="736370" y="1148811"/>
                </a:lnTo>
                <a:lnTo>
                  <a:pt x="788968" y="1256547"/>
                </a:lnTo>
                <a:lnTo>
                  <a:pt x="841566" y="1356907"/>
                </a:lnTo>
                <a:lnTo>
                  <a:pt x="894164" y="1448023"/>
                </a:lnTo>
                <a:lnTo>
                  <a:pt x="946761" y="1528196"/>
                </a:lnTo>
                <a:lnTo>
                  <a:pt x="999359" y="1595933"/>
                </a:lnTo>
                <a:lnTo>
                  <a:pt x="1051957" y="1649972"/>
                </a:lnTo>
                <a:lnTo>
                  <a:pt x="1104555" y="1689307"/>
                </a:lnTo>
                <a:lnTo>
                  <a:pt x="1157153" y="1713205"/>
                </a:lnTo>
                <a:lnTo>
                  <a:pt x="1209751" y="1721221"/>
                </a:lnTo>
                <a:lnTo>
                  <a:pt x="1260560" y="1716104"/>
                </a:lnTo>
                <a:lnTo>
                  <a:pt x="1311368" y="1700850"/>
                </a:lnTo>
                <a:lnTo>
                  <a:pt x="1362177" y="1675743"/>
                </a:lnTo>
                <a:lnTo>
                  <a:pt x="1412986" y="1641250"/>
                </a:lnTo>
                <a:lnTo>
                  <a:pt x="1463795" y="1598013"/>
                </a:lnTo>
                <a:lnTo>
                  <a:pt x="1514604" y="1546839"/>
                </a:lnTo>
                <a:lnTo>
                  <a:pt x="1565413" y="1488680"/>
                </a:lnTo>
                <a:lnTo>
                  <a:pt x="1616221" y="1424621"/>
                </a:lnTo>
                <a:lnTo>
                  <a:pt x="1667030" y="1355853"/>
                </a:lnTo>
                <a:lnTo>
                  <a:pt x="1717839" y="1283659"/>
                </a:lnTo>
                <a:lnTo>
                  <a:pt x="1768648" y="1209382"/>
                </a:lnTo>
                <a:lnTo>
                  <a:pt x="1819457" y="1134408"/>
                </a:lnTo>
                <a:lnTo>
                  <a:pt x="1870266" y="1060131"/>
                </a:lnTo>
                <a:lnTo>
                  <a:pt x="1921074" y="987937"/>
                </a:lnTo>
                <a:lnTo>
                  <a:pt x="1971883" y="919169"/>
                </a:lnTo>
                <a:lnTo>
                  <a:pt x="2022692" y="855110"/>
                </a:lnTo>
                <a:lnTo>
                  <a:pt x="2073501" y="796951"/>
                </a:lnTo>
                <a:lnTo>
                  <a:pt x="2124310" y="745777"/>
                </a:lnTo>
                <a:lnTo>
                  <a:pt x="2175119" y="702540"/>
                </a:lnTo>
                <a:lnTo>
                  <a:pt x="2225927" y="668047"/>
                </a:lnTo>
                <a:lnTo>
                  <a:pt x="2276736" y="642940"/>
                </a:lnTo>
                <a:lnTo>
                  <a:pt x="2327545" y="627686"/>
                </a:lnTo>
                <a:lnTo>
                  <a:pt x="2378354" y="622569"/>
                </a:lnTo>
                <a:lnTo>
                  <a:pt x="2428805" y="627686"/>
                </a:lnTo>
                <a:lnTo>
                  <a:pt x="2479256" y="642940"/>
                </a:lnTo>
                <a:lnTo>
                  <a:pt x="2529707" y="668047"/>
                </a:lnTo>
                <a:lnTo>
                  <a:pt x="2580158" y="702540"/>
                </a:lnTo>
                <a:lnTo>
                  <a:pt x="2630609" y="745777"/>
                </a:lnTo>
                <a:lnTo>
                  <a:pt x="2681060" y="796951"/>
                </a:lnTo>
                <a:lnTo>
                  <a:pt x="2731511" y="855110"/>
                </a:lnTo>
                <a:lnTo>
                  <a:pt x="2781962" y="919169"/>
                </a:lnTo>
                <a:lnTo>
                  <a:pt x="2832413" y="987937"/>
                </a:lnTo>
                <a:lnTo>
                  <a:pt x="2882864" y="1060131"/>
                </a:lnTo>
                <a:lnTo>
                  <a:pt x="2933315" y="1134408"/>
                </a:lnTo>
                <a:lnTo>
                  <a:pt x="2983766" y="1209382"/>
                </a:lnTo>
                <a:lnTo>
                  <a:pt x="3034217" y="1283659"/>
                </a:lnTo>
                <a:lnTo>
                  <a:pt x="3084668" y="1355853"/>
                </a:lnTo>
                <a:lnTo>
                  <a:pt x="3135119" y="1424621"/>
                </a:lnTo>
                <a:lnTo>
                  <a:pt x="3185570" y="1488680"/>
                </a:lnTo>
                <a:lnTo>
                  <a:pt x="3236021" y="1546839"/>
                </a:lnTo>
                <a:lnTo>
                  <a:pt x="3286472" y="1598013"/>
                </a:lnTo>
                <a:lnTo>
                  <a:pt x="3336923" y="1641250"/>
                </a:lnTo>
                <a:lnTo>
                  <a:pt x="3387375" y="1675743"/>
                </a:lnTo>
                <a:lnTo>
                  <a:pt x="3437826" y="1700850"/>
                </a:lnTo>
                <a:lnTo>
                  <a:pt x="3488277" y="1716104"/>
                </a:lnTo>
                <a:lnTo>
                  <a:pt x="3538728" y="1721221"/>
                </a:lnTo>
                <a:lnTo>
                  <a:pt x="3589179" y="1716104"/>
                </a:lnTo>
                <a:lnTo>
                  <a:pt x="3639630" y="1700850"/>
                </a:lnTo>
                <a:lnTo>
                  <a:pt x="3690081" y="1675743"/>
                </a:lnTo>
                <a:lnTo>
                  <a:pt x="3740532" y="1641250"/>
                </a:lnTo>
                <a:lnTo>
                  <a:pt x="3790983" y="1598013"/>
                </a:lnTo>
                <a:lnTo>
                  <a:pt x="3841434" y="1546839"/>
                </a:lnTo>
                <a:lnTo>
                  <a:pt x="3891885" y="1488680"/>
                </a:lnTo>
                <a:lnTo>
                  <a:pt x="3942336" y="1424621"/>
                </a:lnTo>
                <a:lnTo>
                  <a:pt x="3992787" y="1355853"/>
                </a:lnTo>
                <a:lnTo>
                  <a:pt x="4043238" y="1283659"/>
                </a:lnTo>
                <a:lnTo>
                  <a:pt x="4093689" y="1209382"/>
                </a:lnTo>
                <a:lnTo>
                  <a:pt x="4144140" y="1134408"/>
                </a:lnTo>
                <a:lnTo>
                  <a:pt x="4194591" y="1060131"/>
                </a:lnTo>
                <a:lnTo>
                  <a:pt x="4245042" y="987937"/>
                </a:lnTo>
                <a:lnTo>
                  <a:pt x="4295493" y="919169"/>
                </a:lnTo>
                <a:lnTo>
                  <a:pt x="4345944" y="855110"/>
                </a:lnTo>
                <a:lnTo>
                  <a:pt x="4396395" y="796951"/>
                </a:lnTo>
                <a:lnTo>
                  <a:pt x="4446846" y="745777"/>
                </a:lnTo>
                <a:lnTo>
                  <a:pt x="4497297" y="702540"/>
                </a:lnTo>
                <a:lnTo>
                  <a:pt x="4547748" y="668047"/>
                </a:lnTo>
                <a:lnTo>
                  <a:pt x="4598199" y="642940"/>
                </a:lnTo>
                <a:lnTo>
                  <a:pt x="4648650" y="627686"/>
                </a:lnTo>
                <a:lnTo>
                  <a:pt x="4699101" y="622569"/>
                </a:lnTo>
                <a:lnTo>
                  <a:pt x="4750626" y="627686"/>
                </a:lnTo>
                <a:lnTo>
                  <a:pt x="4802150" y="642940"/>
                </a:lnTo>
                <a:lnTo>
                  <a:pt x="4853675" y="668047"/>
                </a:lnTo>
                <a:lnTo>
                  <a:pt x="4905199" y="702540"/>
                </a:lnTo>
                <a:lnTo>
                  <a:pt x="4956723" y="745777"/>
                </a:lnTo>
                <a:lnTo>
                  <a:pt x="5008248" y="796951"/>
                </a:lnTo>
                <a:lnTo>
                  <a:pt x="5059772" y="855110"/>
                </a:lnTo>
                <a:lnTo>
                  <a:pt x="5111297" y="919169"/>
                </a:lnTo>
                <a:lnTo>
                  <a:pt x="5162821" y="987937"/>
                </a:lnTo>
                <a:lnTo>
                  <a:pt x="5214346" y="1060131"/>
                </a:lnTo>
                <a:lnTo>
                  <a:pt x="5265870" y="1134408"/>
                </a:lnTo>
                <a:lnTo>
                  <a:pt x="5317395" y="1209382"/>
                </a:lnTo>
                <a:lnTo>
                  <a:pt x="5368919" y="1283659"/>
                </a:lnTo>
                <a:lnTo>
                  <a:pt x="5420444" y="1355853"/>
                </a:lnTo>
                <a:lnTo>
                  <a:pt x="5471968" y="1424621"/>
                </a:lnTo>
                <a:lnTo>
                  <a:pt x="5523492" y="1488680"/>
                </a:lnTo>
                <a:lnTo>
                  <a:pt x="5575017" y="1546839"/>
                </a:lnTo>
                <a:lnTo>
                  <a:pt x="5626541" y="1598013"/>
                </a:lnTo>
                <a:lnTo>
                  <a:pt x="5678066" y="1641250"/>
                </a:lnTo>
                <a:lnTo>
                  <a:pt x="5729590" y="1675743"/>
                </a:lnTo>
                <a:lnTo>
                  <a:pt x="5781115" y="1700850"/>
                </a:lnTo>
                <a:lnTo>
                  <a:pt x="5832639" y="1716104"/>
                </a:lnTo>
                <a:lnTo>
                  <a:pt x="5884164" y="1721221"/>
                </a:lnTo>
                <a:lnTo>
                  <a:pt x="5922807" y="1713205"/>
                </a:lnTo>
                <a:lnTo>
                  <a:pt x="5961450" y="1689307"/>
                </a:lnTo>
                <a:lnTo>
                  <a:pt x="6000094" y="1649972"/>
                </a:lnTo>
                <a:lnTo>
                  <a:pt x="6038737" y="1595933"/>
                </a:lnTo>
                <a:lnTo>
                  <a:pt x="6077380" y="1528196"/>
                </a:lnTo>
                <a:lnTo>
                  <a:pt x="6116024" y="1448023"/>
                </a:lnTo>
                <a:lnTo>
                  <a:pt x="6154667" y="1356907"/>
                </a:lnTo>
                <a:lnTo>
                  <a:pt x="6193310" y="1256547"/>
                </a:lnTo>
                <a:lnTo>
                  <a:pt x="6231954" y="1148811"/>
                </a:lnTo>
                <a:lnTo>
                  <a:pt x="6270597" y="1035707"/>
                </a:lnTo>
                <a:lnTo>
                  <a:pt x="6309240" y="919341"/>
                </a:lnTo>
                <a:lnTo>
                  <a:pt x="6347884" y="801880"/>
                </a:lnTo>
                <a:lnTo>
                  <a:pt x="6386527" y="685514"/>
                </a:lnTo>
                <a:lnTo>
                  <a:pt x="6425170" y="572409"/>
                </a:lnTo>
                <a:lnTo>
                  <a:pt x="6463814" y="464674"/>
                </a:lnTo>
                <a:lnTo>
                  <a:pt x="6502457" y="364313"/>
                </a:lnTo>
                <a:lnTo>
                  <a:pt x="6541100" y="273198"/>
                </a:lnTo>
                <a:lnTo>
                  <a:pt x="6579744" y="193025"/>
                </a:lnTo>
                <a:lnTo>
                  <a:pt x="6618387" y="125288"/>
                </a:lnTo>
                <a:lnTo>
                  <a:pt x="6657030" y="71249"/>
                </a:lnTo>
                <a:lnTo>
                  <a:pt x="6695674" y="31914"/>
                </a:lnTo>
                <a:lnTo>
                  <a:pt x="6734317" y="8016"/>
                </a:lnTo>
                <a:lnTo>
                  <a:pt x="6772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04">
            <a:solidFill>
              <a:srgbClr val="009E73"/>
            </a:solidFill>
            <a:prstDash val="solid"/>
          </a:ln>
        </p:spPr>
      </p:sp>
      <p:sp>
        <p:nvSpPr>
          <p:cNvPr id="79" name="C_actual_anchor_A">
            <a:extLst xmlns:a="http://schemas.openxmlformats.org/drawingml/2006/main">
              <a:ext uri="{FF2B5EF4-FFF2-40B4-BE49-F238E27FC236}">
                <a16:creationId xmlns:a16="http://schemas.microsoft.com/office/drawing/2014/main" id="{C4B604A9-EF4B-4552-B1DF-9C39D4A7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08048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80" name="C_anchor_label_A">
            <a:extLst xmlns:a="http://schemas.openxmlformats.org/drawingml/2006/main">
              <a:ext uri="{FF2B5EF4-FFF2-40B4-BE49-F238E27FC236}">
                <a16:creationId xmlns:a16="http://schemas.microsoft.com/office/drawing/2014/main" id="{94D7D6F1-56CD-41D2-9C40-1A45E5B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123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1" name="C_actual_anchor_C">
            <a:extLst xmlns:a="http://schemas.openxmlformats.org/drawingml/2006/main">
              <a:ext uri="{FF2B5EF4-FFF2-40B4-BE49-F238E27FC236}">
                <a16:creationId xmlns:a16="http://schemas.microsoft.com/office/drawing/2014/main" id="{20603102-4B3E-4CF1-9E5E-20DCAA83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5826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82" name="C_anchor_label_C">
            <a:extLst xmlns:a="http://schemas.openxmlformats.org/drawingml/2006/main">
              <a:ext uri="{FF2B5EF4-FFF2-40B4-BE49-F238E27FC236}">
                <a16:creationId xmlns:a16="http://schemas.microsoft.com/office/drawing/2014/main" id="{124EA49E-752C-40FF-A4B8-B4A36C6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3901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3" name="C_actual_anchor_B">
            <a:extLst xmlns:a="http://schemas.openxmlformats.org/drawingml/2006/main">
              <a:ext uri="{FF2B5EF4-FFF2-40B4-BE49-F238E27FC236}">
                <a16:creationId xmlns:a16="http://schemas.microsoft.com/office/drawing/2014/main" id="{38920DCD-16CA-43F5-A0C0-02353645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998" y="469984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0617">
            <a:solidFill>
              <a:srgbClr val="FFFFFF"/>
            </a:solidFill>
            <a:prstDash val="solid"/>
          </a:ln>
        </p:spPr>
      </p:sp>
      <p:sp>
        <p:nvSpPr>
          <p:cNvPr id="84" name="C_anchor_label_B">
            <a:extLst xmlns:a="http://schemas.openxmlformats.org/drawingml/2006/main">
              <a:ext uri="{FF2B5EF4-FFF2-40B4-BE49-F238E27FC236}">
                <a16:creationId xmlns:a16="http://schemas.microsoft.com/office/drawing/2014/main" id="{6390E627-A8B5-43A2-AE2D-4871DAE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0073" y="4800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5" name="C_fixed_ref_A">
            <a:extLst xmlns:a="http://schemas.openxmlformats.org/drawingml/2006/main">
              <a:ext uri="{FF2B5EF4-FFF2-40B4-BE49-F238E27FC236}">
                <a16:creationId xmlns:a16="http://schemas.microsoft.com/office/drawing/2014/main" id="{283EECFF-4E7C-4E27-AC73-9A4D4EA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3760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_fixed_ref_C">
            <a:extLst xmlns:a="http://schemas.openxmlformats.org/drawingml/2006/main">
              <a:ext uri="{FF2B5EF4-FFF2-40B4-BE49-F238E27FC236}">
                <a16:creationId xmlns:a16="http://schemas.microsoft.com/office/drawing/2014/main" id="{CD042B5B-9E6E-4695-B67E-E7480C4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1538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_fixed_ref_B">
            <a:extLst xmlns:a="http://schemas.openxmlformats.org/drawingml/2006/main">
              <a:ext uri="{FF2B5EF4-FFF2-40B4-BE49-F238E27FC236}">
                <a16:creationId xmlns:a16="http://schemas.microsoft.com/office/drawing/2014/main" id="{8658B63E-7274-4229-B120-6DB2BDC2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7711" y="51054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B_lca_label">
            <a:extLst xmlns:a="http://schemas.openxmlformats.org/drawingml/2006/main">
              <a:ext uri="{FF2B5EF4-FFF2-40B4-BE49-F238E27FC236}">
                <a16:creationId xmlns:a16="http://schemas.microsoft.com/office/drawing/2014/main" id="{EC6FC184-D354-4E91-9BDD-ADD95601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0850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LCA</a:t>
            </a:r>
          </a:p>
        </p:txBody>
      </p:sp>
      <p:sp>
        <p:nvSpPr>
          <p:cNvPr id="89" name="B_lca_cost">
            <a:extLst xmlns:a="http://schemas.openxmlformats.org/drawingml/2006/main">
              <a:ext uri="{FF2B5EF4-FFF2-40B4-BE49-F238E27FC236}">
                <a16:creationId xmlns:a16="http://schemas.microsoft.com/office/drawing/2014/main" id="{D9E9A36D-1009-4D25-A7B5-D48D27AF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0850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  <a:r>
              <a:rPr sz="100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</a:t>
            </a: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γ</a:t>
            </a:r>
          </a:p>
        </p:txBody>
      </p:sp>
      <p:sp>
        <p:nvSpPr>
          <p:cNvPr id="90" name="C_opt_label">
            <a:extLst xmlns:a="http://schemas.openxmlformats.org/drawingml/2006/main">
              <a:ext uri="{FF2B5EF4-FFF2-40B4-BE49-F238E27FC236}">
                <a16:creationId xmlns:a16="http://schemas.microsoft.com/office/drawing/2014/main" id="{4D9339E2-6E88-40B6-A895-37D37B2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725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Optimal</a:t>
            </a:r>
          </a:p>
        </p:txBody>
      </p:sp>
      <p:sp>
        <p:nvSpPr>
          <p:cNvPr id="91" name="C_opt_cost">
            <a:extLst xmlns:a="http://schemas.openxmlformats.org/drawingml/2006/main">
              <a:ext uri="{FF2B5EF4-FFF2-40B4-BE49-F238E27FC236}">
                <a16:creationId xmlns:a16="http://schemas.microsoft.com/office/drawing/2014/main" id="{23DE1EC7-2FB3-40C8-8262-A2B0C4A7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725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  <a:r>
              <a:rPr sz="100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</a:t>
            </a: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γ/2</a:t>
            </a:r>
          </a:p>
        </p:txBody>
      </p:sp>
      <p:sp>
        <p:nvSpPr>
          <p:cNvPr id="92" name="legend_baseline_sample">
            <a:extLst xmlns:a="http://schemas.openxmlformats.org/drawingml/2006/main">
              <a:ext uri="{FF2B5EF4-FFF2-40B4-BE49-F238E27FC236}">
                <a16:creationId xmlns:a16="http://schemas.microsoft.com/office/drawing/2014/main" id="{173C0D25-81EA-4140-A692-38A05845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6050" y="2724150"/>
            <a:ext cx="228600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2A5B1"/>
            </a:solidFill>
            <a:prstDash val="dash"/>
          </a:ln>
        </p:spPr>
      </p:sp>
      <p:sp>
        <p:nvSpPr>
          <p:cNvPr id="93" name="legend_baseline_text">
            <a:extLst xmlns:a="http://schemas.openxmlformats.org/drawingml/2006/main">
              <a:ext uri="{FF2B5EF4-FFF2-40B4-BE49-F238E27FC236}">
                <a16:creationId xmlns:a16="http://schemas.microsoft.com/office/drawing/2014/main" id="{D6B67A97-C801-48F4-B958-75CD015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0850" y="2609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4" name="legend_lca_sample">
            <a:extLst xmlns:a="http://schemas.openxmlformats.org/drawingml/2006/main">
              <a:ext uri="{FF2B5EF4-FFF2-40B4-BE49-F238E27FC236}">
                <a16:creationId xmlns:a16="http://schemas.microsoft.com/office/drawing/2014/main" id="{4B48C03D-1724-485B-A2DA-FC5D5DEA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86050" y="2943225"/>
            <a:ext cx="228600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33020">
            <a:solidFill>
              <a:srgbClr val="CC79A7"/>
            </a:solidFill>
            <a:prstDash val="solid"/>
          </a:ln>
        </p:spPr>
      </p:sp>
      <p:sp>
        <p:nvSpPr>
          <p:cNvPr id="96" name="legend_opt_sample">
            <a:extLst xmlns:a="http://schemas.openxmlformats.org/drawingml/2006/main">
              <a:ext uri="{FF2B5EF4-FFF2-40B4-BE49-F238E27FC236}">
                <a16:creationId xmlns:a16="http://schemas.microsoft.com/office/drawing/2014/main" id="{5AAD565F-978C-445D-9C2A-B3441F2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9925" y="2943225"/>
            <a:ext cx="228600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33020">
            <a:solidFill>
              <a:srgbClr val="009E73"/>
            </a:solidFill>
            <a:prstDash val="solid"/>
          </a:ln>
        </p:spPr>
      </p:sp>
      <p:cxnSp>
        <p:nvCxnSpPr>
          <p:cNvPr id="99" name="delta_B_AC_baseline_to_LCA">
            <a:extLst xmlns:a="http://schemas.openxmlformats.org/drawingml/2006/main">
              <a:ext uri="{FF2B5EF4-FFF2-40B4-BE49-F238E27FC236}">
                <a16:creationId xmlns:a16="http://schemas.microsoft.com/office/drawing/2014/main" id="{2297A63F-1AD3-450C-925F-A7C1C26D2732}"/>
              </a:ext>
            </a:extLst>
          </p:cNvPr>
          <p:cNvCxnSpPr/>
          <p:nvPr/>
        </p:nvCxnSpPr>
        <p:spPr>
          <a:xfrm xmlns:a="http://schemas.openxmlformats.org/drawingml/2006/main" flipV="1">
            <a:off x="1736836" y="3872948"/>
            <a:ext cx="0" cy="446784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79A7"/>
            </a:solidFill>
            <a:tailEnd type="triangle" w="sm" len="sm"/>
          </a:ln>
        </p:spPr>
      </p:cxnSp>
      <p:sp>
        <p:nvSpPr>
          <p:cNvPr id="100" name="delta_B_AC_value">
            <a:extLst xmlns:a="http://schemas.openxmlformats.org/drawingml/2006/main">
              <a:ext uri="{FF2B5EF4-FFF2-40B4-BE49-F238E27FC236}">
                <a16:creationId xmlns:a16="http://schemas.microsoft.com/office/drawing/2014/main" id="{BBD1B77E-A4E0-49D5-872C-BBFCA10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086" y="35909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+γ</a:t>
            </a:r>
          </a:p>
        </p:txBody>
      </p:sp>
      <p:sp>
        <p:nvSpPr>
          <p:cNvPr id="101" name="delta_B_CB_value">
            <a:extLst xmlns:a="http://schemas.openxmlformats.org/drawingml/2006/main">
              <a:ext uri="{FF2B5EF4-FFF2-40B4-BE49-F238E27FC236}">
                <a16:creationId xmlns:a16="http://schemas.microsoft.com/office/drawing/2014/main" id="{E270D3BA-E0B1-43F9-890B-468D9E5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67" y="35909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102" name="delta_C_AC_baseline_to_optimal">
            <a:extLst xmlns:a="http://schemas.openxmlformats.org/drawingml/2006/main">
              <a:ext uri="{FF2B5EF4-FFF2-40B4-BE49-F238E27FC236}">
                <a16:creationId xmlns:a16="http://schemas.microsoft.com/office/drawing/2014/main" id="{B3380CC7-CA9B-4BAB-AFF0-B5FEFF75151A}"/>
              </a:ext>
            </a:extLst>
          </p:cNvPr>
          <p:cNvCxnSpPr/>
          <p:nvPr/>
        </p:nvCxnSpPr>
        <p:spPr>
          <a:xfrm xmlns:a="http://schemas.openxmlformats.org/drawingml/2006/main" flipV="1">
            <a:off x="6070711" y="4096340"/>
            <a:ext cx="0" cy="22339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tailEnd type="triangle" w="sm" len="sm"/>
          </a:ln>
        </p:spPr>
      </p:cxnSp>
      <p:cxnSp>
        <p:nvCxnSpPr>
          <p:cNvPr id="103" name="delta_C_CB_baseline_to_optimal">
            <a:extLst xmlns:a="http://schemas.openxmlformats.org/drawingml/2006/main">
              <a:ext uri="{FF2B5EF4-FFF2-40B4-BE49-F238E27FC236}">
                <a16:creationId xmlns:a16="http://schemas.microsoft.com/office/drawing/2014/main" id="{2B070BF7-51E4-4B48-BB0E-886F59BF40C9}"/>
              </a:ext>
            </a:extLst>
          </p:cNvPr>
          <p:cNvCxnSpPr/>
          <p:nvPr/>
        </p:nvCxnSpPr>
        <p:spPr>
          <a:xfrm xmlns:a="http://schemas.openxmlformats.org/drawingml/2006/main" flipV="0">
            <a:off x="7254292" y="3872948"/>
            <a:ext cx="0" cy="223392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tailEnd type="triangle" w="sm" len="sm"/>
          </a:ln>
        </p:spPr>
      </p:cxnSp>
      <p:sp>
        <p:nvSpPr>
          <p:cNvPr id="104" name="delta_C_AC_value">
            <a:extLst xmlns:a="http://schemas.openxmlformats.org/drawingml/2006/main">
              <a:ext uri="{FF2B5EF4-FFF2-40B4-BE49-F238E27FC236}">
                <a16:creationId xmlns:a16="http://schemas.microsoft.com/office/drawing/2014/main" id="{2FC92CA9-6223-4FE5-A9EF-A52273FF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336" y="3590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+γ/2</a:t>
            </a:r>
          </a:p>
        </p:txBody>
      </p:sp>
      <p:sp>
        <p:nvSpPr>
          <p:cNvPr id="105" name="delta_C_CB_value">
            <a:extLst xmlns:a="http://schemas.openxmlformats.org/drawingml/2006/main">
              <a:ext uri="{FF2B5EF4-FFF2-40B4-BE49-F238E27FC236}">
                <a16:creationId xmlns:a16="http://schemas.microsoft.com/office/drawing/2014/main" id="{F7426F2D-190E-4649-A7AF-27C3CB6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917" y="3590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−γ/2</a:t>
            </a:r>
          </a:p>
        </p:txBody>
      </p:sp>
      <p:sp>
        <p:nvSpPr>
          <p:cNvPr id="106" name="delta_gamma_definition">
            <a:extLst xmlns:a="http://schemas.openxmlformats.org/drawingml/2006/main">
              <a:ext uri="{FF2B5EF4-FFF2-40B4-BE49-F238E27FC236}">
                <a16:creationId xmlns:a16="http://schemas.microsoft.com/office/drawing/2014/main" id="{F406A3F7-9F48-4D63-94B6-B57331A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γ = s</a:t>
            </a:r>
            <a:r>
              <a:rPr sz="85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− s</a:t>
            </a:r>
            <a:r>
              <a:rPr sz="85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legend_C_baseline_sample">
            <a:extLst xmlns:a="http://schemas.openxmlformats.org/drawingml/2006/main">
              <a:ext uri="{FF2B5EF4-FFF2-40B4-BE49-F238E27FC236}">
                <a16:creationId xmlns:a16="http://schemas.microsoft.com/office/drawing/2014/main" id="{173C0D25-81EA-4140-A692-38A05845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9925" y="2724150"/>
            <a:ext cx="228600" cy="953"/>
          </a:xfrm>
          <a:custGeom xmlns:a="http://schemas.openxmlformats.org/drawingml/2006/main">
            <a:pathLst>
              <a:path w="333375" h="953">
                <a:moveTo>
                  <a:pt x="0" y="0"/>
                </a:moveTo>
                <a:lnTo>
                  <a:pt x="33337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2A5B1"/>
            </a:solidFill>
            <a:prstDash val="dash"/>
          </a:ln>
        </p:spPr>
      </p:sp>
      <p:sp>
        <p:nvSpPr>
          <p:cNvPr id="108" name="legend_C_baseline_text">
            <a:extLst xmlns:a="http://schemas.openxmlformats.org/drawingml/2006/main">
              <a:ext uri="{FF2B5EF4-FFF2-40B4-BE49-F238E27FC236}">
                <a16:creationId xmlns:a16="http://schemas.microsoft.com/office/drawing/2014/main" id="{D6B67A97-C801-48F4-B958-75CD015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725" y="26098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09" name="delta_C_gamma_definition">
            <a:extLst xmlns:a="http://schemas.openxmlformats.org/drawingml/2006/main">
              <a:ext uri="{FF2B5EF4-FFF2-40B4-BE49-F238E27FC236}">
                <a16:creationId xmlns:a16="http://schemas.microsoft.com/office/drawing/2014/main" id="{F406A3F7-9F48-4D63-94B6-B57331A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76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γ = s</a:t>
            </a:r>
            <a:r>
              <a:rPr sz="85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− s</a:t>
            </a:r>
            <a:r>
              <a:rPr sz="850" b="0" baseline="-250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7114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2026-10-20T05:17:31.9510000Z</dcterms:created>
  <dcterms:modified xsi:type="dcterms:W3CDTF">2026-10-20T05:17:31.9510000Z</dcterms:modified>
</coreProperties>
</file>